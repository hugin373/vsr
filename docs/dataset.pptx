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2202E"/>
                </a:solidFill>
                <a:latin typeface="Aptos"/>
              </a:rPr>
              <a:t>Designing a Controlled Spatial Dataset for Tracing Metric Spatial Information in VLMs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48132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460A0"/>
                </a:solidFill>
                <a:latin typeface="Aptos"/>
              </a:rPr>
              <a:t>From M1 v0 to the M4a stimulus battery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024128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441448"/>
            <a:ext cx="9966959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2026"/>
                </a:solidFill>
                <a:latin typeface="Aptos Mono"/>
              </a:rPr>
              <a:t>Research aim: locate where continuous metric depth remains encoded, becomes inaccessible, or is not used
Dataset aim: make the image evidence valid, identifiable, and not explainable by trivial shortcuts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6364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974"/>
                </a:solidFill>
                <a:latin typeface="Aptos"/>
              </a:rPr>
              <a:t>Prepared from repo state and pilot renders in /data3/hugin/vsr/stimuli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Deck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dataset design is the load-bearing bridge between the research question and model probing.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>Research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Where does metric depth fail in the VLM chain?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834640"/>
            <a:ext cx="457200" cy="0"/>
          </a:xfrm>
          <a:prstGeom prst="line">
            <a:avLst/>
          </a:prstGeom>
          <a:ln w="16510">
            <a:solidFill>
              <a:srgbClr val="24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080"/>
                </a:solidFill>
                <a:latin typeface="Aptos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M1 -&gt; M3 -&gt; M4a -&gt; M5/M6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834640"/>
            <a:ext cx="457200" cy="0"/>
          </a:xfrm>
          <a:prstGeom prst="line">
            <a:avLst/>
          </a:prstGeom>
          <a:ln w="1651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5296"/>
                </a:solidFill>
                <a:latin typeface="Aptos"/>
              </a:rPr>
              <a:t>Prior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Kang spatial IDs; Wang &amp; Gao latent topology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59" y="2834640"/>
            <a:ext cx="457200" cy="0"/>
          </a:xfrm>
          <a:prstGeom prst="line">
            <a:avLst/>
          </a:prstGeom>
          <a:ln w="16510">
            <a:solidFill>
              <a:srgbClr val="6E5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>Dataset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1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v0 audit -&gt; M4a controlled regimes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2202E"/>
                </a:solidFill>
                <a:latin typeface="Aptos"/>
              </a:rPr>
              <a:t>The central point: M4a is not just image generation. It is construction of a measurement instrument.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Research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Trace continuous metric spatial information through the VLM computation chain.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777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92807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A2026"/>
                </a:solidFill>
                <a:latin typeface="Aptos Mono"/>
              </a:rPr>
              <a:t>Question: where does metric spatial information become unavailable, inaccessible, causally inert, or unused?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Qualitative / ordinal anchor: left/right, front/behind, nearer/farther.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Metric probe target: continuous depth z, depth ratio, lateral/world position.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Causal question: if we change the representation, does the answer move?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80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The project does not assume metric information is “destroyed.”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It separates encoding, accessibility, alterability, and natural use.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This requires stimuli whose ground truth and visual evidence are both valid.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Why Accuracy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A model can answer a spatial question without using metric spatial representation.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>Mask / bbox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centroid, area, height, object extent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>Scene cue shortcuts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apparent size, elevation, category priors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5296"/>
                </a:solidFill>
                <a:latin typeface="Aptos"/>
              </a:rPr>
              <a:t>Prompt / answer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option order, tokenization, wording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977639"/>
            <a:ext cx="10058400" cy="9601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4087368"/>
            <a:ext cx="9784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026"/>
                </a:solidFill>
                <a:latin typeface="Aptos Mono"/>
              </a:rPr>
              <a:t>A high probe score only counts as representation evidence if it beats prespecified nuisance baselines and holds under held-out factors.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974"/>
                </a:solidFill>
                <a:latin typeface="Aptos"/>
              </a:rPr>
              <a:t>This is why the deck focuses on dataset design before model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Functional Chain to Be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M5/M6 will only be meaningful after M4a clears the stimulus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>Image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743200"/>
            <a:ext cx="27432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080"/>
                </a:solidFill>
                <a:latin typeface="Aptos"/>
              </a:rPr>
              <a:t>Vision encoder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080"/>
                </a:solidFill>
                <a:latin typeface="Aptos"/>
              </a:rPr>
              <a:t>VL interface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743200"/>
            <a:ext cx="50292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94960" y="2331720"/>
            <a:ext cx="1508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2468879"/>
            <a:ext cx="1179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5296"/>
                </a:solidFill>
                <a:latin typeface="Aptos"/>
              </a:rPr>
              <a:t>Early multimodal 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0" y="2331720"/>
            <a:ext cx="1508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468879"/>
            <a:ext cx="1179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5296"/>
                </a:solidFill>
                <a:latin typeface="Aptos"/>
              </a:rPr>
              <a:t>Object-word tokens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60" y="2743200"/>
            <a:ext cx="32004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>Answer/readout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7844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78992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>Verbal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At each stage: is continuous depth decodable above nuisance baselines?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At language-bound stages: is the information object-specific, not just globally present?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At intervention stages: does changing the depth-related representation change belief/readout?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Project Plan Around Dataset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M1 and M3 determine what M4a must fix.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460A0"/>
                </a:solidFill>
                <a:latin typeface="Aptos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202E"/>
                </a:solidFill>
                <a:latin typeface="Aptos"/>
              </a:rPr>
              <a:t>Minimal renderer + v0 stimuli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60020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6"/>
                </a:solidFill>
                <a:latin typeface="Aptos"/>
              </a:rPr>
              <a:t>Build the first controlled image/annotation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E5296"/>
                </a:solidFill>
                <a:latin typeface="Aptos"/>
              </a:rPr>
              <a:t>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202E"/>
                </a:solidFill>
                <a:latin typeface="Aptos"/>
              </a:rPr>
              <a:t>Reproduction /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6"/>
                </a:solidFill>
                <a:latin typeface="Aptos"/>
              </a:rPr>
              <a:t>Use prior-work methods to test whether v0 is a usable substrate.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C6E26"/>
                </a:solidFill>
                <a:latin typeface="Aptos"/>
              </a:rPr>
              <a:t>M4a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4612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202E"/>
                </a:solidFill>
                <a:latin typeface="Aptos"/>
              </a:rPr>
              <a:t>Stimulus battery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4612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6"/>
                </a:solidFill>
                <a:latin typeface="Aptos"/>
              </a:rPr>
              <a:t>Redesign stimuli so evidence is valid and shortcuts are measured.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8080"/>
                </a:solidFill>
                <a:latin typeface="Aptos"/>
              </a:rPr>
              <a:t>M4b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6908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202E"/>
                </a:solidFill>
                <a:latin typeface="Aptos"/>
              </a:rPr>
              <a:t>Activation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06908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6"/>
                </a:solidFill>
                <a:latin typeface="Aptos"/>
              </a:rPr>
              <a:t>Extract five-stage representations only after M4a passes.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A3737"/>
                </a:solidFill>
                <a:latin typeface="Aptos"/>
              </a:rPr>
              <a:t>M5/M6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920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202E"/>
                </a:solidFill>
                <a:latin typeface="Aptos"/>
              </a:rPr>
              <a:t>Probe + intervene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89204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6"/>
                </a:solidFill>
                <a:latin typeface="Aptos"/>
              </a:rPr>
              <a:t>Locate and test causal use of metric depth.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52160"/>
            <a:ext cx="10332720" cy="411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6188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026"/>
                </a:solidFill>
                <a:latin typeface="Aptos Mono"/>
              </a:rPr>
              <a:t>Current status: M4a is still in progress; full M4b extraction is locked until the stimulus gate passes.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Prior Work 1: Kang et al. Spatial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A causal object-word intervention framework for spatial beliefs.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Claim: object locations are linearly bound into object-word activations as spatial IDs.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Pipeline: Objaverse renders -&gt; 4x4 grid -&gt; object-word activations -&gt; spatial-ID extraction.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Intervention: add/subtract mirror spatial-ID directions and measure left/right belief swap.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800600" cy="15087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01368"/>
            <a:ext cx="452628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2026"/>
                </a:solidFill>
                <a:latin typeface="Aptos Mono"/>
              </a:rPr>
              <a:t>Paper headline:
spatial-ID steering ~64.4%
noise ~29.5%
above-chance influence 43.6%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2026"/>
                </a:solidFill>
                <a:latin typeface="Aptos"/>
              </a:rPr>
              <a:t>Our M3.1: qualitative mechanism reproduced; absolute effect size did not. This supports the existence of a spatial-ID-like mechanism but does not locate continuous metric depth.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974"/>
                </a:solidFill>
                <a:latin typeface="Aptos"/>
              </a:rPr>
              <a:t>Source: Kang et al., arXiv:2601.12626.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Prior Work 2: Wang &amp; Gao Latent Spatial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A probing and regularization study of spatial topology in VLM latent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SynSpat3D: synthetic scenes with independently sampled shape, color, size, and 3D position.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Default probing corpus: 1,000 Free6DoF scenes, 16 frames each, 5 questions per scene.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Object representation: mask-driven, coverage-weighted pooling over visual tokens.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Targets: color, shape, x-coordinate, z-coordinate, and 3D-distance topology.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846320" cy="1920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47088"/>
            <a:ext cx="45720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026"/>
                </a:solidFill>
                <a:latin typeface="Aptos Mono"/>
              </a:rPr>
              <a:t>Reported Qwen L17 pattern:
color 0.51 ± 0.02
shape 1.00 ± 0.00
x R² -0.09 ± 0.01
z R² +0.28 ± 0.02
3D-distance RSA +0.01 ± 0.01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605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2026"/>
                </a:solidFill>
                <a:latin typeface="Aptos"/>
              </a:rPr>
              <a:t>Their story: non-geometric semantics dominate; 3D topology is weak but can be shaped by a Dirichlet-energy regularizer.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974"/>
                </a:solidFill>
                <a:latin typeface="Aptos"/>
              </a:rPr>
              <a:t>Source: Wang &amp; Gao, arXiv:2605.07148.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Why Our M3.2 Was an Audit, Not a Strict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original SynSpat3D distribution and our M1 v0 were fundamentally different.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882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5296"/>
                </a:solidFill>
                <a:latin typeface="Aptos"/>
              </a:rPr>
              <a:t>Wang &amp; Gao SynSpat3D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Multi-object scenes: appendix default 3-8 objects.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16-frame egocentric rendering.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Free6DoF random camera paths.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Shape/color/size/position sampled independently.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Designed for latent scene topology / cognitive-map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28800"/>
            <a:ext cx="4882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>Our M1 v0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Two target objects only.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Single image.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Fixed camera.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Congruent cues only.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Fixed lateral offset and shared size multiplier.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989320"/>
            <a:ext cx="10149840" cy="411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6099048"/>
            <a:ext cx="9875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2026"/>
                </a:solidFill>
                <a:latin typeface="Aptos Mono"/>
              </a:rPr>
              <a:t>Correct interpretation: M3.2 used Wang &amp; Gao-style probing to audit v0; it did not reproduce their full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M1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M1 v0 Dataset: What It Was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A minimal renderer and geometry-validation substrate, not the final science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749039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4" y="1801368"/>
            <a:ext cx="2519172" cy="2519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41114"/>
            <a:ext cx="34381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60A0"/>
                </a:solidFill>
                <a:latin typeface="Aptos"/>
              </a:rPr>
              <a:t>v0 example: fixed side + congruent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01718"/>
            <a:ext cx="343814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v0_congruent_00000
near: yellow_cube  z=4.12, h=108px
far: blue_cube  z=4.88, h=89px
regime: 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2880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500 images at 512x512, rendered with Blender/Cycles CPU.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Objects: cube, sphere, cylinder.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Two target objects on a ground plane; no distractors.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Fixed camera; fixed lateral offset; congruent depth/size/elevation cues.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Outputs: RGB image, masks, bboxes, retinal size, 3D positions, depth, pair relations.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489204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5001768"/>
            <a:ext cx="56692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6"/>
                </a:solidFill>
                <a:latin typeface="Aptos Mono"/>
              </a:rPr>
              <a:t>Key config:
lateral_offset = 0.7
depth_gaps = [0.5, 1.0, 1.5]
shared size multiplier = [0.9, 1.0, 1.1]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M1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What v0 Validated, and What It Could Not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M1 was an engineering success; M3 showed it was not a valid metric-probing instrument.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>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renderer, annotations, masks, projection checks, config-driven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>Not 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whether metric targets were non-trivial and shortcut-resistant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>M3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the pipeline could run correctly while the dataset measured the wrong 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2202E"/>
                </a:solidFill>
                <a:latin typeface="Aptos"/>
              </a:rPr>
              <a:t>The lesson: a stimulus set is not accepted because images were rendered. It is accepted only when its outputs satisfy the invariants needed for the scientific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M3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v0 Problem 1: Lateral x Was a Side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target did not behave like a continuous metric coordinate.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7947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35" y="175564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23283"/>
            <a:ext cx="3483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60A0"/>
                </a:solidFill>
                <a:latin typeface="Aptos"/>
              </a:rPr>
              <a:t>v0: fixed left/right 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86630"/>
            <a:ext cx="348386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v0_congruent_00000
near: yellow_cube  z=4.12, h=108px
far: blue_cube  z=4.88, h=89px
regime: congruent; distractors=0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28800"/>
            <a:ext cx="6217920" cy="10515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38528"/>
            <a:ext cx="59436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A2026"/>
                </a:solidFill>
                <a:latin typeface="Aptos Mono"/>
              </a:rPr>
              <a:t>v0 lateral position:
object A: x ≈ -0.7
object B: x ≈ +0.7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24612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A probe could classify left-vs-right rather than estimate a continuous coordinate.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Mask-pooled tokens are selected by image location, so the selected token set already carries side information.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High x R² on v0 is therefore not evidence of a metric spatial representation.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M3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v0 Problem 2: Depth z Was Overdetermined by Apparent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Congruent cues made the depth target too easy.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7947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35" y="175564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23283"/>
            <a:ext cx="3483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C6E26"/>
                </a:solidFill>
                <a:latin typeface="Aptos"/>
              </a:rPr>
              <a:t>v0: near object visibly larger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86630"/>
            <a:ext cx="348386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v0_congruent_00496
near: yellow_cube  z=2.66, h=183px
far: red_sphere  z=4.01, h=111px
regime: 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In a pinhole camera, retinal size is tied to physical size divided by depth.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v0 used shared size multipliers, so near/far apparent size tracked depth strongly.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This makes z-depth decodable from image geometry without needing VLM representations.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251960"/>
            <a:ext cx="571500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361688"/>
            <a:ext cx="5440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026"/>
                </a:solidFill>
                <a:latin typeface="Aptos Mono"/>
              </a:rPr>
              <a:t>Measured in M3 report:
depth correlated with size_m / retinal_size_px
mask geometry alone predicted z near ceiling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M3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v0 Problem 3: Mask Pooling Leaked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measurement procedure can carry the answer before the model contributes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49377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026"/>
                </a:solidFill>
                <a:latin typeface="Aptos Mono"/>
              </a:rPr>
              <a:t>object mask
 -&gt; select visual tokens at object location
 -&gt; average features
 -&gt; train probe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The token indices selected by the mask already encode where the object is in the image.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On v0, mask centroid and bbox geometry alone predicted x and z extremely well.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Therefore activation decodability must be reported above nuisance-feature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16052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270248"/>
            <a:ext cx="9784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2026"/>
                </a:solidFill>
                <a:latin typeface="Aptos Mono"/>
              </a:rPr>
              <a:t>M3 v0 leak ceiling: mask geometry alone -&gt; x R² ≈ 0.942, z R² ≈ 0.972.
Mask-pooled activations added only a small increment for x/z.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Each Rendered Item Is More Than a 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annotation and masks are part of the measurement instrument.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gb_mask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2451"/>
            <a:ext cx="5669280" cy="22272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916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RGB image: what the VLM sees.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Visible object masks: define target regions and validate bboxes/areas.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Geometry annotations: 3D position, camera coordinates, depth, pair relations.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Factors: regime, depth gap, category pairing, size condition, camera jitter, distractor 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709160"/>
            <a:ext cx="475488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481888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026"/>
                </a:solidFill>
                <a:latin typeface="Aptos Mono"/>
              </a:rPr>
              <a:t>Validation rule: check the output invariant, not just whether the render script ran.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M4a Goal: Build a Valid Measurement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stimulus must contain metric evidence without making the answer trivial.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92807"/>
            <a:ext cx="10149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026"/>
                </a:solidFill>
                <a:latin typeface="Aptos Mono"/>
              </a:rPr>
              <a:t>M4a target: image-identifiable metric relations + decorrelated nuisance features + validated geometry.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>Identifiable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The image must contain enough evidence for the target variable.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>Not shortcut-solved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No single trivial feature should carry the main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>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Every result ties back to config, seed, commit, and annotation.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M4a Uses Three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Each regime answers a different experimental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natural_congruent_pilo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" y="1755648"/>
            <a:ext cx="2519172" cy="2519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08254"/>
                </a:solidFill>
                <a:latin typeface="Aptos"/>
              </a:rPr>
              <a:t>Natural-congruent: all cues 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m4a_v1_natural_congruent_pilot_00000
near: green_cylinder  z=4.13, h=100px
far: yellow_mug  z=8.01, h=49px
regime: natural_congruent; distractors=0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unterbalanced_pilot_j2_00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74" y="1755648"/>
            <a:ext cx="2519172" cy="25191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5312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60A0"/>
                </a:solidFill>
                <a:latin typeface="Aptos"/>
              </a:rPr>
              <a:t>Counterbalanced: shortcut cues decorrelated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m4a_v1_counterbalanced_pilot_j2_00049
near: green_sphere  z=3.03, h=130px
far: green_cube  z=3.50, h=133px
regime: counterbalanced; distractors=1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18" name="Picture 17" descr="m4a_v1_conflict_pilot_000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934" y="1755648"/>
            <a:ext cx="2519172" cy="25191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4788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A3737"/>
                </a:solidFill>
                <a:latin typeface="Aptos"/>
              </a:rPr>
              <a:t>Conflict: cues intentionally disagree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m4a_v1_conflict_pilot_00037
near: yellow_mug  z=2.93, h=116px
far: yellow_cylinder  z=3.72, h=135px
regime: conflict; distractors=1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Regime 1: Natural-Congruent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A control/reference arm where depth cues agree.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9319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3602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natural_congruent_pilo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38" y="1709928"/>
            <a:ext cx="2625242" cy="2625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61230"/>
            <a:ext cx="3621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08254"/>
                </a:solidFill>
                <a:latin typeface="Aptos"/>
              </a:rPr>
              <a:t>Pilot visual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32807"/>
            <a:ext cx="362102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m4a_v1_natural_congruent_pilot_00000
near: green_cylinder  z=4.13, h=100px
far: yellow_mug  z=8.01, h=49px
regime: natural_congruent;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83080"/>
            <a:ext cx="6080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Purpose: all-cues-agree reference for ordinal and ratio behavior.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Current intended generator: 400 images.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Final category set: cube, cylinder, mug, sphere.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Size condition: congruent; elevation condition: congruent.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0-1 distractors.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572000"/>
            <a:ext cx="571500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681728"/>
            <a:ext cx="5440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2026"/>
                </a:solidFill>
                <a:latin typeface="Aptos Mono"/>
              </a:rPr>
              <a:t>Important caveat: shown pilot image is pre-final; final natural-congruent design restricts categories to a symmetric 4-set.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Why Natural-Congruent Became a 4-Category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Six categories made area congruence infeasible without reintroducing pairing confounds.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47088"/>
            <a:ext cx="50292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2026"/>
                </a:solidFill>
                <a:latin typeface="Aptos Mono"/>
              </a:rPr>
              <a:t>Six-category natural-congruent:
required worst-case area ratio ≈ 1.7661
design available max ≈ 1.4737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Bottle/chair create worst-case silhouette-area constraints when they are near.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Per-pair floors would make category pairing predict the realized depth ratio.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>
                <a:solidFill>
                  <a:srgbClr val="1A2026"/>
                </a:solidFill>
                <a:latin typeface="Aptos"/>
              </a:defRPr>
            </a:pPr>
            <a:r>
              <a:t>Restricting the generator to a symmetric 4-set preserves role balance and keeps one uniform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343400"/>
            <a:ext cx="1014984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4453128"/>
            <a:ext cx="9875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2026"/>
                </a:solidFill>
                <a:latin typeface="Aptos Mono"/>
              </a:rPr>
              <a:t>Adopted final natural-congruent generator: {cube, cylinder, mug, sphere}.
Counterbalanced and conflict still use all six categories.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Regime 2: Counterbalanced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primary regime for metric localization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373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unterbalanced_pilot_j2_00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7" y="1709928"/>
            <a:ext cx="2598724" cy="2598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333341"/>
            <a:ext cx="3209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60A0"/>
                </a:solidFill>
                <a:latin typeface="Aptos"/>
              </a:rPr>
              <a:t>Far appears as large as 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02175"/>
            <a:ext cx="3209544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m4a_v1_counterbalanced_pilot_j2_00049
near: green_sphere  z=3.03, h=130px
far: green_cube  z=3.50, h=133px
regime: counterbalanced; distractors=1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0020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7373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unterbalanced_pilot_j2_00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77" y="1709928"/>
            <a:ext cx="2598724" cy="2598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4333341"/>
            <a:ext cx="3209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60A0"/>
                </a:solidFill>
                <a:latin typeface="Aptos"/>
              </a:rPr>
              <a:t>Equal retinal size despite depth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4602175"/>
            <a:ext cx="3209544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m4a_v1_counterbalanced_pilot_j2_00020
near: blue_cube  z=2.88, h=120px
far: red_cube  z=3.55, h=120px
regime: counterbalanced; distractors=1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A2026"/>
                </a:solidFill>
                <a:latin typeface="Aptos"/>
              </a:defRPr>
            </a:pPr>
            <a:r>
              <a:t>Intended scale: 900 images.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A2026"/>
                </a:solidFill>
                <a:latin typeface="Aptos"/>
              </a:defRPr>
            </a:pPr>
            <a:r>
              <a:t>Six categories: cube, sphere, cylinder, chair, mug, bottle.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A2026"/>
                </a:solidFill>
                <a:latin typeface="Aptos"/>
              </a:defRPr>
            </a:pPr>
            <a:r>
              <a:t>Independent size jitter.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A2026"/>
                </a:solidFill>
                <a:latin typeface="Aptos"/>
              </a:defRPr>
            </a:pPr>
            <a:r>
              <a:t>Counterbalanced elevation cue.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1A2026"/>
                </a:solidFill>
                <a:latin typeface="Aptos"/>
              </a:defRPr>
            </a:pPr>
            <a:r>
              <a:t>0-2 distractors.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80060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910328"/>
            <a:ext cx="3108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6"/>
                </a:solidFill>
                <a:latin typeface="Aptos Mono"/>
              </a:rPr>
              <a:t>Question: can the model represent depth when simple cues no longer agree?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Regime 3: 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Cue-integration analysis: true depth versus apparent size.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657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nflict_pilot_00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38" y="1709928"/>
            <a:ext cx="2625242" cy="2625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436123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A3737"/>
                </a:solidFill>
                <a:latin typeface="Aptos"/>
              </a:rPr>
              <a:t>Far object looks larger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632807"/>
            <a:ext cx="334670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m4a_v1_conflict_pilot_00037
near: yellow_mug  z=2.93, h=116px
far: yellow_cylinder  z=3.72, h=135px
regime: conflict; distractors=1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657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nflict_pilot_00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018" y="1709928"/>
            <a:ext cx="2625242" cy="26252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436123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A3737"/>
                </a:solidFill>
                <a:latin typeface="Aptos"/>
              </a:rPr>
              <a:t>Far cube has larger retinal 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632807"/>
            <a:ext cx="334670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m4a_v1_conflict_pilot_00030
near: red_cylinder  z=3.25, h=108px
far: red_cube  z=4.14, h=119px
regime: conflict; distractors=1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A2026"/>
                </a:solidFill>
                <a:latin typeface="Aptos"/>
              </a:defRPr>
            </a:pPr>
            <a:r>
              <a:t>Intended scale: 900 images.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A2026"/>
                </a:solidFill>
                <a:latin typeface="Aptos"/>
              </a:defRPr>
            </a:pPr>
            <a:r>
              <a:t>Six categories.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A2026"/>
                </a:solidFill>
                <a:latin typeface="Aptos"/>
              </a:defRPr>
            </a:pPr>
            <a:r>
              <a:t>Near size multiplier: 0.78-0.94.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A2026"/>
                </a:solidFill>
                <a:latin typeface="Aptos"/>
              </a:defRPr>
            </a:pPr>
            <a:r>
              <a:t>Far size multiplier: 1.12-1.30.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A2026"/>
                </a:solidFill>
                <a:latin typeface="Aptos"/>
              </a:defRPr>
            </a:pPr>
            <a:r>
              <a:t>Far object may look as large or larger.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80060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910328"/>
            <a:ext cx="2743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2026"/>
                </a:solidFill>
                <a:latin typeface="Aptos Mono"/>
              </a:rPr>
              <a:t>Question: which cue does the model follow?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What the Main Config Factors Do Visually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Each setting manipulates a cue that could otherwise carry the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 Mono"/>
              </a:rPr>
              <a:t>depth_gaps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64592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026"/>
                </a:solidFill>
                <a:latin typeface="Aptos"/>
              </a:rPr>
              <a:t>How far apart the target objects are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64592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difficulty of near/far judgment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 Mono"/>
              </a:rPr>
              <a:t>lateral_range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04288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026"/>
                </a:solidFill>
                <a:latin typeface="Aptos"/>
              </a:rPr>
              <a:t>How far left/right targets appear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304288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continuous position instead of side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 Mono"/>
              </a:rPr>
              <a:t>camera jitter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62656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026"/>
                </a:solidFill>
                <a:latin typeface="Aptos"/>
              </a:rPr>
              <a:t>Viewpoint height, translation, pitch, yaw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962656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breaks fixed image-position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2102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 Mono"/>
              </a:rPr>
              <a:t>size_condition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621024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026"/>
                </a:solidFill>
                <a:latin typeface="Aptos"/>
              </a:rPr>
              <a:t>Physical size relation between near/far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621024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controls apparent-size cue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93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 Mono"/>
              </a:rPr>
              <a:t>elevation_condition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279392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026"/>
                </a:solidFill>
                <a:latin typeface="Aptos"/>
              </a:rPr>
              <a:t>Vertical image-position 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279392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controls ground-plane depth cue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5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 Mono"/>
              </a:rPr>
              <a:t>distractors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937759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026"/>
                </a:solidFill>
                <a:latin typeface="Aptos"/>
              </a:rPr>
              <a:t>Extra non-target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937759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tests object-specific reference/binding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Depth Gap and Lateral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M4a turns categorical-looking variables into graded variables.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7548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2026"/>
                </a:solidFill>
                <a:latin typeface="Aptos Mono"/>
              </a:rPr>
              <a:t>v0:
lateral_offset = 0.7
depth_gaps = [0.5, 1.0, 1.5]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459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7548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2026"/>
                </a:solidFill>
                <a:latin typeface="Aptos Mono"/>
              </a:rPr>
              <a:t>M4a:
lateral_range = [0.3, 0.85]
depth_gaps = [0.45, ..., 1.95]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v0 x behaved like left/right classification.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v0 depth cues were too congruent and easy.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576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M4a samples graded lateral positions.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Depth gaps span easier and harder cases.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Camera Jitter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same 3D relation should not always map to the same 2D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4805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2026"/>
                </a:solidFill>
                <a:latin typeface="Aptos Mono"/>
              </a:rPr>
              <a:t>height: ±0.16 m
pos_x: ±0.3 m
pos_y: ±0.2 m
pitch: ±3°
yaw: ±4°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783080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Fixed camera makes image location a strong proxy for world location.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Jitter weakens the direct mapping between 2D position and 3D target.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1A2026"/>
                </a:solidFill>
                <a:latin typeface="Aptos"/>
              </a:defRPr>
            </a:pPr>
            <a:r>
              <a:t>This is especially important for lateral-position probes.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2202E"/>
                </a:solidFill>
                <a:latin typeface="Aptos"/>
              </a:rPr>
              <a:t>Design tension: stronger camera motion improves decorrelation but makes clean placement harder. This is why placement margins and validation are load-bearing.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Size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most direct manipulation of the apparent-size shortcut.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>congruent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Near usually looks larger; all-cues-agree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>independent_jitter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Physical size varies independently of depth; main regime.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>conflict_far_larger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Far object deliberately larger; cue conflict.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983480"/>
            <a:ext cx="9966960" cy="5943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093208"/>
            <a:ext cx="9692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2026"/>
                </a:solidFill>
                <a:latin typeface="Aptos Mono"/>
              </a:rPr>
              <a:t>M3 lesson: without this manipulation, z-depth can be read from retinal size instead of model representation.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Distractors, Lighting, and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Nuisance variation prevents the dataset from being a two-object toy world.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511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unterbalanced_pilot_j2_0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180136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69003"/>
            <a:ext cx="35295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60A0"/>
                </a:solidFill>
                <a:latin typeface="Aptos"/>
              </a:rPr>
              <a:t>Counterbalanced + distractor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32350"/>
            <a:ext cx="352958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2026"/>
                </a:solidFill>
                <a:latin typeface="Aptos Mono"/>
              </a:rPr>
              <a:t>m4a_v1_counterbalanced_pilot_j2_00005
near: blue_chair  z=4.73, h=79px
far: yellow_mug  z=5.77, h=78px
regime: counterbalanced; distractors=1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Distractors force the system to bind the right object reference, not just solve a two-object layout.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Ground colors and sun energy/direction vary to reduce fixed render artifacts.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Final nuisance coverage is still part of the M4a gate: texture families, renderer seeds, and render/AA settings remain open decisions.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The 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R is the natural-congruent depth-ratio safety factor.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47088"/>
            <a:ext cx="49377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2026"/>
                </a:solidFill>
                <a:latin typeface="Aptos Mono"/>
              </a:rPr>
              <a:t>R = minimum required far_depth / near_depth
for natural-congruent size cues to remain valid
under worst-case category, size, depth, and camera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Near object must be closer in geometry and supported by projected size/area cues.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Some far categories can have larger silhouettes than some near categories.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A2026"/>
                </a:solidFill>
                <a:latin typeface="Aptos"/>
              </a:defRPr>
            </a:pPr>
            <a:r>
              <a:t>Therefore the ratio floor must be derived from worst-case extrema, not averages.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251960"/>
            <a:ext cx="1005840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61688"/>
            <a:ext cx="9784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2026"/>
                </a:solidFill>
                <a:latin typeface="Aptos Mono"/>
              </a:rPr>
              <a:t>Intuition: a near mug versus a far cube can violate “near looks larger” unless the far object is sufficiently farther away.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Current 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latest cumulative ledger raised R and kept it unratified.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01368"/>
            <a:ext cx="493776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026"/>
                </a:solidFill>
                <a:latin typeface="Aptos Mono"/>
              </a:rPr>
              <a:t>pass 0: R = 1.2072
pass 1: R = 1.2060
pass 2: R = 1.2026
cumulative union: R = 1.2092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50">
                <a:solidFill>
                  <a:srgbClr val="1A2026"/>
                </a:solidFill>
                <a:latin typeface="Aptos"/>
              </a:defRPr>
            </a:pPr>
            <a:r>
              <a:t>Per-pass R appeared to fall because non-nested grids forgot earlier extrema.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50">
                <a:solidFill>
                  <a:srgbClr val="1A2026"/>
                </a:solidFill>
                <a:latin typeface="Aptos"/>
              </a:defRPr>
            </a:pPr>
            <a:r>
              <a:t>Unioning all extrema revealed a higher lower bound.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50">
                <a:solidFill>
                  <a:srgbClr val="1A2026"/>
                </a:solidFill>
                <a:latin typeface="Aptos"/>
              </a:defRPr>
            </a:pPr>
            <a:r>
              <a:t>Violations cluster at the deep end of the near-depth band, with minimum multiplier and maximum pitch.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50">
                <a:solidFill>
                  <a:srgbClr val="1A2026"/>
                </a:solidFill>
                <a:latin typeface="Aptos"/>
              </a:defRPr>
            </a:pPr>
            <a:r>
              <a:t>Next pass should grid each role-specific depth range rather than the union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937760"/>
            <a:ext cx="10058400" cy="5943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047488"/>
            <a:ext cx="9784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2026"/>
                </a:solidFill>
                <a:latin typeface="Aptos Mono"/>
              </a:rPr>
              <a:t>Status: R is not ratified. No full battery render or M4b extraction should consume it yet.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M4a Current Experimental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 gate-scale configs are already defined, but the battery is not finalized.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A2026"/>
                </a:solidFill>
                <a:latin typeface="Aptos Mono"/>
              </a:rPr>
              <a:t>natural-congruent
N = 400
4 categories
size: congruent
elevation: congruent
distractors: 0-1
role: control/reference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A2026"/>
                </a:solidFill>
                <a:latin typeface="Aptos Mono"/>
              </a:rPr>
              <a:t>counterbalanced
N = 900
6 categories
size: independent jitter
elevation: counterbalanced
distractors: 0-2
role: primary localization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A2026"/>
                </a:solidFill>
                <a:latin typeface="Aptos Mono"/>
              </a:rPr>
              <a:t>conflict
N = 900
6 categories
far object larger
elevation: congruent
distractors: 0-1
role: cue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E6974"/>
                </a:solidFill>
                <a:latin typeface="Aptos"/>
              </a:rPr>
              <a:t>Shared: 512x512, Cycles CPU, camera jitter, lateral range [0.3, 0.85], depth gaps up to 1.95, target margins.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What Remains Unresolved Before M4a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These are blocking items, not cosmetic cleanup.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A2026"/>
                </a:solidFill>
                <a:latin typeface="Aptos"/>
              </a:defRPr>
            </a:pPr>
            <a:r>
              <a:t>R ratification: pass 3 role-specific depth refinement and fresh targeted verification.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A2026"/>
                </a:solidFill>
                <a:latin typeface="Aptos"/>
              </a:defRPr>
            </a:pPr>
            <a:r>
              <a:t>Gate-scale render: full configured dataset has not been rendered as accepted battery.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A2026"/>
                </a:solidFill>
                <a:latin typeface="Aptos"/>
              </a:defRPr>
            </a:pPr>
            <a:r>
              <a:t>Determinism: byte-compare verification still required for the final outputs.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A2026"/>
                </a:solidFill>
                <a:latin typeface="Aptos"/>
              </a:defRPr>
            </a:pPr>
            <a:r>
              <a:t>Image-identifiability gate: final battery must pass held-out-factor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A2026"/>
                </a:solidFill>
                <a:latin typeface="Aptos"/>
              </a:defRPr>
            </a:pPr>
            <a:r>
              <a:t>Nuisance coverage: texture families, lighting families, renderer seeds, and render settings remain open gate decisions.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A2026"/>
                </a:solidFill>
                <a:latin typeface="Aptos"/>
              </a:defRPr>
            </a:pPr>
            <a:r>
              <a:t>Human/contact-sheet inspection: useful for ordinal sanity only, not calibrated metric validity.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50">
                <a:solidFill>
                  <a:srgbClr val="1A2026"/>
                </a:solidFill>
                <a:latin typeface="Aptos"/>
              </a:defRPr>
            </a:pPr>
            <a:r>
              <a:t>M4b remains locked: no activation cache, five-stage extraction, or lm_ans readout until M4a passes.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623560"/>
            <a:ext cx="10058400" cy="5029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733288"/>
            <a:ext cx="9784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2026"/>
                </a:solidFill>
                <a:latin typeface="Aptos Mono"/>
              </a:rPr>
              <a:t>Rule: validate the output, not the fact that the pipeline ran.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60A0"/>
                </a:solidFill>
                <a:latin typeface="Aptos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202E"/>
                </a:solidFill>
                <a:latin typeface="Aptos"/>
              </a:rPr>
              <a:t>Why This Is Not Overengineering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974"/>
                </a:solidFill>
                <a:latin typeface="Aptos"/>
              </a:rPr>
              <a:t>Every major failure so far was a green pipeline producing the wrong scientific object.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>v0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21408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looked like metric x; was mostly side 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8308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>v0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21408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looked like depth decoding; was apparent-size shortcut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3756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>mask pooling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75887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looked like representation; selected token location leaked 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33756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675887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026"/>
                </a:solidFill>
                <a:latin typeface="Aptos"/>
              </a:rPr>
              <a:t>looked reproducible; dirty-tree provenance was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2202E"/>
                </a:solidFill>
                <a:latin typeface="Aptos"/>
              </a:rPr>
              <a:t>The dataset is the experiment. If it is wrong, the later probing and intervention results will be uninterpretable.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2202E"/>
                </a:solidFill>
                <a:latin typeface="Aptos"/>
              </a:rPr>
              <a:t>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600200"/>
            <a:ext cx="1005840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09928"/>
            <a:ext cx="97840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026"/>
                </a:solidFill>
                <a:latin typeface="Aptos Mono"/>
              </a:rPr>
              <a:t>M1 proved we could render controlled geometry.
M3 proved the first rendered set was not a valid metric-probing instrument.
M4a redesigns the dataset so M5/M6 can ask where metric spatial information is encoded, bound, and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460A0"/>
                </a:solidFill>
                <a:latin typeface="Aptos"/>
              </a:rPr>
              <a:t>The contribution depends on turning rendered images into a validated measurement instrument.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126480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974"/>
                </a:solidFill>
                <a:latin typeface="Aptos"/>
              </a:rPr>
              <a:t>Pilot examples included for explanation only; final M4a battery awaits R ratification and gate-scale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