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collecting answers to Part A's take-home question: 'how would YOU test whether a model represents something it cannot say?' Several will have reinvented probing or oracle injection.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Fast. This is a memory refresher, not a re-teach.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Act 5 = what we designed. Act 6 = why it has this much armor (the armor was bought with real blood).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real rendered pilot images here when M4a lands — swap the sketches for actual renders.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right matrix is the ACCEPTANCE TEST, not an assumption — M4a measures it (the decorrelation matrix is an explicit deliverable).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the object-NAME row matters: it is where Kang localized causal influence on qualitative spatial beliefs. H1 predicts continuous depth becomes much less recoverable exactly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Repeat the mantra: the instrument is fixed, the conclusion is not — every shape is a finding, but only because the gates make the curve trustworthy.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convergent fact behind defense 3 (from three papers): VLMs can CONSUME resolved coordinates (+18–20 pts) but can't integrate partial cues (+0.5–4). Nobody knows why — mechanistic texture for the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audience's favorite kind of experiment: one cheap manipulation, two clean opposite predictions.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mediation chain provides evidence FAVORING representationally specific repair over direct logit manipulation — with direction/object specificity, held-out generalization, and unrelated-behavior preservation on top. Foil to beat: generic ITI-style steering gives only ~1–2pp (Attention in Space).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for the 5 conditions: visual recoverable + text-token substantially less (matched eval) + qualitative DOES transfer there + causal intervention changes metric answers + object-specific. All five, or no binding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answer to 'how do you know your nulls mean anything?' — the gates exist so that every downstream number is interpretable.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caveat on this slide was found by opening the actual files, not reading the papers — What'sUp-B's 204 depth items and MindCube's unsuitability were both invisible from descriptions.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'why not GPT-5/Gemini': closed weights — no activations, no internals, no probes. This science requires open weights.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them argue. Someone will say 'your model is better' — perfect setup. The controls all PASSED. Everything looked rigorous.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 that stings: the model's activations added ~0.02–0.06 over the mask. Everything else was the instrument.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Deeper point: mask-pooled VISUAL probes inherit the SELECTION leak; TEXT-token probes don't — but text probes have their OWN nuisance predictors (token identity, position, mention order, template role) — 'leak' stays reserved for the selection mechanism; both sides carry baselines; never imply visual=contaminated / text=clean. The visual-high/text-low contrast could be MANUFACTURED by measurement on either side — which is why the leak threatened the core experiment, not a footnote.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Career lesson for juniors: the embarrassing bug, chased to the bottom and checked against the field, may become a methods contribution — pending the promotion checklist. Note also: mask geometry is an EXTERNAL/trivial-feature baseline, not 'non-representational' — the mask does represent location; the issue is the signal's provenance (selection, not learned activations).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emotional shape: a 0% effect with a plausible story attached FEELS like honest science. Phase 2 is made of nulls — this is the project's most dangerous residual failure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failure class as the leak: passed every shuffled-label control, exposed only by an adversarial baseline. Hence: dumb-features baseline on every probe, forever.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meta-pattern: every bug had the same shape — pipeline runs green while producing wrong data. That's why the audits re-derive everything from artifacts.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5 deserves 2 minutes: the retracted deduction FELT like insight because it was cheap and made the headline follow from a definition. The smell test: a result you cannot lose is a result you cannot 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wrinkle is a feature of the talk, not a bug — showing juniors what honest partial reproduction looks 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M4a is being implemented right now. Target from the advisor deck: preliminary decodability curves by mid-August.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the rush: both rival groups declared follow-ups aimed at adjacent or overlapping territory, and Kang just got an ICLR spotlight on the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Maturity labels are mandatory — S4 is an agenda, not a queued experiment. Do not let the room read five stages as five promised papers.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intellectual signature of the project — claims graded by rung, wording that doesn't presuppose the mechanism.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curve predictions on a whiteboard with names. When M5's real curve lands, revisit — best seminar-engagement trick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219456" cy="219456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" y="914400"/>
            <a:ext cx="219456" cy="219456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70432" y="914400"/>
            <a:ext cx="219456" cy="219456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481328" y="914400"/>
            <a:ext cx="219456" cy="219456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792224" y="914400"/>
            <a:ext cx="219456" cy="219456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373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Depth Go? — Part B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experiment: the instrument, the war stories, and the road ahead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5120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seminar · Part B: design, hard lessons, status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A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Kaho · July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 seconds of Part A</a:t>
            </a:r>
            <a:endParaRPr lang="en-US" sz="3000" dirty="0"/>
          </a:p>
        </p:txBody>
      </p:sp>
      <p:pic>
        <p:nvPicPr>
          <p:cNvPr id="10" name="Image 0" descr="assets/20_anchor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627" y="1463040"/>
            <a:ext cx="9058266" cy="31089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4709160"/>
            <a:ext cx="11247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≫ quantitative across several recent benchmarks (task formats unmatched — one reason we build a matched battery); accuracy can't identify the mechanism behind either score.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 information is recoverable at the encoder (DepthCues) · behavior barely tracks geometry (Ill-Posed) · raw metric weak at LM layers under W&amp;G's protocol · and two 2026 papers motivate COMPETING localization hypotheses — a projector discontinuity (Deccan, categorical occlusion) vs an output-side failure (Anchored, slant, LM-input only). The pattern for controlled DEPTH is unmeasured.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aim: a stage-wise, selection-leak-controlled trace (with nuisance baselines on both sides) of object-specific depth across FIVE PRESPECIFIED functional stages — CONTINUOUS depth (z; Δz/ratio) as the probe target, ORDINAL ordering as the behavioral anchor — testing which localization pattern holds at object-word binding sites.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A, slides 8–53. Sources: 2411.17385 · 2606.24335 · 2605.07148 · 2601.12626 · 2603.22278 · 2605.20448 · 2606.06714.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19456" cy="219456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1051560"/>
            <a:ext cx="219456" cy="219456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5" name="Shape 3"/>
          <p:cNvSpPr/>
          <p:nvPr/>
        </p:nvSpPr>
        <p:spPr>
          <a:xfrm>
            <a:off x="1170432" y="1051560"/>
            <a:ext cx="219456" cy="219456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6" name="Shape 4"/>
          <p:cNvSpPr/>
          <p:nvPr/>
        </p:nvSpPr>
        <p:spPr>
          <a:xfrm>
            <a:off x="1481328" y="1051560"/>
            <a:ext cx="219456" cy="219456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7" name="Shape 5"/>
          <p:cNvSpPr/>
          <p:nvPr/>
        </p:nvSpPr>
        <p:spPr>
          <a:xfrm>
            <a:off x="1792224" y="1051560"/>
            <a:ext cx="219456" cy="219456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FA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5 · OUR EXPERIMENT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instrument whose failure modes are explicitly tested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design decisions from Act 2, turned into a battery, a probing grid, and a causal endpoint. The instrument is fixed; the conclusion is not — and Act 6 shows why we assume instruments CAN fool us.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5 · OUR EXPERIMENT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at a glance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550" b="1" dirty="0">
                <a:solidFill>
                  <a:srgbClr val="4A3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1 — control the inputs:</a:t>
            </a:r>
            <a:endParaRPr lang="en-US" sz="15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Blender-rendered battery with exact geometry, where depth and its correlated 2D cues vary independently. Rendering enforces exact factorial control and ground-truth geometry at a scale natural data rarely provides.</a:t>
            </a:r>
            <a:endParaRPr lang="en-US" sz="15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550" b="1" dirty="0">
                <a:solidFill>
                  <a:srgbClr val="4A3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2 — look inside, at five stages:</a:t>
            </a:r>
            <a:endParaRPr lang="en-US" sz="15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probes over (stage × layer × quantity × axis), then patching + a graded intervention along an independently validated depth-related direction — at the PREREGISTERED primary site (stage 2 vs stage 4 contrast); probe-indicated sites are EXPLORATORY and get confirmed on held-out data (no intervene-where-the-curve-looks-weakest circularity).</a:t>
            </a:r>
            <a:endParaRPr lang="en-US" sz="15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5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discipline layer wrapped around both:</a:t>
            </a:r>
            <a:endParaRPr lang="en-US" sz="15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probe ships its nulls; every null ships a positive control; every dataset enters only after item-level inspection; every claimed number carries provenance (config + seed + git hash).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design: research_proposal_spatial_binding.md §2 (project docs); discipline rules: AGENTS.md verification rules 3/7/11/12/13.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5 · OUR EXPERIMENT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stimulus battery: three regimes</a:t>
            </a:r>
            <a:endParaRPr lang="en-US" sz="3000" dirty="0"/>
          </a:p>
        </p:txBody>
      </p:sp>
      <p:pic>
        <p:nvPicPr>
          <p:cNvPr id="10" name="Image 0" descr="assets/40_regi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751" y="1508760"/>
            <a:ext cx="10740017" cy="3840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548640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localization claim lives in the COUNTERBALANCED regime — plausible scenes with prespecified cue correlations MINIMIZED AND MEASURED (the decorrelation matrix is an acceptance test, not an assumption). That structurally preempts the 'your images are just weird' attack: the headline never rests on bizarre pictures. Conflict images serve cue-integration analyses only.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stimuli §2.2; regime philosophy shared with Why Far Looks Up 2605.30161 (corridor stimuli) and O3-D 2607.01503 (cue-controlled).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5 · OUR EXPERIMENT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battery must break</a:t>
            </a:r>
            <a:endParaRPr lang="en-US" sz="3000" dirty="0"/>
          </a:p>
        </p:txBody>
      </p:sp>
      <p:pic>
        <p:nvPicPr>
          <p:cNvPr id="10" name="Image 0" descr="assets/41_decor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2360" y="1463040"/>
            <a:ext cx="7625360" cy="35661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521208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required decorrelations (each a measured defect of our own v0 — Act 6): continuous lateral positions · camera-pose jitter (disrupts the position leak at the source; the dumb-feature ceiling verifies the residual against the preregistered bound) · independent per-object size jitter (breaks the size↔depth shortcut: v0 depth was 86% predictable from apparent size alone, r=0.93) · textures/distractors/lighting · recalibrated worst-case thresholds.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M4a spec (IMPLEMENTATION_PLAN §4); v0 defect measurements: reports/m3_reproduction.md §2.4 (ours). Right panel = design target, verified by measurement before use.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5 · OUR EXPERIMENT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probing grid: 5 stages × 3 targets</a:t>
            </a:r>
            <a:endParaRPr lang="en-US" sz="3000" dirty="0"/>
          </a:p>
        </p:txBody>
      </p:sp>
      <p:pic>
        <p:nvPicPr>
          <p:cNvPr id="10" name="Image 0" descr="assets/42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11430000" cy="398380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§2.3. H2a's ordinal-vs-continuous comparison uses MATCHED targets derived from the same depth labels and scenes — equalized probe capacity, sample counts, nuisance controls, ceiling-normalized evaluation. Strip/all-token probing from Cui et al. 2603.22278 v2 (in their setup, object-pooled-only probing underestimated the distributed signal).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5 · OUR EXPERIMENT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result: a stage-wise profile</a:t>
            </a:r>
            <a:endParaRPr lang="en-US" sz="3000" dirty="0"/>
          </a:p>
        </p:txBody>
      </p:sp>
      <p:pic>
        <p:nvPicPr>
          <p:cNvPr id="10" name="Image 0" descr="assets/31_hypothe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6200" y="1463040"/>
            <a:ext cx="9589121" cy="35661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525780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decodability across five stages — under MATCHED evaluation (matched-capacity readouts, per-cell CIs, stage-specific dumb baselines; stages are different token populations, so a raw R² line would compare non-equivalent readouts). Left = H1's PROBE-LEVEL signature (a binding claim additionally requires the causal decision rule). Middle = the projector pattern (Deccan). Right = the readout pattern (Anchored). These are three preregistered REFERENCE signatures — mixed, gradual, or nonmonotonic profiles (and different answers for z, Δz, ratio) remain possible; the profile distinguishes among candidates, it does not force one.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H1/H2: ours (S1). Middle shape: 2605.20448; right shape: 2606.06714.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5 · OUR EXPERIMENT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 vs answers, under explicit calibration controls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obvious attack: 'your probe got training data; the zero-shot model didn't.' Three defenses, built in from day one: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Rank correlations as the COMMON metric: Spearman of probe predictions vs verbalized answers on identical images removes scale calibration — it does not remove the supervision asymmetry; defenses 2–3 characterize (not eliminate) it.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Few-shot-calibrated verbal baseline: demonstrations spanning the probe's label range — acknowledging that in-context calibration is NOT equivalent to supervised probe fitting. If probes still outperform, a probe–verbalization gap remains after these controls (its cause is not yet localized).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Oracle-text condition: feed ground-truth coordinates as TEXT. Correct answers show the LM can solve the downstream reasoning problem on explicit symbolic input — NARROWING the explanation toward visual extraction, reference resolution, cross-modal transfer, or accessibility, among other upstream differences (text input may also recruit a different strategy).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protocol: ORDER-ROBUST ACCURACY — correct under BOTH option orders, with the null defined by PERMUTATION / a paired-response model (responses across orders are not independent — a position-biased model breaks the naive 25%); per-order accuracies + order-effect CI reported; free-response AND ordinal ranking, never MCQ alone.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§2.3(2); two-ordering protocol from Cui et al. 2603.22278 v2; oracle ladder precedent: DISJOINT-3DQA arXiv:2505.24257.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5 · OUR EXPERIMENT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anchor experiment — a fork in one manipulation</a:t>
            </a:r>
            <a:endParaRPr lang="en-US" sz="3000" dirty="0"/>
          </a:p>
        </p:txBody>
      </p:sp>
      <p:pic>
        <p:nvPicPr>
          <p:cNvPr id="10" name="Image 0" descr="assets/44_anch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11430000" cy="370227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§2.3(3), promoted to core — the central prompt-conditioned TRANSFER test (binding is licensed only by the full decision rule). Motivation: Q-Spatial Bench arXiv:2409.09788 (+40 pts from a reference-object prompt, locus unknown).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B·11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5 · OUR EXPERIMENT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causal endpoint: testing repair vs generic steering</a:t>
            </a:r>
            <a:endParaRPr lang="en-US" sz="3000" dirty="0"/>
          </a:p>
        </p:txBody>
      </p:sp>
      <p:pic>
        <p:nvPicPr>
          <p:cNvPr id="10" name="Image 0" descr="assets/45_medi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11430000" cy="38486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§2.5 + M6 spec. 'Depth-direction intervention' = graded push along a VALIDATED depth-related direction/subspace — the exact construction (probe direction / matched-condition difference / low-rank subspace / interchange) is defined before use; they carry different causal interpretations. Vocabulary (usage/necessity/sufficiency): 2607.03358; extends Kang 2601.12626's discrete oracle-ID injection.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5 · OUR EXPERIMENT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result: the outcome matrix</a:t>
            </a:r>
            <a:endParaRPr lang="en-US" sz="3000" dirty="0"/>
          </a:p>
        </p:txBody>
      </p:sp>
      <p:pic>
        <p:nvPicPr>
          <p:cNvPr id="10" name="Image 0" descr="assets/46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588" y="1463040"/>
            <a:ext cx="11172344" cy="4114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§2.3 outcome matrix (replaces the unfalsifiable 'every outcome is a finding'). Binding claimed only under the 5-condition decision rule (appendix).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5 · OUR EXPERIMENT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gates before any of it counts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4A3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— image-identifiability (M4a, needs NO model):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pixel model must recover each target FROM THE IMAGES — generalizing across HELD-OUT nuisance factors (objects, poses, textures, cameras, renderer seeds, lighting families, render settings), never only random splits, gated per level (ordinal / continuous ranking / calibrated magnitude; the human spot-check licenses ordinal only). Renderer GT ≠ pixel-inferable GT: if the target is not image-identifiable under the stated assumptions, a low internal result is uninterpretable as model failure — and a high one may reflect priors rather than image evidence.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4A3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— instrument validity, five conditions (M4b — reformulated at Design Rev 3):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positive controls decode per stage — semantic; an INJECTED implementation control (known scalar into an independent activation dimension — validates extraction+probing, not detection); and an independently established NATURAL geometric control — neither continuous control is constructed from the probe being validated (a shape control cannot license a continuous-depth null) · label-permutation scores follow the preregistered null distribution; nuisance baselines stay below the acceptance bound · the leak ceiling collapses vs v0 AGAINST PRE-REGISTERED NUMERIC BOUNDS (a relative drop alone is insufficient — 0.94→0.40 would still leak) · generalization across held-out objects/poses/depth ranges · demonstrated dynamic range. ⚠ NOT 'metric must be hard': high metric decodability after all validity checks is a FINDING, not a gate failure — diagnostic checklist, then proceed with the finding.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 purpose: gate 1 first makes a later VALIDITY failure more clearly attributable to the measurement pipeline than to missing image evidence. W&amp;G's gradient (semantics ≫ metric) is a benchmark comparison to report — not a go/no-go.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M4a/M4b split: plan §4 (2026-07-15); gate reformulated to validity-only at Design Rev 3 (2026-07-16). Benchmark comparison (not go/no-go): W&amp;G's pattern, x≈chance, z modest, semantics perfect (2605.07148).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5 · OUR EXPERIMENT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validation: a closed, inspected set</a:t>
            </a:r>
            <a:endParaRPr lang="en-US" sz="3000" dirty="0"/>
          </a:p>
        </p:txBody>
      </p:sp>
      <p:pic>
        <p:nvPicPr>
          <p:cNvPr id="10" name="Image 0" descr="assets/47_valid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11521440" cy="367479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layer: S1 §2.6 / plan §2.5(f), all item-level-inspected 2026-07-15. What'sUp 820 items · CV-Bench 1,200 (3D) · CausalSpatial 1,015 used · SpatialRGPT ~375 distance items.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5 · OUR EXPERIMENT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a deliberately small core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= 2 architectures: Qwen2.5-VL-7B (modern, M-RoPE, native-res) + LLaVA-1.5-7B (classic CLIP, fixed-res).</a:t>
            </a:r>
            <a:endParaRPr lang="en-US" sz="1500" dirty="0"/>
          </a:p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target: CONTINUOUS egocentric depth (z; Δz/ratio secondary) · behavioral anchor: ORDINAL depth · qualitative positive control · five stages · probes with selection-leak + nuisance controls · one intervention.</a:t>
            </a:r>
            <a:endParaRPr lang="en-US" sz="1500" dirty="0"/>
          </a:p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to 4–6 models (InternVL, Gemma-3, Qwen2-VL) happens ONLY after the stage-wise pattern stabilizes on two — 'is it one phenomenon or three?' is worth answering, but not before there is a phenomenon.</a:t>
            </a:r>
            <a:endParaRPr lang="en-US" sz="1500" dirty="0"/>
          </a:p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caveat carried everywhere: stages are FUNCTIONAL, mapped per-architecture to concrete tensors (projector vs resampler vs tiling are not homologous) — the mapping table is a published config, not code.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scope: S1 §2.7 (revised 2026-07-15); functional-stage mapping: plan §3.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B·16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19456" cy="219456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1051560"/>
            <a:ext cx="219456" cy="219456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5" name="Shape 3"/>
          <p:cNvSpPr/>
          <p:nvPr/>
        </p:nvSpPr>
        <p:spPr>
          <a:xfrm>
            <a:off x="1170432" y="1051560"/>
            <a:ext cx="219456" cy="219456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6" name="Shape 4"/>
          <p:cNvSpPr/>
          <p:nvPr/>
        </p:nvSpPr>
        <p:spPr>
          <a:xfrm>
            <a:off x="1481328" y="1051560"/>
            <a:ext cx="219456" cy="219456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7" name="Shape 5"/>
          <p:cNvSpPr/>
          <p:nvPr/>
        </p:nvSpPr>
        <p:spPr>
          <a:xfrm>
            <a:off x="1792224" y="1051560"/>
            <a:ext cx="219456" cy="219456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FA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6 · WAR STORIES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measurements lie — live from this project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Act 5 that looked paranoid was bought with a real failure. Four stories, each with the rule it taught us. This act is the most useful thing in the talk if you ever probe a model.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B·17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6 · WAR STORIES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Scene: our first probing run (July 14)</a:t>
            </a:r>
            <a:endParaRPr lang="en-US" sz="3000" dirty="0"/>
          </a:p>
        </p:txBody>
      </p:sp>
      <p:pic>
        <p:nvPicPr>
          <p:cNvPr id="10" name="Image 0" descr="assets/50_trium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254" y="1463040"/>
            <a:ext cx="9021572" cy="3931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548640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&amp; Gao's REFERENCE PATTERN (our stimuli and extraction differ — pattern comparison, not faithful reproduction): x ≈ chance, z modest (+0.28). We got x = 0.997, z = 0.990 — at EVERY layer, shuffled controls exactly at chance, token registration verified. Question for the room: is this good news?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Ours: reports/m3_reproduction.md (M3.2, Qwen2.5-VL-7B + InternVL3-8B on v0 stimuli). W&amp;G targets: 2605.07148 App. B.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6 · WAR STORIES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reveal: most of the score didn't need the model</a:t>
            </a:r>
            <a:endParaRPr lang="en-US" sz="3000" dirty="0"/>
          </a:p>
        </p:txBody>
      </p:sp>
      <p:pic>
        <p:nvPicPr>
          <p:cNvPr id="10" name="Image 0" descr="assets/52_leak_numb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7764" y="1463040"/>
            <a:ext cx="9011672" cy="4023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55321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probe given ONLY mask geometry — centroid, area, bbox, retinal size, elevation; no activations, no model — scores R² 0.942–0.972. Most of the 0.997 score reflected the selection and stimulus geometry, not learned activation content (raw incremental ≈0.02–0.06, BEFORE matched-capacity and nested-CV analysis).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Ours: reports/m3_reproduction.md §2.4; leak_ceiling.py. Sanity check of the method: it correctly returns CHANCE for colour, which a mask cannot encode.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B·19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6 · WAR STORIES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selection IS the answer</a:t>
            </a:r>
            <a:endParaRPr lang="en-US" sz="3000" dirty="0"/>
          </a:p>
        </p:txBody>
      </p:sp>
      <p:pic>
        <p:nvPicPr>
          <p:cNvPr id="10" name="Image 0" descr="assets/51_leak_me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862" y="1463040"/>
            <a:ext cx="10675795" cy="3931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position/selection leak: ours (M3 retro-audit). Generic lineage: control tasks, Hewitt &amp; Liang 2019 arXiv:1909.03368; Belinkov 2022 arXiv:2102.12452.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6 · WAR STORIES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— a candidate contribution</a:t>
            </a:r>
            <a:endParaRPr lang="en-US" sz="3000" dirty="0"/>
          </a:p>
        </p:txBody>
      </p:sp>
      <p:pic>
        <p:nvPicPr>
          <p:cNvPr id="10" name="Image 0" descr="assets/53_fix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11430000" cy="335482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— CANDIDATE status; promotion checklist (all six): 1 baseline reproduces on the ORIGINAL study's split · 2 held-out object/position splits · 3 incremental activation gain quantified · 4 selection mechanism formally isolated · 5 affected published conclusions reassessed · 6 prior work lacks an equivalent control (done for W&amp;G: appendices F–I.4 verbatim + code). Why Far Looks Up's text-delta probe escapes THIS mask-selection leak (deltas cancel it); other nuisance sources remain possible. Lineage: 2605.30161, 2606.13870, Hewitt &amp; Liang 2019.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B·21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6 · WAR STORIES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2: the null that measured nothing</a:t>
            </a:r>
            <a:endParaRPr lang="en-US" sz="3000" dirty="0"/>
          </a:p>
        </p:txBody>
      </p:sp>
      <p:pic>
        <p:nvPicPr>
          <p:cNvPr id="10" name="Image 0" descr="assets/54_dead_read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11430000" cy="341153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Ours: M3 (steering readout bug, LLaVA-1.5 / LLaMA tokenizer). Now AGENTS.md rule 11: no null without a registered positive.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B·22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6 · WAR STORIES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3: the benchmark that answered itself</a:t>
            </a:r>
            <a:endParaRPr lang="en-US" sz="3000" dirty="0"/>
          </a:p>
        </p:txBody>
      </p:sp>
      <p:pic>
        <p:nvPicPr>
          <p:cNvPr id="10" name="Image 0" descr="assets/55_shape_bi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5015" y="1463040"/>
            <a:ext cx="8225650" cy="4023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55321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sampled sphere-near 148/far 182, cube-near 168/far 147 — so 'the cube is closer' won 59.6% of mixed pairs. Rule: balance every factor against the ROLE it could predict, not just its own marginal.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Ours: second retro-audit (2026-07-14). Fix: category+colour drawn as ordered (near,far) pairs, balanced; shape-only strategy 55.1% → 50.2% (χ² p=0.997).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B·23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6 · WAR STORIES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4, quickly: four more silent greens</a:t>
            </a:r>
            <a:endParaRPr lang="en-US" sz="3000" dirty="0"/>
          </a:p>
        </p:txBody>
      </p:sp>
      <p:pic>
        <p:nvPicPr>
          <p:cNvPr id="10" name="Image 0" descr="assets/56_mon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11521440" cy="329560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Ours: retro-audits of M0–M2 (reports/m0_m2_audit.md): 6 code bugs survived closure, 2 producing wrong data; 5 documented constants false. All silent, all green.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B·24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6 · WAR STORIES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war bought: the evaluation law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No probe without nuisance-feature baselines + incremental-value analysis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decodability counts only above trivial features — reporting dumb-only, representation-only, combined, and Δ = score(dumb ∪ repr) − score(dumb), under matched regularization + nested CV, with a permutation CI on Δ (Δ alone can be distorted by capacity and suppression effects).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No null without a registered positive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zero-ablate what you measure: if a registered positive intervention does not move the measurement, that measurement is not validated for interpreting nulls.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No dataset without item-level inspection; no design claim without a verification search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descriptions, adapter counts, and upstream fields are hypotheses.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Two threshold rules, never mixed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constructed quantities → worst-case bounds (means failed us: 1.096 vs true 1.158). Sampled quantities → weakest prespecified stratum + CIs, never gate on one noisy item.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An argument that makes your finding follow from a definition is a bug, not an insight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shipped one for a day ('occlusion carries zero metric content, therefore…') — retracted after external review. If a claim survives every possible null result, it isn't empirical.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verification rules 7/11/12/13 — each dated to the failure that created it (PROJECT_MEMORY, hard-won lessons).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19456" cy="219456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1051560"/>
            <a:ext cx="219456" cy="219456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5" name="Shape 3"/>
          <p:cNvSpPr/>
          <p:nvPr/>
        </p:nvSpPr>
        <p:spPr>
          <a:xfrm>
            <a:off x="1170432" y="1051560"/>
            <a:ext cx="219456" cy="219456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6" name="Shape 4"/>
          <p:cNvSpPr/>
          <p:nvPr/>
        </p:nvSpPr>
        <p:spPr>
          <a:xfrm>
            <a:off x="1481328" y="1051560"/>
            <a:ext cx="219456" cy="219456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7" name="Shape 5"/>
          <p:cNvSpPr/>
          <p:nvPr/>
        </p:nvSpPr>
        <p:spPr>
          <a:xfrm>
            <a:off x="1792224" y="1051560"/>
            <a:ext cx="219456" cy="219456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FA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7 · STATUS &amp; ROAD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are, what's next, and the bigger program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days of foundations, two gates ahead, two deadlines in six weeks.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7 · STATUS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Foundations: M0–M3 in six days</a:t>
            </a:r>
            <a:endParaRPr lang="en-US" sz="3000" dirty="0"/>
          </a:p>
        </p:txBody>
      </p:sp>
      <p:pic>
        <p:nvPicPr>
          <p:cNvPr id="10" name="Image 0" descr="assets/22_kang_ste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6949440" cy="28328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0" y="1600200"/>
            <a:ext cx="3977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Done: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scene generator (calibrated, bounce-bug-proofed) · six benchmark adapters, item-audited · Kang: key qualitative signatures partially reproduced (stage/layer pattern; rank-3 reconstruction R²=0.87/0.84; positive direction-vs-noise contrast 31.3% vs 0.0%; monotone dose-response — the absolute swap effect did NOT reproduce) · the position leak found BEFORE it poisoned Phase 2.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00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decision: GO (advisor review, Jul 14).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wrinkle: their absolute swap rate (64%) does not reproduce. Our above-noise contrast is positive (+43.3 peak vs noise 0%); theirs is +34.9 over a 29.5% noise floor — DESCRIPTIVE comparison only: noise construction, doses and selection differ, so no superiority claim. Reported as-is; nothing tuned.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Ours: reports/m3_reproduction.md; Kang targets: 2601.12626 (64.4–64.6% vs 29.5%; rank-3 R²≥0.85; above-chance +34.9).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B·27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7 · STATUS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M4a, and the two gates</a:t>
            </a:r>
            <a:endParaRPr lang="en-US" sz="3000" dirty="0"/>
          </a:p>
        </p:txBody>
      </p:sp>
      <p:pic>
        <p:nvPicPr>
          <p:cNvPr id="10" name="Image 0" descr="assets/58_milesto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11521440" cy="279038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+ gates: IMPLEMENTATION_PLAN §4 (M4 split 2026-07-15). M4a needs no VLM and no GPU (CPU rendering).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B·28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7 · STATUS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Calendar: six loaded weeks</a:t>
            </a:r>
            <a:endParaRPr lang="en-US" sz="3000" dirty="0"/>
          </a:p>
        </p:txBody>
      </p:sp>
      <p:pic>
        <p:nvPicPr>
          <p:cNvPr id="10" name="Image 0" descr="assets/57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0"/>
            <a:ext cx="11521440" cy="329001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502920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WACV paper = the MINIMAL CORE only (2 models; depth traced two-level — continuous probe targets, ordinal behavioral tests; the five-stage curve; the leak methodology; the reproduction). Full battery + interventions extend to the CVPR fallback if needed. Scope discipline: do not force a weak submission — gates outrank deadlines.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plan: professor-approved 2026-07-16 (PROJECT_MEMORY). Named scoop risks: Anchored's group (declared LM-internal follow-up) and Deccan AI (declared multi-model follow-up).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B·29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7 · THE PROGRAM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program: one question, staged</a:t>
            </a:r>
            <a:endParaRPr lang="en-US" sz="3000" dirty="0"/>
          </a:p>
        </p:txBody>
      </p:sp>
      <p:pic>
        <p:nvPicPr>
          <p:cNvPr id="10" name="Image 0" descr="assets/59_pro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11521440" cy="31974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frame: PROJECT_MEMORY (canonical question: how is object-specific spatial state represented, transferred, and causally used — under visible / occluded / absent / hypothetical conditions).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B·30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7 · THE PROGRAM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be allowed to claim</a:t>
            </a:r>
            <a:endParaRPr lang="en-US" sz="3000" dirty="0"/>
          </a:p>
        </p:txBody>
      </p:sp>
      <p:pic>
        <p:nvPicPr>
          <p:cNvPr id="10" name="Image 0" descr="assets/15_lad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186" y="1554480"/>
            <a:ext cx="9776269" cy="32918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498348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LINEARLY DECODABLE → 2 IMAGE-GROUNDED beyond nuisance baselines → 3 CAUSALLY ALTERABLE under controlled intervention (a generic push that moves answers is still rung-3 evidence only if specificity controls pass) → 4 OBJECT-SPECIFIC MEDIATED USE → 5 TASK-RELEVANT natural causal use. No claim borrows a higher rung than its evidence.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Wording discipline, project-wide: metric information 'becomes unavailable or unusable' — never 'is destroyed'. Erased / recoded / detached / ignored / corrupted are five different mechanisms; the design exists to tell them apart.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Evidential ladder: program frame (Part A slide 29). Five-mechanism decomposition: S1 §1.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B·31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— and homework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Accuracy cannot explain failure. Priors and single-cue or benchmark strategies can produce correct answers without integrated geometric reasoning; only controlled inputs + internal measurement can tell them apart.</a:t>
            </a:r>
            <a:endParaRPr lang="en-US" sz="1500" dirty="0"/>
          </a:p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Measurements mislead in their own ways. Every probe needs nuisance baselines + incremental-value analysis; every null needs a positive control — the field's papers (and ours) are only as good as their controls.</a:t>
            </a:r>
            <a:endParaRPr lang="en-US" sz="1500" dirty="0"/>
          </a:p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The open question is variable-specific. Two 2026 papers motivate competing localization hypotheses (projector vs output-side) from different variables and methods; our five-stage, trivial-feature-controlled trace tests which pattern holds for controlled depth.</a:t>
            </a:r>
            <a:endParaRPr lang="en-US" sz="1500" dirty="0"/>
          </a:p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500" b="1" dirty="0">
                <a:solidFill>
                  <a:srgbClr val="4A3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(pick one):</a:t>
            </a:r>
            <a:endParaRPr lang="en-US" sz="1500" dirty="0"/>
          </a:p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dumb-features baseline for YOUR current experiment — what trivial feature could be answering for your model? · or: predict which of the three curves (binding / projector / readout) M5 will find, and defend it at the next seminar.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B·32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19456" cy="219456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1051560"/>
            <a:ext cx="219456" cy="219456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5" name="Shape 3"/>
          <p:cNvSpPr/>
          <p:nvPr/>
        </p:nvSpPr>
        <p:spPr>
          <a:xfrm>
            <a:off x="1170432" y="1051560"/>
            <a:ext cx="219456" cy="219456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6" name="Shape 4"/>
          <p:cNvSpPr/>
          <p:nvPr/>
        </p:nvSpPr>
        <p:spPr>
          <a:xfrm>
            <a:off x="1481328" y="1051560"/>
            <a:ext cx="219456" cy="219456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7" name="Shape 5"/>
          <p:cNvSpPr/>
          <p:nvPr/>
        </p:nvSpPr>
        <p:spPr>
          <a:xfrm>
            <a:off x="1792224" y="1051560"/>
            <a:ext cx="219456" cy="219456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FA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slides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rule in full, the reproduction numbers, dataset details, and a glossary.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B·33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five-condition binding decision rule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a binding bottleneck ONLY when ALL FIVE hold:</a:t>
            </a:r>
            <a:endParaRPr lang="en-US" sz="15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metric information has SIGNIFICANT INCREMENTAL recoverability from object-associated visual representations, beyond prespecified selection and nuisance features, under matched nested evaluation;</a:t>
            </a:r>
            <a:endParaRPr lang="en-US" sz="15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it is SUBSTANTIALLY LESS recoverable from that object's TEXT tokens, under matched evaluation;</a:t>
            </a:r>
            <a:endParaRPr lang="en-US" sz="15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qualitative spatial-ID influence is detectable at those same text-token sites (a validated Kang-style positive control);</a:t>
            </a:r>
            <a:endParaRPr lang="en-US" sz="15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a HELD-OUT, depth-specific intervention at the candidate transfer layer changes the relevant internal depth readout AND the corresponding object-specific answer (mediation inside the rule, not beside it);</a:t>
            </a:r>
            <a:endParaRPr lang="en-US" sz="15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effects are OBJECT-SPECIFIC, operationalized by reference redirection: renaming/re-referencing the object redirects the effect; intervening on the non-target object does not reproduce it; the effect follows the REFERRED object, not a fixed token position or answer option.</a:t>
            </a:r>
            <a:endParaRPr lang="en-US" sz="15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any one ⇒ report the pattern, do not name it 'binding'.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§2.3 decision rule (research_proposal_spatial_binding.md).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B·34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reproduction: the numbers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Kang reproduction (reimplemented from the paper; their repo is unlicensed):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mirror-swap patching profile: image patches early → object-word tokens middle (LLaVA peaks 0.31–0.34 at L12–14; Qwen at L16) → text late — the qualitative stage/layer pattern reproduces (no preregistered similarity metric, so not stated as 'exact').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rank-3 R²: 0.87 (LLaVA-1.5-7B) / 0.84 (Qwen2.5-VL-7B) vs paper ≥0.85.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at α=5: 31.3% belief swap vs 0.0% norm-matched noise; dose-response 10→23→31→43% (α=1→10), noise 0% at every dose.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reproduce: absolute swap rate (19–31% vs ~64%). Above-noise contrasts: ours +31.3/+43.3 over a 0% floor; theirs +34.9 over 29.5% — descriptive, not directly comparable (noise construction/doses/selection differ). Confidence explanation tested and REJECTED (noise flips 0/23 even at conf 0.90–0.99; r=+0.03). The gap remains unexplained and is reported as such.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W&amp;G pattern (M3.2): x=0.997 / z=0.990 on v0 — the FAIL that exposed the stimuli (Act 6).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Ours: reports/m3_reproduction.md. Paper targets: 2601.12626, 2605.07148.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2926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29260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210544" y="292608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146304" cy="146304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6" name="Shape 4"/>
          <p:cNvSpPr/>
          <p:nvPr/>
        </p:nvSpPr>
        <p:spPr>
          <a:xfrm>
            <a:off x="11649456" y="292608"/>
            <a:ext cx="146304" cy="146304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7" name="Text 5"/>
          <p:cNvSpPr/>
          <p:nvPr/>
        </p:nvSpPr>
        <p:spPr>
          <a:xfrm>
            <a:off x="113202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B·35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— the prompt-conditioned transfer making object-specific visual information causally available at the language-token positions that refer to and answer about that object (our operational definition; ≠ Cui et al.'s 'spatial variable binding' = ordinal ordering-IDs).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ceiling / dumb-features baseline — probe score achievable from trivial EXTERNAL features (mask geometry, shape, colour, cue values; the mask does represent location — the point is the signal's provenance is selection/annotation, not learned activations); a representation claim requires significant incremental value beyond the baseline under matched-capacity evaluation — dumb-only, representation-only, combined, and incremental results all reported.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leak — mask-pooling picks tokens BY the object's position, so the pooling choice itself encodes the answer.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identifiability gate — proof that the images contain the evidence (supervised pixel model + human check) before any stage-level null is interpreted.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mediation — intervention → internal decodability rises → behavior improves; answers moving alone = logit hack.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/ ratio / absolute — which is closer / how many times farther / how many meters. Ordinal is often constrained by monocular evidence; ratio requires geometric assumptions (calibration, support plane); absolute additionally requires a scale prior. Our battery supplies these conditions by construction; the identifiability gate verifies them.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two-ordering protocol — every MCQ asked in both option orders; kills option-position priors.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Definitions: S1 design docs; Cui et al. 2603.22278 v2 (terminology boundary).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2026-07-17T07:50:20Z</dcterms:created>
  <dcterms:modified xsi:type="dcterms:W3CDTF">2026-07-17T07:50:20Z</dcterms:modified>
</cp:coreProperties>
</file>