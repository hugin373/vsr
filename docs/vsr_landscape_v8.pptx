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097280"/>
            <a:ext cx="3657600" cy="3657600"/>
          </a:xfrm>
          <a:prstGeom prst="ellipse">
            <a:avLst/>
          </a:prstGeom>
          <a:solidFill>
            <a:srgbClr val="1B9AAA">
              <a:alpha val="15000"/>
            </a:srgbClr>
          </a:solidFill>
          <a:ln/>
        </p:spPr>
      </p:sp>
      <p:sp>
        <p:nvSpPr>
          <p:cNvPr id="3" name="Shape 1"/>
          <p:cNvSpPr/>
          <p:nvPr/>
        </p:nvSpPr>
        <p:spPr>
          <a:xfrm>
            <a:off x="7498080" y="3200400"/>
            <a:ext cx="2286000" cy="2286000"/>
          </a:xfrm>
          <a:prstGeom prst="ellipse">
            <a:avLst/>
          </a:prstGeom>
          <a:solidFill>
            <a:srgbClr val="4A6FA5">
              <a:alpha val="10000"/>
            </a:srgbClr>
          </a:solidFill>
          <a:ln/>
        </p:spPr>
      </p:sp>
      <p:sp>
        <p:nvSpPr>
          <p:cNvPr id="4" name="Text 2"/>
          <p:cNvSpPr/>
          <p:nvPr/>
        </p:nvSpPr>
        <p:spPr>
          <a:xfrm>
            <a:off x="731520" y="914400"/>
            <a:ext cx="6400800" cy="2011680"/>
          </a:xfrm>
          <a:prstGeom prst="rect">
            <a:avLst/>
          </a:prstGeom>
          <a:noFill/>
          <a:ln/>
        </p:spPr>
        <p:txBody>
          <a:bodyPr wrap="square" rtlCol="0" anchor="ctr"/>
          <a:lstStyle/>
          <a:p>
            <a:pPr indent="0" marL="0">
              <a:lnSpc>
                <a:spcPct val="115000"/>
              </a:lnSpc>
              <a:buNone/>
            </a:pPr>
            <a:r>
              <a:rPr lang="en-US" sz="3600" b="1" dirty="0">
                <a:solidFill>
                  <a:srgbClr val="FFFFFF"/>
                </a:solidFill>
                <a:latin typeface="Calibri" pitchFamily="34" charset="0"/>
                <a:ea typeface="Calibri" pitchFamily="34" charset="-122"/>
                <a:cs typeface="Calibri" pitchFamily="34" charset="-120"/>
              </a:rPr>
              <a:t>Visual Spatial Reasoning</a:t>
            </a:r>
            <a:endParaRPr lang="en-US" sz="3600" dirty="0"/>
          </a:p>
          <a:p>
            <a:pPr indent="0" marL="0">
              <a:lnSpc>
                <a:spcPct val="115000"/>
              </a:lnSpc>
              <a:buNone/>
            </a:pPr>
            <a:r>
              <a:rPr lang="en-US" sz="3600" b="1" dirty="0">
                <a:solidFill>
                  <a:srgbClr val="FFFFFF"/>
                </a:solidFill>
                <a:latin typeface="Calibri" pitchFamily="34" charset="0"/>
                <a:ea typeface="Calibri" pitchFamily="34" charset="-122"/>
                <a:cs typeface="Calibri" pitchFamily="34" charset="-120"/>
              </a:rPr>
              <a:t>in Vision-Language Models</a:t>
            </a:r>
            <a:endParaRPr lang="en-US" sz="3600" dirty="0"/>
          </a:p>
        </p:txBody>
      </p:sp>
      <p:sp>
        <p:nvSpPr>
          <p:cNvPr id="5" name="Text 3"/>
          <p:cNvSpPr/>
          <p:nvPr/>
        </p:nvSpPr>
        <p:spPr>
          <a:xfrm>
            <a:off x="731520" y="2926080"/>
            <a:ext cx="6400800" cy="548640"/>
          </a:xfrm>
          <a:prstGeom prst="rect">
            <a:avLst/>
          </a:prstGeom>
          <a:noFill/>
          <a:ln/>
        </p:spPr>
        <p:txBody>
          <a:bodyPr wrap="square" rtlCol="0" anchor="ctr"/>
          <a:lstStyle/>
          <a:p>
            <a:pPr indent="0" marL="0">
              <a:buNone/>
            </a:pPr>
            <a:r>
              <a:rPr lang="en-US" sz="1800" i="1" dirty="0">
                <a:solidFill>
                  <a:srgbClr val="1B9AAA"/>
                </a:solidFill>
                <a:latin typeface="Calibri" pitchFamily="34" charset="0"/>
                <a:ea typeface="Calibri" pitchFamily="34" charset="-122"/>
                <a:cs typeface="Calibri" pitchFamily="34" charset="-120"/>
              </a:rPr>
              <a:t>Research Landscape &amp; Open Questions</a:t>
            </a:r>
            <a:endParaRPr lang="en-US" sz="1800" dirty="0"/>
          </a:p>
        </p:txBody>
      </p:sp>
      <p:sp>
        <p:nvSpPr>
          <p:cNvPr id="6" name="Text 4"/>
          <p:cNvSpPr/>
          <p:nvPr/>
        </p:nvSpPr>
        <p:spPr>
          <a:xfrm>
            <a:off x="731520" y="4206240"/>
            <a:ext cx="6400800" cy="365760"/>
          </a:xfrm>
          <a:prstGeom prst="rect">
            <a:avLst/>
          </a:prstGeom>
          <a:noFill/>
          <a:ln/>
        </p:spPr>
        <p:txBody>
          <a:bodyPr wrap="square" rtlCol="0" anchor="ctr"/>
          <a:lstStyle/>
          <a:p>
            <a:pPr indent="0" marL="0">
              <a:buNone/>
            </a:pPr>
            <a:r>
              <a:rPr lang="en-US" sz="1200" dirty="0">
                <a:solidFill>
                  <a:srgbClr val="CBD5E0"/>
                </a:solidFill>
                <a:latin typeface="Calibri" pitchFamily="34" charset="0"/>
                <a:ea typeface="Calibri" pitchFamily="34" charset="-122"/>
                <a:cs typeface="Calibri" pitchFamily="34" charset="-120"/>
              </a:rPr>
              <a:t>Based on critical analysis of 19 recent papers (2024–2026)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rtlCol="0" anchor="ctr"/>
          <a:lstStyle/>
          <a:p>
            <a:pPr indent="0" marL="0">
              <a:buNone/>
            </a:pPr>
            <a:r>
              <a:rPr lang="en-US" sz="2800" b="1" dirty="0">
                <a:solidFill>
                  <a:srgbClr val="1A202C"/>
                </a:solidFill>
                <a:latin typeface="Calibri" pitchFamily="34" charset="0"/>
                <a:ea typeface="Calibri" pitchFamily="34" charset="-122"/>
                <a:cs typeface="Calibri" pitchFamily="34" charset="-120"/>
              </a:rPr>
              <a:t>What is Visual Spatial Reasoning?</a:t>
            </a:r>
            <a:endParaRPr lang="en-US" sz="2800" dirty="0"/>
          </a:p>
        </p:txBody>
      </p:sp>
      <p:sp>
        <p:nvSpPr>
          <p:cNvPr id="3" name="Shape 1"/>
          <p:cNvSpPr/>
          <p:nvPr/>
        </p:nvSpPr>
        <p:spPr>
          <a:xfrm>
            <a:off x="640080" y="1188720"/>
            <a:ext cx="7863840" cy="1005840"/>
          </a:xfrm>
          <a:prstGeom prst="roundRect">
            <a:avLst>
              <a:gd name="adj" fmla="val 9091"/>
            </a:avLst>
          </a:prstGeom>
          <a:solidFill>
            <a:srgbClr val="E6F7F9"/>
          </a:solidFill>
          <a:ln/>
        </p:spPr>
      </p:sp>
      <p:sp>
        <p:nvSpPr>
          <p:cNvPr id="4" name="Text 2"/>
          <p:cNvSpPr/>
          <p:nvPr/>
        </p:nvSpPr>
        <p:spPr>
          <a:xfrm>
            <a:off x="914400" y="1280160"/>
            <a:ext cx="7315200" cy="822960"/>
          </a:xfrm>
          <a:prstGeom prst="rect">
            <a:avLst/>
          </a:prstGeom>
          <a:noFill/>
          <a:ln/>
        </p:spPr>
        <p:txBody>
          <a:bodyPr wrap="square" rtlCol="0" anchor="ctr"/>
          <a:lstStyle/>
          <a:p>
            <a:pPr indent="0" marL="0">
              <a:buNone/>
            </a:pPr>
            <a:r>
              <a:rPr lang="en-US" sz="1400" dirty="0">
                <a:solidFill>
                  <a:srgbClr val="1A202C"/>
                </a:solidFill>
                <a:latin typeface="Calibri" pitchFamily="34" charset="0"/>
                <a:ea typeface="Calibri" pitchFamily="34" charset="-122"/>
                <a:cs typeface="Calibri" pitchFamily="34" charset="-120"/>
              </a:rPr>
              <a:t>The ability of a model to </a:t>
            </a:r>
            <a:pPr indent="0" marL="0">
              <a:buNone/>
            </a:pPr>
            <a:r>
              <a:rPr lang="en-US" sz="1400" b="1" dirty="0">
                <a:solidFill>
                  <a:srgbClr val="1B9AAA"/>
                </a:solidFill>
                <a:latin typeface="Calibri" pitchFamily="34" charset="0"/>
                <a:ea typeface="Calibri" pitchFamily="34" charset="-122"/>
                <a:cs typeface="Calibri" pitchFamily="34" charset="-120"/>
              </a:rPr>
              <a:t>derive, maintain, and manipulate</a:t>
            </a:r>
            <a:pPr indent="0" marL="0">
              <a:buNone/>
            </a:pPr>
            <a:r>
              <a:rPr lang="en-US" sz="1400" dirty="0">
                <a:solidFill>
                  <a:srgbClr val="1A202C"/>
                </a:solidFill>
                <a:latin typeface="Calibri" pitchFamily="34" charset="0"/>
                <a:ea typeface="Calibri" pitchFamily="34" charset="-122"/>
                <a:cs typeface="Calibri" pitchFamily="34" charset="-120"/>
              </a:rPr>
              <a:t> structured information about objects, relations, geometry, visibility, and spatial state from visual evidence.</a:t>
            </a:r>
            <a:endParaRPr lang="en-US" sz="1400" dirty="0"/>
          </a:p>
        </p:txBody>
      </p:sp>
      <p:sp>
        <p:nvSpPr>
          <p:cNvPr id="5" name="Text 3"/>
          <p:cNvSpPr/>
          <p:nvPr/>
        </p:nvSpPr>
        <p:spPr>
          <a:xfrm>
            <a:off x="640080" y="2468880"/>
            <a:ext cx="3657600" cy="411480"/>
          </a:xfrm>
          <a:prstGeom prst="rect">
            <a:avLst/>
          </a:prstGeom>
          <a:noFill/>
          <a:ln/>
        </p:spPr>
        <p:txBody>
          <a:bodyPr wrap="square" rtlCol="0" anchor="ctr"/>
          <a:lstStyle/>
          <a:p>
            <a:pPr indent="0" marL="0">
              <a:buNone/>
            </a:pPr>
            <a:r>
              <a:rPr lang="en-US" sz="1600" b="1" dirty="0">
                <a:solidFill>
                  <a:srgbClr val="1A202C"/>
                </a:solidFill>
                <a:latin typeface="Calibri" pitchFamily="34" charset="0"/>
                <a:ea typeface="Calibri" pitchFamily="34" charset="-122"/>
                <a:cs typeface="Calibri" pitchFamily="34" charset="-120"/>
              </a:rPr>
              <a:t>Key Distinction</a:t>
            </a:r>
            <a:endParaRPr lang="en-US" sz="1600" dirty="0"/>
          </a:p>
        </p:txBody>
      </p:sp>
      <p:sp>
        <p:nvSpPr>
          <p:cNvPr id="6" name="Shape 4"/>
          <p:cNvSpPr/>
          <p:nvPr/>
        </p:nvSpPr>
        <p:spPr>
          <a:xfrm>
            <a:off x="640080" y="2926080"/>
            <a:ext cx="3749040" cy="1371600"/>
          </a:xfrm>
          <a:prstGeom prst="roundRect">
            <a:avLst>
              <a:gd name="adj" fmla="val 6667"/>
            </a:avLst>
          </a:prstGeom>
          <a:solidFill>
            <a:srgbClr val="FFF5F5"/>
          </a:solidFill>
          <a:ln/>
        </p:spPr>
      </p:sp>
      <p:sp>
        <p:nvSpPr>
          <p:cNvPr id="7" name="Text 5"/>
          <p:cNvSpPr/>
          <p:nvPr/>
        </p:nvSpPr>
        <p:spPr>
          <a:xfrm>
            <a:off x="822960" y="3017520"/>
            <a:ext cx="3383280" cy="320040"/>
          </a:xfrm>
          <a:prstGeom prst="rect">
            <a:avLst/>
          </a:prstGeom>
          <a:noFill/>
          <a:ln/>
        </p:spPr>
        <p:txBody>
          <a:bodyPr wrap="square" rtlCol="0" anchor="ctr"/>
          <a:lstStyle/>
          <a:p>
            <a:pPr indent="0" marL="0">
              <a:buNone/>
            </a:pPr>
            <a:r>
              <a:rPr lang="en-US" sz="1400" b="1" dirty="0">
                <a:solidFill>
                  <a:srgbClr val="E8715A"/>
                </a:solidFill>
                <a:latin typeface="Calibri" pitchFamily="34" charset="0"/>
                <a:ea typeface="Calibri" pitchFamily="34" charset="-122"/>
                <a:cs typeface="Calibri" pitchFamily="34" charset="-120"/>
              </a:rPr>
              <a:t>Spatial Recognition</a:t>
            </a:r>
            <a:endParaRPr lang="en-US" sz="1400" dirty="0"/>
          </a:p>
        </p:txBody>
      </p:sp>
      <p:sp>
        <p:nvSpPr>
          <p:cNvPr id="8" name="Text 6"/>
          <p:cNvSpPr/>
          <p:nvPr/>
        </p:nvSpPr>
        <p:spPr>
          <a:xfrm>
            <a:off x="822960" y="3383280"/>
            <a:ext cx="3383280" cy="7315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"Is the cup left of the plate?"</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Pattern matching on visual cues.</a:t>
            </a:r>
            <a:endParaRPr lang="en-US" sz="1100" dirty="0"/>
          </a:p>
        </p:txBody>
      </p:sp>
      <p:sp>
        <p:nvSpPr>
          <p:cNvPr id="9" name="Shape 7"/>
          <p:cNvSpPr/>
          <p:nvPr/>
        </p:nvSpPr>
        <p:spPr>
          <a:xfrm>
            <a:off x="4754880" y="2926080"/>
            <a:ext cx="3749040" cy="1371600"/>
          </a:xfrm>
          <a:prstGeom prst="roundRect">
            <a:avLst>
              <a:gd name="adj" fmla="val 6667"/>
            </a:avLst>
          </a:prstGeom>
          <a:solidFill>
            <a:srgbClr val="F0FFF4"/>
          </a:solidFill>
          <a:ln/>
        </p:spPr>
      </p:sp>
      <p:sp>
        <p:nvSpPr>
          <p:cNvPr id="10" name="Text 8"/>
          <p:cNvSpPr/>
          <p:nvPr/>
        </p:nvSpPr>
        <p:spPr>
          <a:xfrm>
            <a:off x="4937760" y="3017520"/>
            <a:ext cx="3383280" cy="320040"/>
          </a:xfrm>
          <a:prstGeom prst="rect">
            <a:avLst/>
          </a:prstGeom>
          <a:noFill/>
          <a:ln/>
        </p:spPr>
        <p:txBody>
          <a:bodyPr wrap="square" rtlCol="0" anchor="ctr"/>
          <a:lstStyle/>
          <a:p>
            <a:pPr indent="0" marL="0">
              <a:buNone/>
            </a:pPr>
            <a:r>
              <a:rPr lang="en-US" sz="1400" b="1" dirty="0">
                <a:solidFill>
                  <a:srgbClr val="38A169"/>
                </a:solidFill>
                <a:latin typeface="Calibri" pitchFamily="34" charset="0"/>
                <a:ea typeface="Calibri" pitchFamily="34" charset="-122"/>
                <a:cs typeface="Calibri" pitchFamily="34" charset="-120"/>
              </a:rPr>
              <a:t>Spatial Reasoning</a:t>
            </a:r>
            <a:endParaRPr lang="en-US" sz="1400" dirty="0"/>
          </a:p>
        </p:txBody>
      </p:sp>
      <p:sp>
        <p:nvSpPr>
          <p:cNvPr id="11" name="Text 9"/>
          <p:cNvSpPr/>
          <p:nvPr/>
        </p:nvSpPr>
        <p:spPr>
          <a:xfrm>
            <a:off x="4937760" y="3383280"/>
            <a:ext cx="3383280" cy="7315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"If I move the cup, can I reach the plate?"</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Requires maintaining state, composing relations.</a:t>
            </a:r>
            <a:endParaRPr lang="en-US" sz="1100" dirty="0"/>
          </a:p>
        </p:txBody>
      </p:sp>
      <p:sp>
        <p:nvSpPr>
          <p:cNvPr id="12" name="Text 10"/>
          <p:cNvSpPr/>
          <p:nvPr/>
        </p:nvSpPr>
        <p:spPr>
          <a:xfrm>
            <a:off x="4114800" y="3291840"/>
            <a:ext cx="457200" cy="457200"/>
          </a:xfrm>
          <a:prstGeom prst="rect">
            <a:avLst/>
          </a:prstGeom>
          <a:noFill/>
          <a:ln/>
        </p:spPr>
        <p:txBody>
          <a:bodyPr wrap="square" rtlCol="0" anchor="ctr"/>
          <a:lstStyle/>
          <a:p>
            <a:pPr algn="ctr" indent="0" marL="0">
              <a:buNone/>
            </a:pPr>
            <a:r>
              <a:rPr lang="en-US" sz="2400" dirty="0">
                <a:solidFill>
                  <a:srgbClr val="CBD5E0"/>
                </a:solidFill>
                <a:latin typeface="Calibri" pitchFamily="34" charset="0"/>
                <a:ea typeface="Calibri" pitchFamily="34" charset="-122"/>
                <a:cs typeface="Calibri" pitchFamily="34" charset="-120"/>
              </a:rPr>
              <a: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48640"/>
          </a:xfrm>
          <a:prstGeom prst="rect">
            <a:avLst/>
          </a:prstGeom>
          <a:noFill/>
          <a:ln/>
        </p:spPr>
        <p:txBody>
          <a:bodyPr wrap="square" rtlCol="0" anchor="ctr"/>
          <a:lstStyle/>
          <a:p>
            <a:pPr indent="0" marL="0">
              <a:buNone/>
            </a:pPr>
            <a:r>
              <a:rPr lang="en-US" sz="2800" b="1" dirty="0">
                <a:solidFill>
                  <a:srgbClr val="1A202C"/>
                </a:solidFill>
                <a:latin typeface="Calibri" pitchFamily="34" charset="0"/>
                <a:ea typeface="Calibri" pitchFamily="34" charset="-122"/>
                <a:cs typeface="Calibri" pitchFamily="34" charset="-120"/>
              </a:rPr>
              <a:t>Six Capability Levels of VSR</a:t>
            </a:r>
            <a:endParaRPr lang="en-US" sz="2800" dirty="0"/>
          </a:p>
        </p:txBody>
      </p:sp>
      <p:sp>
        <p:nvSpPr>
          <p:cNvPr id="3" name="Shape 1"/>
          <p:cNvSpPr/>
          <p:nvPr/>
        </p:nvSpPr>
        <p:spPr>
          <a:xfrm>
            <a:off x="640080" y="1005840"/>
            <a:ext cx="2560320" cy="1371600"/>
          </a:xfrm>
          <a:prstGeom prst="roundRect">
            <a:avLst>
              <a:gd name="adj" fmla="val 6667"/>
            </a:avLst>
          </a:prstGeom>
          <a:solidFill>
            <a:srgbClr val="DBEAFE"/>
          </a:solidFill>
          <a:ln/>
          <a:effectLst>
            <a:outerShdw sx="100000" sy="100000" kx="0" ky="0" algn="bl" rotWithShape="0" blurRad="50800" dist="12700" dir="2700000">
              <a:srgbClr val="000000">
                <a:alpha val="8000"/>
              </a:srgbClr>
            </a:outerShdw>
          </a:effectLst>
        </p:spPr>
      </p:sp>
      <p:sp>
        <p:nvSpPr>
          <p:cNvPr id="4" name="Shape 2"/>
          <p:cNvSpPr/>
          <p:nvPr/>
        </p:nvSpPr>
        <p:spPr>
          <a:xfrm>
            <a:off x="777240" y="1143000"/>
            <a:ext cx="320040" cy="320040"/>
          </a:xfrm>
          <a:prstGeom prst="ellipse">
            <a:avLst/>
          </a:prstGeom>
          <a:solidFill>
            <a:srgbClr val="1E40AF"/>
          </a:solidFill>
          <a:ln/>
        </p:spPr>
      </p:sp>
      <p:sp>
        <p:nvSpPr>
          <p:cNvPr id="5" name="Text 3"/>
          <p:cNvSpPr/>
          <p:nvPr/>
        </p:nvSpPr>
        <p:spPr>
          <a:xfrm>
            <a:off x="777240" y="11430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88720" y="1143000"/>
            <a:ext cx="1828800" cy="365760"/>
          </a:xfrm>
          <a:prstGeom prst="rect">
            <a:avLst/>
          </a:prstGeom>
          <a:noFill/>
          <a:ln/>
        </p:spPr>
        <p:txBody>
          <a:bodyPr wrap="square" lIns="0" tIns="0" rIns="0" bIns="0" rtlCol="0" anchor="ctr"/>
          <a:lstStyle/>
          <a:p>
            <a:pPr indent="0" marL="0">
              <a:buNone/>
            </a:pPr>
            <a:r>
              <a:rPr lang="en-US" sz="1300" b="1" dirty="0">
                <a:solidFill>
                  <a:srgbClr val="1E40AF"/>
                </a:solidFill>
                <a:latin typeface="Calibri" pitchFamily="34" charset="0"/>
                <a:ea typeface="Calibri" pitchFamily="34" charset="-122"/>
                <a:cs typeface="Calibri" pitchFamily="34" charset="-120"/>
              </a:rPr>
              <a:t>Spatial Perception</a:t>
            </a:r>
            <a:endParaRPr lang="en-US" sz="1300" dirty="0"/>
          </a:p>
        </p:txBody>
      </p:sp>
      <p:sp>
        <p:nvSpPr>
          <p:cNvPr id="7" name="Text 5"/>
          <p:cNvSpPr/>
          <p:nvPr/>
        </p:nvSpPr>
        <p:spPr>
          <a:xfrm>
            <a:off x="777240" y="164592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Localize objects, identify basic positions</a:t>
            </a:r>
            <a:endParaRPr lang="en-US" sz="1100" dirty="0"/>
          </a:p>
        </p:txBody>
      </p:sp>
      <p:sp>
        <p:nvSpPr>
          <p:cNvPr id="8" name="Shape 6"/>
          <p:cNvSpPr/>
          <p:nvPr/>
        </p:nvSpPr>
        <p:spPr>
          <a:xfrm>
            <a:off x="3474720" y="1005840"/>
            <a:ext cx="2560320" cy="1371600"/>
          </a:xfrm>
          <a:prstGeom prst="roundRect">
            <a:avLst>
              <a:gd name="adj" fmla="val 6667"/>
            </a:avLst>
          </a:prstGeom>
          <a:solidFill>
            <a:srgbClr val="E0E7FF"/>
          </a:solidFill>
          <a:ln/>
          <a:effectLst>
            <a:outerShdw sx="100000" sy="100000" kx="0" ky="0" algn="bl" rotWithShape="0" blurRad="50800" dist="12700" dir="2700000">
              <a:srgbClr val="000000">
                <a:alpha val="8000"/>
              </a:srgbClr>
            </a:outerShdw>
          </a:effectLst>
        </p:spPr>
      </p:sp>
      <p:sp>
        <p:nvSpPr>
          <p:cNvPr id="9" name="Shape 7"/>
          <p:cNvSpPr/>
          <p:nvPr/>
        </p:nvSpPr>
        <p:spPr>
          <a:xfrm>
            <a:off x="3611880" y="1143000"/>
            <a:ext cx="320040" cy="320040"/>
          </a:xfrm>
          <a:prstGeom prst="ellipse">
            <a:avLst/>
          </a:prstGeom>
          <a:solidFill>
            <a:srgbClr val="3730A3"/>
          </a:solidFill>
          <a:ln/>
        </p:spPr>
      </p:sp>
      <p:sp>
        <p:nvSpPr>
          <p:cNvPr id="10" name="Text 8"/>
          <p:cNvSpPr/>
          <p:nvPr/>
        </p:nvSpPr>
        <p:spPr>
          <a:xfrm>
            <a:off x="3611880" y="11430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023360" y="1143000"/>
            <a:ext cx="1828800" cy="36576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Relational Composition</a:t>
            </a:r>
            <a:endParaRPr lang="en-US" sz="1300" dirty="0"/>
          </a:p>
        </p:txBody>
      </p:sp>
      <p:sp>
        <p:nvSpPr>
          <p:cNvPr id="12" name="Text 10"/>
          <p:cNvSpPr/>
          <p:nvPr/>
        </p:nvSpPr>
        <p:spPr>
          <a:xfrm>
            <a:off x="3611880" y="164592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Compose multi-hop spatial relations</a:t>
            </a:r>
            <a:endParaRPr lang="en-US" sz="1100" dirty="0"/>
          </a:p>
        </p:txBody>
      </p:sp>
      <p:sp>
        <p:nvSpPr>
          <p:cNvPr id="13" name="Shape 11"/>
          <p:cNvSpPr/>
          <p:nvPr/>
        </p:nvSpPr>
        <p:spPr>
          <a:xfrm>
            <a:off x="6309360" y="1005840"/>
            <a:ext cx="2560320" cy="1371600"/>
          </a:xfrm>
          <a:prstGeom prst="roundRect">
            <a:avLst>
              <a:gd name="adj" fmla="val 6667"/>
            </a:avLst>
          </a:prstGeom>
          <a:solidFill>
            <a:srgbClr val="EDE9FE"/>
          </a:solidFill>
          <a:ln/>
          <a:effectLst>
            <a:outerShdw sx="100000" sy="100000" kx="0" ky="0" algn="bl" rotWithShape="0" blurRad="50800" dist="12700" dir="2700000">
              <a:srgbClr val="000000">
                <a:alpha val="8000"/>
              </a:srgbClr>
            </a:outerShdw>
          </a:effectLst>
        </p:spPr>
      </p:sp>
      <p:sp>
        <p:nvSpPr>
          <p:cNvPr id="14" name="Shape 12"/>
          <p:cNvSpPr/>
          <p:nvPr/>
        </p:nvSpPr>
        <p:spPr>
          <a:xfrm>
            <a:off x="6446520" y="1143000"/>
            <a:ext cx="320040" cy="320040"/>
          </a:xfrm>
          <a:prstGeom prst="ellipse">
            <a:avLst/>
          </a:prstGeom>
          <a:solidFill>
            <a:srgbClr val="5B21B6"/>
          </a:solidFill>
          <a:ln/>
        </p:spPr>
      </p:sp>
      <p:sp>
        <p:nvSpPr>
          <p:cNvPr id="15" name="Text 13"/>
          <p:cNvSpPr/>
          <p:nvPr/>
        </p:nvSpPr>
        <p:spPr>
          <a:xfrm>
            <a:off x="6446520" y="11430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6858000" y="1143000"/>
            <a:ext cx="1828800" cy="365760"/>
          </a:xfrm>
          <a:prstGeom prst="rect">
            <a:avLst/>
          </a:prstGeom>
          <a:noFill/>
          <a:ln/>
        </p:spPr>
        <p:txBody>
          <a:bodyPr wrap="square" lIns="0" tIns="0" rIns="0" bIns="0" rtlCol="0" anchor="ctr"/>
          <a:lstStyle/>
          <a:p>
            <a:pPr indent="0" marL="0">
              <a:buNone/>
            </a:pPr>
            <a:r>
              <a:rPr lang="en-US" sz="1300" b="1" dirty="0">
                <a:solidFill>
                  <a:srgbClr val="5B21B6"/>
                </a:solidFill>
                <a:latin typeface="Calibri" pitchFamily="34" charset="0"/>
                <a:ea typeface="Calibri" pitchFamily="34" charset="-122"/>
                <a:cs typeface="Calibri" pitchFamily="34" charset="-120"/>
              </a:rPr>
              <a:t>Geometry &amp; Perspective</a:t>
            </a:r>
            <a:endParaRPr lang="en-US" sz="1300" dirty="0"/>
          </a:p>
        </p:txBody>
      </p:sp>
      <p:sp>
        <p:nvSpPr>
          <p:cNvPr id="17" name="Text 15"/>
          <p:cNvSpPr/>
          <p:nvPr/>
        </p:nvSpPr>
        <p:spPr>
          <a:xfrm>
            <a:off x="6446520" y="164592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Reason over depth, viewpoint, 3D</a:t>
            </a:r>
            <a:endParaRPr lang="en-US" sz="1100" dirty="0"/>
          </a:p>
        </p:txBody>
      </p:sp>
      <p:sp>
        <p:nvSpPr>
          <p:cNvPr id="18" name="Shape 16"/>
          <p:cNvSpPr/>
          <p:nvPr/>
        </p:nvSpPr>
        <p:spPr>
          <a:xfrm>
            <a:off x="640080" y="2743200"/>
            <a:ext cx="2560320" cy="1371600"/>
          </a:xfrm>
          <a:prstGeom prst="roundRect">
            <a:avLst>
              <a:gd name="adj" fmla="val 6667"/>
            </a:avLst>
          </a:prstGeom>
          <a:solidFill>
            <a:srgbClr val="FEE2E2"/>
          </a:solidFill>
          <a:ln/>
          <a:effectLst>
            <a:outerShdw sx="100000" sy="100000" kx="0" ky="0" algn="bl" rotWithShape="0" blurRad="50800" dist="12700" dir="2700000">
              <a:srgbClr val="000000">
                <a:alpha val="8000"/>
              </a:srgbClr>
            </a:outerShdw>
          </a:effectLst>
        </p:spPr>
      </p:sp>
      <p:sp>
        <p:nvSpPr>
          <p:cNvPr id="19" name="Shape 17"/>
          <p:cNvSpPr/>
          <p:nvPr/>
        </p:nvSpPr>
        <p:spPr>
          <a:xfrm>
            <a:off x="777240" y="2880360"/>
            <a:ext cx="320040" cy="320040"/>
          </a:xfrm>
          <a:prstGeom prst="ellipse">
            <a:avLst/>
          </a:prstGeom>
          <a:solidFill>
            <a:srgbClr val="991B1B"/>
          </a:solidFill>
          <a:ln/>
        </p:spPr>
      </p:sp>
      <p:sp>
        <p:nvSpPr>
          <p:cNvPr id="20" name="Text 18"/>
          <p:cNvSpPr/>
          <p:nvPr/>
        </p:nvSpPr>
        <p:spPr>
          <a:xfrm>
            <a:off x="777240" y="28803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88720" y="2880360"/>
            <a:ext cx="1828800" cy="365760"/>
          </a:xfrm>
          <a:prstGeom prst="rect">
            <a:avLst/>
          </a:prstGeom>
          <a:noFill/>
          <a:ln/>
        </p:spPr>
        <p:txBody>
          <a:bodyPr wrap="square" lIns="0" tIns="0" rIns="0" bIns="0" rtlCol="0" anchor="ctr"/>
          <a:lstStyle/>
          <a:p>
            <a:pPr indent="0" marL="0">
              <a:buNone/>
            </a:pPr>
            <a:r>
              <a:rPr lang="en-US" sz="1300" b="1" dirty="0">
                <a:solidFill>
                  <a:srgbClr val="991B1B"/>
                </a:solidFill>
                <a:latin typeface="Calibri" pitchFamily="34" charset="0"/>
                <a:ea typeface="Calibri" pitchFamily="34" charset="-122"/>
                <a:cs typeface="Calibri" pitchFamily="34" charset="-120"/>
              </a:rPr>
              <a:t>Visibility &amp; Permanence</a:t>
            </a:r>
            <a:endParaRPr lang="en-US" sz="1300" dirty="0"/>
          </a:p>
        </p:txBody>
      </p:sp>
      <p:sp>
        <p:nvSpPr>
          <p:cNvPr id="22" name="Text 20"/>
          <p:cNvSpPr/>
          <p:nvPr/>
        </p:nvSpPr>
        <p:spPr>
          <a:xfrm>
            <a:off x="777240" y="338328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Infer hidden objects, occlusion order</a:t>
            </a:r>
            <a:endParaRPr lang="en-US" sz="1100" dirty="0"/>
          </a:p>
        </p:txBody>
      </p:sp>
      <p:sp>
        <p:nvSpPr>
          <p:cNvPr id="23" name="Shape 21"/>
          <p:cNvSpPr/>
          <p:nvPr/>
        </p:nvSpPr>
        <p:spPr>
          <a:xfrm>
            <a:off x="3474720" y="2743200"/>
            <a:ext cx="2560320" cy="1371600"/>
          </a:xfrm>
          <a:prstGeom prst="roundRect">
            <a:avLst>
              <a:gd name="adj" fmla="val 6667"/>
            </a:avLst>
          </a:prstGeom>
          <a:solidFill>
            <a:srgbClr val="FEF3C7"/>
          </a:solidFill>
          <a:ln/>
          <a:effectLst>
            <a:outerShdw sx="100000" sy="100000" kx="0" ky="0" algn="bl" rotWithShape="0" blurRad="50800" dist="12700" dir="2700000">
              <a:srgbClr val="000000">
                <a:alpha val="8000"/>
              </a:srgbClr>
            </a:outerShdw>
          </a:effectLst>
        </p:spPr>
      </p:sp>
      <p:sp>
        <p:nvSpPr>
          <p:cNvPr id="24" name="Shape 22"/>
          <p:cNvSpPr/>
          <p:nvPr/>
        </p:nvSpPr>
        <p:spPr>
          <a:xfrm>
            <a:off x="3611880" y="2880360"/>
            <a:ext cx="320040" cy="320040"/>
          </a:xfrm>
          <a:prstGeom prst="ellipse">
            <a:avLst/>
          </a:prstGeom>
          <a:solidFill>
            <a:srgbClr val="92400E"/>
          </a:solidFill>
          <a:ln/>
        </p:spPr>
      </p:sp>
      <p:sp>
        <p:nvSpPr>
          <p:cNvPr id="25" name="Text 23"/>
          <p:cNvSpPr/>
          <p:nvPr/>
        </p:nvSpPr>
        <p:spPr>
          <a:xfrm>
            <a:off x="3611880" y="28803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4023360" y="2880360"/>
            <a:ext cx="1828800" cy="365760"/>
          </a:xfrm>
          <a:prstGeom prst="rect">
            <a:avLst/>
          </a:prstGeom>
          <a:noFill/>
          <a:ln/>
        </p:spPr>
        <p:txBody>
          <a:bodyPr wrap="square" lIns="0" tIns="0" rIns="0" bIns="0"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Dynamic Spatial State</a:t>
            </a:r>
            <a:endParaRPr lang="en-US" sz="1300" dirty="0"/>
          </a:p>
        </p:txBody>
      </p:sp>
      <p:sp>
        <p:nvSpPr>
          <p:cNvPr id="27" name="Text 25"/>
          <p:cNvSpPr/>
          <p:nvPr/>
        </p:nvSpPr>
        <p:spPr>
          <a:xfrm>
            <a:off x="3611880" y="338328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Update relations across time/action</a:t>
            </a:r>
            <a:endParaRPr lang="en-US" sz="1100" dirty="0"/>
          </a:p>
        </p:txBody>
      </p:sp>
      <p:sp>
        <p:nvSpPr>
          <p:cNvPr id="28" name="Shape 26"/>
          <p:cNvSpPr/>
          <p:nvPr/>
        </p:nvSpPr>
        <p:spPr>
          <a:xfrm>
            <a:off x="6309360" y="2743200"/>
            <a:ext cx="2560320" cy="1371600"/>
          </a:xfrm>
          <a:prstGeom prst="roundRect">
            <a:avLst>
              <a:gd name="adj" fmla="val 6667"/>
            </a:avLst>
          </a:prstGeom>
          <a:solidFill>
            <a:srgbClr val="DCFCE7"/>
          </a:solidFill>
          <a:ln/>
          <a:effectLst>
            <a:outerShdw sx="100000" sy="100000" kx="0" ky="0" algn="bl" rotWithShape="0" blurRad="50800" dist="12700" dir="2700000">
              <a:srgbClr val="000000">
                <a:alpha val="8000"/>
              </a:srgbClr>
            </a:outerShdw>
          </a:effectLst>
        </p:spPr>
      </p:sp>
      <p:sp>
        <p:nvSpPr>
          <p:cNvPr id="29" name="Shape 27"/>
          <p:cNvSpPr/>
          <p:nvPr/>
        </p:nvSpPr>
        <p:spPr>
          <a:xfrm>
            <a:off x="6446520" y="2880360"/>
            <a:ext cx="320040" cy="320040"/>
          </a:xfrm>
          <a:prstGeom prst="ellipse">
            <a:avLst/>
          </a:prstGeom>
          <a:solidFill>
            <a:srgbClr val="166534"/>
          </a:solidFill>
          <a:ln/>
        </p:spPr>
      </p:sp>
      <p:sp>
        <p:nvSpPr>
          <p:cNvPr id="30" name="Text 28"/>
          <p:cNvSpPr/>
          <p:nvPr/>
        </p:nvSpPr>
        <p:spPr>
          <a:xfrm>
            <a:off x="6446520" y="28803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6858000" y="2880360"/>
            <a:ext cx="1828800" cy="365760"/>
          </a:xfrm>
          <a:prstGeom prst="rect">
            <a:avLst/>
          </a:prstGeom>
          <a:noFill/>
          <a:ln/>
        </p:spPr>
        <p:txBody>
          <a:bodyPr wrap="square" lIns="0" tIns="0" rIns="0" bIns="0" rtlCol="0" anchor="ctr"/>
          <a:lstStyle/>
          <a:p>
            <a:pPr indent="0" marL="0">
              <a:buNone/>
            </a:pPr>
            <a:r>
              <a:rPr lang="en-US" sz="1300" b="1" dirty="0">
                <a:solidFill>
                  <a:srgbClr val="166534"/>
                </a:solidFill>
                <a:latin typeface="Calibri" pitchFamily="34" charset="0"/>
                <a:ea typeface="Calibri" pitchFamily="34" charset="-122"/>
                <a:cs typeface="Calibri" pitchFamily="34" charset="-120"/>
              </a:rPr>
              <a:t>Counterfactual Modeling</a:t>
            </a:r>
            <a:endParaRPr lang="en-US" sz="1300" dirty="0"/>
          </a:p>
        </p:txBody>
      </p:sp>
      <p:sp>
        <p:nvSpPr>
          <p:cNvPr id="32" name="Text 30"/>
          <p:cNvSpPr/>
          <p:nvPr/>
        </p:nvSpPr>
        <p:spPr>
          <a:xfrm>
            <a:off x="6446520" y="3383280"/>
            <a:ext cx="2286000" cy="54864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Predict spatial change under intervention</a:t>
            </a:r>
            <a:endParaRPr lang="en-US" sz="1100" dirty="0"/>
          </a:p>
        </p:txBody>
      </p:sp>
      <p:sp>
        <p:nvSpPr>
          <p:cNvPr id="33" name="Text 31"/>
          <p:cNvSpPr/>
          <p:nvPr/>
        </p:nvSpPr>
        <p:spPr>
          <a:xfrm>
            <a:off x="640080" y="4480560"/>
            <a:ext cx="7863840" cy="365760"/>
          </a:xfrm>
          <a:prstGeom prst="rect">
            <a:avLst/>
          </a:prstGeom>
          <a:noFill/>
          <a:ln/>
        </p:spPr>
        <p:txBody>
          <a:bodyPr wrap="square" rtlCol="0" anchor="ctr"/>
          <a:lstStyle/>
          <a:p>
            <a:pPr indent="0" marL="0">
              <a:buNone/>
            </a:pPr>
            <a:r>
              <a:rPr lang="en-US" sz="1200" i="1" dirty="0">
                <a:solidFill>
                  <a:srgbClr val="E8715A"/>
                </a:solidFill>
                <a:latin typeface="Calibri" pitchFamily="34" charset="0"/>
                <a:ea typeface="Calibri" pitchFamily="34" charset="-122"/>
                <a:cs typeface="Calibri" pitchFamily="34" charset="-120"/>
              </a:rPr>
              <a:t>Most current VLMs only handle level 1–2 reliably. Levels 4–6 remain largely unsolved.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Research Landscape</a:t>
            </a:r>
            <a:endParaRPr lang="en-US" sz="3200" dirty="0"/>
          </a:p>
        </p:txBody>
      </p:sp>
      <p:sp>
        <p:nvSpPr>
          <p:cNvPr id="3" name="Text 1"/>
          <p:cNvSpPr/>
          <p:nvPr/>
        </p:nvSpPr>
        <p:spPr>
          <a:xfrm>
            <a:off x="731520" y="1005840"/>
            <a:ext cx="7315200" cy="640080"/>
          </a:xfrm>
          <a:prstGeom prst="rect">
            <a:avLst/>
          </a:prstGeom>
          <a:noFill/>
          <a:ln/>
        </p:spPr>
        <p:txBody>
          <a:bodyPr wrap="square" rtlCol="0" anchor="ctr"/>
          <a:lstStyle/>
          <a:p>
            <a:pPr indent="0" marL="0">
              <a:buNone/>
            </a:pPr>
            <a:r>
              <a:rPr lang="en-US" sz="1600" i="1" dirty="0">
                <a:solidFill>
                  <a:srgbClr val="CBD5E0"/>
                </a:solidFill>
                <a:latin typeface="Calibri" pitchFamily="34" charset="0"/>
                <a:ea typeface="Calibri" pitchFamily="34" charset="-122"/>
                <a:cs typeface="Calibri" pitchFamily="34" charset="-120"/>
              </a:rPr>
              <a:t>Five directions, one central question:</a:t>
            </a:r>
            <a:endParaRPr lang="en-US" sz="1600" dirty="0"/>
          </a:p>
          <a:p>
            <a:pPr indent="0" marL="0">
              <a:buNone/>
            </a:pPr>
            <a:r>
              <a:rPr lang="en-US" sz="1600" i="1" dirty="0">
                <a:solidFill>
                  <a:srgbClr val="CBD5E0"/>
                </a:solidFill>
                <a:latin typeface="Calibri" pitchFamily="34" charset="0"/>
                <a:ea typeface="Calibri" pitchFamily="34" charset="-122"/>
                <a:cs typeface="Calibri" pitchFamily="34" charset="-120"/>
              </a:rPr>
              <a:t>Why do VLMs fail at spatial reasoning?</a:t>
            </a:r>
            <a:endParaRPr lang="en-US" sz="1600" dirty="0"/>
          </a:p>
        </p:txBody>
      </p:sp>
      <p:sp>
        <p:nvSpPr>
          <p:cNvPr id="4" name="Shape 2"/>
          <p:cNvSpPr/>
          <p:nvPr/>
        </p:nvSpPr>
        <p:spPr>
          <a:xfrm>
            <a:off x="3291840" y="1828800"/>
            <a:ext cx="2560320" cy="868680"/>
          </a:xfrm>
          <a:prstGeom prst="roundRect">
            <a:avLst>
              <a:gd name="adj" fmla="val 10526"/>
            </a:avLst>
          </a:prstGeom>
          <a:solidFill>
            <a:srgbClr val="3B82F6">
              <a:alpha val="80000"/>
            </a:srgbClr>
          </a:solidFill>
          <a:ln w="19050">
            <a:solidFill>
              <a:srgbClr val="3B82F6"/>
            </a:solidFill>
            <a:prstDash val="solid"/>
          </a:ln>
        </p:spPr>
      </p:sp>
      <p:pic>
        <p:nvPicPr>
          <p:cNvPr id="5" name="Image 0" descr="preencoded.png">    </p:cNvPr>
          <p:cNvPicPr>
            <a:picLocks noChangeAspect="1"/>
          </p:cNvPicPr>
          <p:nvPr/>
        </p:nvPicPr>
        <p:blipFill>
          <a:blip r:embed="rId1"/>
          <a:stretch>
            <a:fillRect/>
          </a:stretch>
        </p:blipFill>
        <p:spPr>
          <a:xfrm>
            <a:off x="3383280" y="2011680"/>
            <a:ext cx="365760" cy="365760"/>
          </a:xfrm>
          <a:prstGeom prst="rect">
            <a:avLst/>
          </a:prstGeom>
        </p:spPr>
      </p:pic>
      <p:sp>
        <p:nvSpPr>
          <p:cNvPr id="6" name="Text 3"/>
          <p:cNvSpPr/>
          <p:nvPr/>
        </p:nvSpPr>
        <p:spPr>
          <a:xfrm>
            <a:off x="3794760" y="187452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Evaluation &amp;</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Diagnosis</a:t>
            </a:r>
            <a:endParaRPr lang="en-US" sz="1100" dirty="0"/>
          </a:p>
        </p:txBody>
      </p:sp>
      <p:sp>
        <p:nvSpPr>
          <p:cNvPr id="7" name="Text 4"/>
          <p:cNvSpPr/>
          <p:nvPr/>
        </p:nvSpPr>
        <p:spPr>
          <a:xfrm>
            <a:off x="3794760" y="2331720"/>
            <a:ext cx="1920240" cy="320040"/>
          </a:xfrm>
          <a:prstGeom prst="rect">
            <a:avLst/>
          </a:prstGeom>
          <a:noFill/>
          <a:ln/>
        </p:spPr>
        <p:txBody>
          <a:bodyPr wrap="square" lIns="0" tIns="0" rIns="0" bIns="0" rtlCol="0" anchor="ctr"/>
          <a:lstStyle/>
          <a:p>
            <a:pPr indent="0" marL="0">
              <a:buNone/>
            </a:pPr>
            <a:r>
              <a:rPr lang="en-US" sz="900" i="1" dirty="0">
                <a:solidFill>
                  <a:srgbClr val="CBD5E0"/>
                </a:solidFill>
                <a:latin typeface="Calibri" pitchFamily="34" charset="0"/>
                <a:ea typeface="Calibri" pitchFamily="34" charset="-122"/>
                <a:cs typeface="Calibri" pitchFamily="34" charset="-120"/>
              </a:rPr>
              <a:t>"Can we measure it?"</a:t>
            </a:r>
            <a:endParaRPr lang="en-US" sz="900" dirty="0"/>
          </a:p>
        </p:txBody>
      </p:sp>
      <p:sp>
        <p:nvSpPr>
          <p:cNvPr id="8" name="Shape 5"/>
          <p:cNvSpPr/>
          <p:nvPr/>
        </p:nvSpPr>
        <p:spPr>
          <a:xfrm>
            <a:off x="731520" y="2651760"/>
            <a:ext cx="2560320" cy="868680"/>
          </a:xfrm>
          <a:prstGeom prst="roundRect">
            <a:avLst>
              <a:gd name="adj" fmla="val 10526"/>
            </a:avLst>
          </a:prstGeom>
          <a:solidFill>
            <a:srgbClr val="10B981">
              <a:alpha val="80000"/>
            </a:srgbClr>
          </a:solidFill>
          <a:ln w="19050">
            <a:solidFill>
              <a:srgbClr val="10B981"/>
            </a:solidFill>
            <a:prstDash val="solid"/>
          </a:ln>
        </p:spPr>
      </p:sp>
      <p:pic>
        <p:nvPicPr>
          <p:cNvPr id="9" name="Image 1" descr="preencoded.png">    </p:cNvPr>
          <p:cNvPicPr>
            <a:picLocks noChangeAspect="1"/>
          </p:cNvPicPr>
          <p:nvPr/>
        </p:nvPicPr>
        <p:blipFill>
          <a:blip r:embed="rId2"/>
          <a:stretch>
            <a:fillRect/>
          </a:stretch>
        </p:blipFill>
        <p:spPr>
          <a:xfrm>
            <a:off x="822960" y="2834640"/>
            <a:ext cx="365760" cy="365760"/>
          </a:xfrm>
          <a:prstGeom prst="rect">
            <a:avLst/>
          </a:prstGeom>
        </p:spPr>
      </p:pic>
      <p:sp>
        <p:nvSpPr>
          <p:cNvPr id="10" name="Text 6"/>
          <p:cNvSpPr/>
          <p:nvPr/>
        </p:nvSpPr>
        <p:spPr>
          <a:xfrm>
            <a:off x="1234440" y="269748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Training</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p:txBody>
      </p:sp>
      <p:sp>
        <p:nvSpPr>
          <p:cNvPr id="11" name="Text 7"/>
          <p:cNvSpPr/>
          <p:nvPr/>
        </p:nvSpPr>
        <p:spPr>
          <a:xfrm>
            <a:off x="1234440" y="3154680"/>
            <a:ext cx="1920240" cy="320040"/>
          </a:xfrm>
          <a:prstGeom prst="rect">
            <a:avLst/>
          </a:prstGeom>
          <a:noFill/>
          <a:ln/>
        </p:spPr>
        <p:txBody>
          <a:bodyPr wrap="square" lIns="0" tIns="0" rIns="0" bIns="0" rtlCol="0" anchor="ctr"/>
          <a:lstStyle/>
          <a:p>
            <a:pPr indent="0" marL="0">
              <a:buNone/>
            </a:pPr>
            <a:r>
              <a:rPr lang="en-US" sz="900" i="1" dirty="0">
                <a:solidFill>
                  <a:srgbClr val="CBD5E0"/>
                </a:solidFill>
                <a:latin typeface="Calibri" pitchFamily="34" charset="0"/>
                <a:ea typeface="Calibri" pitchFamily="34" charset="-122"/>
                <a:cs typeface="Calibri" pitchFamily="34" charset="-120"/>
              </a:rPr>
              <a:t>"Is the data enough?"</a:t>
            </a:r>
            <a:endParaRPr lang="en-US" sz="900" dirty="0"/>
          </a:p>
        </p:txBody>
      </p:sp>
      <p:sp>
        <p:nvSpPr>
          <p:cNvPr id="12" name="Shape 8"/>
          <p:cNvSpPr/>
          <p:nvPr/>
        </p:nvSpPr>
        <p:spPr>
          <a:xfrm>
            <a:off x="5943600" y="2651760"/>
            <a:ext cx="2560320" cy="868680"/>
          </a:xfrm>
          <a:prstGeom prst="roundRect">
            <a:avLst>
              <a:gd name="adj" fmla="val 10526"/>
            </a:avLst>
          </a:prstGeom>
          <a:solidFill>
            <a:srgbClr val="8B5CF6">
              <a:alpha val="80000"/>
            </a:srgbClr>
          </a:solidFill>
          <a:ln w="19050">
            <a:solidFill>
              <a:srgbClr val="8B5CF6"/>
            </a:solidFill>
            <a:prstDash val="solid"/>
          </a:ln>
        </p:spPr>
      </p:sp>
      <p:pic>
        <p:nvPicPr>
          <p:cNvPr id="13" name="Image 2" descr="preencoded.png">    </p:cNvPr>
          <p:cNvPicPr>
            <a:picLocks noChangeAspect="1"/>
          </p:cNvPicPr>
          <p:nvPr/>
        </p:nvPicPr>
        <p:blipFill>
          <a:blip r:embed="rId3"/>
          <a:stretch>
            <a:fillRect/>
          </a:stretch>
        </p:blipFill>
        <p:spPr>
          <a:xfrm>
            <a:off x="6035040" y="2834640"/>
            <a:ext cx="365760" cy="365760"/>
          </a:xfrm>
          <a:prstGeom prst="rect">
            <a:avLst/>
          </a:prstGeom>
        </p:spPr>
      </p:pic>
      <p:sp>
        <p:nvSpPr>
          <p:cNvPr id="14" name="Text 9"/>
          <p:cNvSpPr/>
          <p:nvPr/>
        </p:nvSpPr>
        <p:spPr>
          <a:xfrm>
            <a:off x="6446520" y="269748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Spatial</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Representation</a:t>
            </a:r>
            <a:endParaRPr lang="en-US" sz="1100" dirty="0"/>
          </a:p>
        </p:txBody>
      </p:sp>
      <p:sp>
        <p:nvSpPr>
          <p:cNvPr id="15" name="Text 10"/>
          <p:cNvSpPr/>
          <p:nvPr/>
        </p:nvSpPr>
        <p:spPr>
          <a:xfrm>
            <a:off x="6446520" y="3154680"/>
            <a:ext cx="1920240" cy="320040"/>
          </a:xfrm>
          <a:prstGeom prst="rect">
            <a:avLst/>
          </a:prstGeom>
          <a:noFill/>
          <a:ln/>
        </p:spPr>
        <p:txBody>
          <a:bodyPr wrap="square" lIns="0" tIns="0" rIns="0" bIns="0" rtlCol="0" anchor="ctr"/>
          <a:lstStyle/>
          <a:p>
            <a:pPr indent="0" marL="0">
              <a:buNone/>
            </a:pPr>
            <a:r>
              <a:rPr lang="en-US" sz="900" i="1" dirty="0">
                <a:solidFill>
                  <a:srgbClr val="CBD5E0"/>
                </a:solidFill>
                <a:latin typeface="Calibri" pitchFamily="34" charset="0"/>
                <a:ea typeface="Calibri" pitchFamily="34" charset="-122"/>
                <a:cs typeface="Calibri" pitchFamily="34" charset="-120"/>
              </a:rPr>
              <a:t>"What structure is needed?"</a:t>
            </a:r>
            <a:endParaRPr lang="en-US" sz="900" dirty="0"/>
          </a:p>
        </p:txBody>
      </p:sp>
      <p:sp>
        <p:nvSpPr>
          <p:cNvPr id="16" name="Shape 11"/>
          <p:cNvSpPr/>
          <p:nvPr/>
        </p:nvSpPr>
        <p:spPr>
          <a:xfrm>
            <a:off x="1645920" y="3749040"/>
            <a:ext cx="2560320" cy="868680"/>
          </a:xfrm>
          <a:prstGeom prst="roundRect">
            <a:avLst>
              <a:gd name="adj" fmla="val 10526"/>
            </a:avLst>
          </a:prstGeom>
          <a:solidFill>
            <a:srgbClr val="EF4444">
              <a:alpha val="80000"/>
            </a:srgbClr>
          </a:solidFill>
          <a:ln w="19050">
            <a:solidFill>
              <a:srgbClr val="EF4444"/>
            </a:solidFill>
            <a:prstDash val="solid"/>
          </a:ln>
        </p:spPr>
      </p:sp>
      <p:pic>
        <p:nvPicPr>
          <p:cNvPr id="17" name="Image 3" descr="preencoded.png">    </p:cNvPr>
          <p:cNvPicPr>
            <a:picLocks noChangeAspect="1"/>
          </p:cNvPicPr>
          <p:nvPr/>
        </p:nvPicPr>
        <p:blipFill>
          <a:blip r:embed="rId4"/>
          <a:stretch>
            <a:fillRect/>
          </a:stretch>
        </p:blipFill>
        <p:spPr>
          <a:xfrm>
            <a:off x="1737360" y="3931920"/>
            <a:ext cx="365760" cy="365760"/>
          </a:xfrm>
          <a:prstGeom prst="rect">
            <a:avLst/>
          </a:prstGeom>
        </p:spPr>
      </p:pic>
      <p:sp>
        <p:nvSpPr>
          <p:cNvPr id="18" name="Text 12"/>
          <p:cNvSpPr/>
          <p:nvPr/>
        </p:nvSpPr>
        <p:spPr>
          <a:xfrm>
            <a:off x="2148840" y="379476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Occlusion &amp;</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Visibility</a:t>
            </a:r>
            <a:endParaRPr lang="en-US" sz="1100" dirty="0"/>
          </a:p>
        </p:txBody>
      </p:sp>
      <p:sp>
        <p:nvSpPr>
          <p:cNvPr id="19" name="Text 13"/>
          <p:cNvSpPr/>
          <p:nvPr/>
        </p:nvSpPr>
        <p:spPr>
          <a:xfrm>
            <a:off x="2148840" y="4251960"/>
            <a:ext cx="1920240" cy="320040"/>
          </a:xfrm>
          <a:prstGeom prst="rect">
            <a:avLst/>
          </a:prstGeom>
          <a:noFill/>
          <a:ln/>
        </p:spPr>
        <p:txBody>
          <a:bodyPr wrap="square" lIns="0" tIns="0" rIns="0" bIns="0" rtlCol="0" anchor="ctr"/>
          <a:lstStyle/>
          <a:p>
            <a:pPr indent="0" marL="0">
              <a:buNone/>
            </a:pPr>
            <a:r>
              <a:rPr lang="en-US" sz="900" i="1" dirty="0">
                <a:solidFill>
                  <a:srgbClr val="CBD5E0"/>
                </a:solidFill>
                <a:latin typeface="Calibri" pitchFamily="34" charset="0"/>
                <a:ea typeface="Calibri" pitchFamily="34" charset="-122"/>
                <a:cs typeface="Calibri" pitchFamily="34" charset="-120"/>
              </a:rPr>
              <a:t>"What about the unseen?"</a:t>
            </a:r>
            <a:endParaRPr lang="en-US" sz="900" dirty="0"/>
          </a:p>
        </p:txBody>
      </p:sp>
      <p:sp>
        <p:nvSpPr>
          <p:cNvPr id="20" name="Shape 14"/>
          <p:cNvSpPr/>
          <p:nvPr/>
        </p:nvSpPr>
        <p:spPr>
          <a:xfrm>
            <a:off x="5029200" y="3749040"/>
            <a:ext cx="2560320" cy="868680"/>
          </a:xfrm>
          <a:prstGeom prst="roundRect">
            <a:avLst>
              <a:gd name="adj" fmla="val 10526"/>
            </a:avLst>
          </a:prstGeom>
          <a:solidFill>
            <a:srgbClr val="F59E0B">
              <a:alpha val="80000"/>
            </a:srgbClr>
          </a:solidFill>
          <a:ln w="19050">
            <a:solidFill>
              <a:srgbClr val="F59E0B"/>
            </a:solidFill>
            <a:prstDash val="solid"/>
          </a:ln>
        </p:spPr>
      </p:sp>
      <p:pic>
        <p:nvPicPr>
          <p:cNvPr id="21" name="Image 4" descr="preencoded.png">    </p:cNvPr>
          <p:cNvPicPr>
            <a:picLocks noChangeAspect="1"/>
          </p:cNvPicPr>
          <p:nvPr/>
        </p:nvPicPr>
        <p:blipFill>
          <a:blip r:embed="rId5"/>
          <a:stretch>
            <a:fillRect/>
          </a:stretch>
        </p:blipFill>
        <p:spPr>
          <a:xfrm>
            <a:off x="5120640" y="3931920"/>
            <a:ext cx="365760" cy="365760"/>
          </a:xfrm>
          <a:prstGeom prst="rect">
            <a:avLst/>
          </a:prstGeom>
        </p:spPr>
      </p:pic>
      <p:sp>
        <p:nvSpPr>
          <p:cNvPr id="22" name="Text 15"/>
          <p:cNvSpPr/>
          <p:nvPr/>
        </p:nvSpPr>
        <p:spPr>
          <a:xfrm>
            <a:off x="5532120" y="3794760"/>
            <a:ext cx="1188720" cy="4572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Faithfulness</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&amp; Process</a:t>
            </a:r>
            <a:endParaRPr lang="en-US" sz="1100" dirty="0"/>
          </a:p>
        </p:txBody>
      </p:sp>
      <p:sp>
        <p:nvSpPr>
          <p:cNvPr id="23" name="Text 16"/>
          <p:cNvSpPr/>
          <p:nvPr/>
        </p:nvSpPr>
        <p:spPr>
          <a:xfrm>
            <a:off x="5532120" y="4251960"/>
            <a:ext cx="1920240" cy="320040"/>
          </a:xfrm>
          <a:prstGeom prst="rect">
            <a:avLst/>
          </a:prstGeom>
          <a:noFill/>
          <a:ln/>
        </p:spPr>
        <p:txBody>
          <a:bodyPr wrap="square" lIns="0" tIns="0" rIns="0" bIns="0" rtlCol="0" anchor="ctr"/>
          <a:lstStyle/>
          <a:p>
            <a:pPr indent="0" marL="0">
              <a:buNone/>
            </a:pPr>
            <a:r>
              <a:rPr lang="en-US" sz="900" i="1" dirty="0">
                <a:solidFill>
                  <a:srgbClr val="CBD5E0"/>
                </a:solidFill>
                <a:latin typeface="Calibri" pitchFamily="34" charset="0"/>
                <a:ea typeface="Calibri" pitchFamily="34" charset="-122"/>
                <a:cs typeface="Calibri" pitchFamily="34" charset="-120"/>
              </a:rPr>
              <a:t>"Does it truly understand?"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4864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19 Papers Across Five Directions</a:t>
            </a:r>
            <a:endParaRPr lang="en-US" sz="2600" dirty="0"/>
          </a:p>
        </p:txBody>
      </p:sp>
      <p:sp>
        <p:nvSpPr>
          <p:cNvPr id="3" name="Shape 1"/>
          <p:cNvSpPr/>
          <p:nvPr/>
        </p:nvSpPr>
        <p:spPr>
          <a:xfrm>
            <a:off x="640080" y="1005840"/>
            <a:ext cx="411480" cy="411480"/>
          </a:xfrm>
          <a:prstGeom prst="ellipse">
            <a:avLst/>
          </a:prstGeom>
          <a:solidFill>
            <a:srgbClr val="3B82F6"/>
          </a:solidFill>
          <a:ln/>
        </p:spPr>
      </p:sp>
      <p:sp>
        <p:nvSpPr>
          <p:cNvPr id="4" name="Text 2"/>
          <p:cNvSpPr/>
          <p:nvPr/>
        </p:nvSpPr>
        <p:spPr>
          <a:xfrm>
            <a:off x="640080" y="100584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 name="Text 3"/>
          <p:cNvSpPr/>
          <p:nvPr/>
        </p:nvSpPr>
        <p:spPr>
          <a:xfrm>
            <a:off x="1188720" y="960120"/>
            <a:ext cx="2377440" cy="457200"/>
          </a:xfrm>
          <a:prstGeom prst="rect">
            <a:avLst/>
          </a:prstGeom>
          <a:noFill/>
          <a:ln/>
        </p:spPr>
        <p:txBody>
          <a:bodyPr wrap="square" lIns="0" tIns="0" rIns="0" bIns="0" rtlCol="0" anchor="ctr"/>
          <a:lstStyle/>
          <a:p>
            <a:pPr indent="0" marL="0">
              <a:buNone/>
            </a:pPr>
            <a:r>
              <a:rPr lang="en-US" sz="1400" b="1" dirty="0">
                <a:solidFill>
                  <a:srgbClr val="3B82F6"/>
                </a:solidFill>
                <a:latin typeface="Calibri" pitchFamily="34" charset="0"/>
                <a:ea typeface="Calibri" pitchFamily="34" charset="-122"/>
                <a:cs typeface="Calibri" pitchFamily="34" charset="-120"/>
              </a:rPr>
              <a:t>Evaluation &amp; Diagnosis</a:t>
            </a:r>
            <a:endParaRPr lang="en-US" sz="1400" dirty="0"/>
          </a:p>
        </p:txBody>
      </p:sp>
      <p:sp>
        <p:nvSpPr>
          <p:cNvPr id="6" name="Text 4"/>
          <p:cNvSpPr/>
          <p:nvPr/>
        </p:nvSpPr>
        <p:spPr>
          <a:xfrm>
            <a:off x="3657600" y="914400"/>
            <a:ext cx="5029200" cy="5943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Mind the Gap · OmniSpatial · InfiniBench</a:t>
            </a:r>
            <a:endParaRPr lang="en-US" sz="1100" dirty="0"/>
          </a:p>
        </p:txBody>
      </p:sp>
      <p:sp>
        <p:nvSpPr>
          <p:cNvPr id="7" name="Shape 5"/>
          <p:cNvSpPr/>
          <p:nvPr/>
        </p:nvSpPr>
        <p:spPr>
          <a:xfrm>
            <a:off x="640080" y="1554480"/>
            <a:ext cx="7863840" cy="0"/>
          </a:xfrm>
          <a:prstGeom prst="line">
            <a:avLst/>
          </a:prstGeom>
          <a:noFill/>
          <a:ln w="6350">
            <a:solidFill>
              <a:srgbClr val="E2E8F0"/>
            </a:solidFill>
            <a:prstDash val="solid"/>
          </a:ln>
        </p:spPr>
      </p:sp>
      <p:sp>
        <p:nvSpPr>
          <p:cNvPr id="8" name="Shape 6"/>
          <p:cNvSpPr/>
          <p:nvPr/>
        </p:nvSpPr>
        <p:spPr>
          <a:xfrm>
            <a:off x="640080" y="1783080"/>
            <a:ext cx="411480" cy="411480"/>
          </a:xfrm>
          <a:prstGeom prst="ellipse">
            <a:avLst/>
          </a:prstGeom>
          <a:solidFill>
            <a:srgbClr val="10B981"/>
          </a:solidFill>
          <a:ln/>
        </p:spPr>
      </p:sp>
      <p:sp>
        <p:nvSpPr>
          <p:cNvPr id="9" name="Text 7"/>
          <p:cNvSpPr/>
          <p:nvPr/>
        </p:nvSpPr>
        <p:spPr>
          <a:xfrm>
            <a:off x="640080" y="17830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88720" y="1737360"/>
            <a:ext cx="2377440" cy="45720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Training Signal</a:t>
            </a:r>
            <a:endParaRPr lang="en-US" sz="1400" dirty="0"/>
          </a:p>
        </p:txBody>
      </p:sp>
      <p:sp>
        <p:nvSpPr>
          <p:cNvPr id="11" name="Text 9"/>
          <p:cNvSpPr/>
          <p:nvPr/>
        </p:nvSpPr>
        <p:spPr>
          <a:xfrm>
            <a:off x="3657600" y="1691640"/>
            <a:ext cx="5029200" cy="5943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SpatialVLM</a:t>
            </a:r>
            <a:endParaRPr lang="en-US" sz="1100" dirty="0"/>
          </a:p>
        </p:txBody>
      </p:sp>
      <p:sp>
        <p:nvSpPr>
          <p:cNvPr id="12" name="Shape 10"/>
          <p:cNvSpPr/>
          <p:nvPr/>
        </p:nvSpPr>
        <p:spPr>
          <a:xfrm>
            <a:off x="640080" y="2331720"/>
            <a:ext cx="7863840" cy="0"/>
          </a:xfrm>
          <a:prstGeom prst="line">
            <a:avLst/>
          </a:prstGeom>
          <a:noFill/>
          <a:ln w="6350">
            <a:solidFill>
              <a:srgbClr val="E2E8F0"/>
            </a:solidFill>
            <a:prstDash val="solid"/>
          </a:ln>
        </p:spPr>
      </p:sp>
      <p:sp>
        <p:nvSpPr>
          <p:cNvPr id="13" name="Shape 11"/>
          <p:cNvSpPr/>
          <p:nvPr/>
        </p:nvSpPr>
        <p:spPr>
          <a:xfrm>
            <a:off x="640080" y="2560320"/>
            <a:ext cx="411480" cy="411480"/>
          </a:xfrm>
          <a:prstGeom prst="ellipse">
            <a:avLst/>
          </a:prstGeom>
          <a:solidFill>
            <a:srgbClr val="8B5CF6"/>
          </a:solidFill>
          <a:ln/>
        </p:spPr>
      </p:sp>
      <p:sp>
        <p:nvSpPr>
          <p:cNvPr id="14" name="Text 12"/>
          <p:cNvSpPr/>
          <p:nvPr/>
        </p:nvSpPr>
        <p:spPr>
          <a:xfrm>
            <a:off x="640080" y="25603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5" name="Text 13"/>
          <p:cNvSpPr/>
          <p:nvPr/>
        </p:nvSpPr>
        <p:spPr>
          <a:xfrm>
            <a:off x="1188720" y="2514600"/>
            <a:ext cx="2377440" cy="457200"/>
          </a:xfrm>
          <a:prstGeom prst="rect">
            <a:avLst/>
          </a:prstGeom>
          <a:noFill/>
          <a:ln/>
        </p:spPr>
        <p:txBody>
          <a:bodyPr wrap="square" lIns="0" tIns="0" rIns="0" bIns="0"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Spatial Representation</a:t>
            </a:r>
            <a:endParaRPr lang="en-US" sz="1400" dirty="0"/>
          </a:p>
        </p:txBody>
      </p:sp>
      <p:sp>
        <p:nvSpPr>
          <p:cNvPr id="16" name="Text 14"/>
          <p:cNvSpPr/>
          <p:nvPr/>
        </p:nvSpPr>
        <p:spPr>
          <a:xfrm>
            <a:off x="3657600" y="2468880"/>
            <a:ext cx="5029200" cy="5943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SPOT · SpatialRGPT · GR3D · G²VLM · VLM-3R · Think3D · EmbodiedVSR · SpatiaLQA</a:t>
            </a:r>
            <a:endParaRPr lang="en-US" sz="1100" dirty="0"/>
          </a:p>
        </p:txBody>
      </p:sp>
      <p:sp>
        <p:nvSpPr>
          <p:cNvPr id="17" name="Shape 15"/>
          <p:cNvSpPr/>
          <p:nvPr/>
        </p:nvSpPr>
        <p:spPr>
          <a:xfrm>
            <a:off x="640080" y="3108960"/>
            <a:ext cx="7863840" cy="0"/>
          </a:xfrm>
          <a:prstGeom prst="line">
            <a:avLst/>
          </a:prstGeom>
          <a:noFill/>
          <a:ln w="6350">
            <a:solidFill>
              <a:srgbClr val="E2E8F0"/>
            </a:solidFill>
            <a:prstDash val="solid"/>
          </a:ln>
        </p:spPr>
      </p:sp>
      <p:sp>
        <p:nvSpPr>
          <p:cNvPr id="18" name="Shape 16"/>
          <p:cNvSpPr/>
          <p:nvPr/>
        </p:nvSpPr>
        <p:spPr>
          <a:xfrm>
            <a:off x="640080" y="3337560"/>
            <a:ext cx="411480" cy="411480"/>
          </a:xfrm>
          <a:prstGeom prst="ellipse">
            <a:avLst/>
          </a:prstGeom>
          <a:solidFill>
            <a:srgbClr val="EF4444"/>
          </a:solidFill>
          <a:ln/>
        </p:spPr>
      </p:sp>
      <p:sp>
        <p:nvSpPr>
          <p:cNvPr id="19" name="Text 17"/>
          <p:cNvSpPr/>
          <p:nvPr/>
        </p:nvSpPr>
        <p:spPr>
          <a:xfrm>
            <a:off x="640080" y="33375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188720" y="3291840"/>
            <a:ext cx="2377440" cy="45720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Occlusion &amp; Visibility</a:t>
            </a:r>
            <a:endParaRPr lang="en-US" sz="1400" dirty="0"/>
          </a:p>
        </p:txBody>
      </p:sp>
      <p:sp>
        <p:nvSpPr>
          <p:cNvPr id="21" name="Text 19"/>
          <p:cNvSpPr/>
          <p:nvPr/>
        </p:nvSpPr>
        <p:spPr>
          <a:xfrm>
            <a:off x="3657600" y="3246120"/>
            <a:ext cx="5029200" cy="5943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O-Bench · CAPTURe · CausalSpatial · SpatialMosaic</a:t>
            </a:r>
            <a:endParaRPr lang="en-US" sz="1100" dirty="0"/>
          </a:p>
        </p:txBody>
      </p:sp>
      <p:sp>
        <p:nvSpPr>
          <p:cNvPr id="22" name="Shape 20"/>
          <p:cNvSpPr/>
          <p:nvPr/>
        </p:nvSpPr>
        <p:spPr>
          <a:xfrm>
            <a:off x="640080" y="3886200"/>
            <a:ext cx="7863840" cy="0"/>
          </a:xfrm>
          <a:prstGeom prst="line">
            <a:avLst/>
          </a:prstGeom>
          <a:noFill/>
          <a:ln w="6350">
            <a:solidFill>
              <a:srgbClr val="E2E8F0"/>
            </a:solidFill>
            <a:prstDash val="solid"/>
          </a:ln>
        </p:spPr>
      </p:sp>
      <p:sp>
        <p:nvSpPr>
          <p:cNvPr id="23" name="Shape 21"/>
          <p:cNvSpPr/>
          <p:nvPr/>
        </p:nvSpPr>
        <p:spPr>
          <a:xfrm>
            <a:off x="640080" y="4114800"/>
            <a:ext cx="411480" cy="411480"/>
          </a:xfrm>
          <a:prstGeom prst="ellipse">
            <a:avLst/>
          </a:prstGeom>
          <a:solidFill>
            <a:srgbClr val="F59E0B"/>
          </a:solidFill>
          <a:ln/>
        </p:spPr>
      </p:sp>
      <p:sp>
        <p:nvSpPr>
          <p:cNvPr id="24" name="Text 22"/>
          <p:cNvSpPr/>
          <p:nvPr/>
        </p:nvSpPr>
        <p:spPr>
          <a:xfrm>
            <a:off x="640080" y="41148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1188720" y="4069080"/>
            <a:ext cx="2377440" cy="45720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Faithfulness &amp; Process</a:t>
            </a:r>
            <a:endParaRPr lang="en-US" sz="1400" dirty="0"/>
          </a:p>
        </p:txBody>
      </p:sp>
      <p:sp>
        <p:nvSpPr>
          <p:cNvPr id="26" name="Text 24"/>
          <p:cNvSpPr/>
          <p:nvPr/>
        </p:nvSpPr>
        <p:spPr>
          <a:xfrm>
            <a:off x="3657600" y="4023360"/>
            <a:ext cx="5029200" cy="5943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Structural Graph Probing · Linear Mechanisms · Cognitive Paradigm</a:t>
            </a:r>
            <a:endParaRPr lang="en-US" sz="1100" dirty="0"/>
          </a:p>
        </p:txBody>
      </p:sp>
      <p:sp>
        <p:nvSpPr>
          <p:cNvPr id="27" name="Shape 25"/>
          <p:cNvSpPr/>
          <p:nvPr/>
        </p:nvSpPr>
        <p:spPr>
          <a:xfrm>
            <a:off x="640080" y="4617720"/>
            <a:ext cx="7863840" cy="347472"/>
          </a:xfrm>
          <a:prstGeom prst="roundRect">
            <a:avLst>
              <a:gd name="adj" fmla="val 15789"/>
            </a:avLst>
          </a:prstGeom>
          <a:solidFill>
            <a:srgbClr val="F5F3FF"/>
          </a:solidFill>
          <a:ln/>
        </p:spPr>
      </p:sp>
      <p:sp>
        <p:nvSpPr>
          <p:cNvPr id="28" name="Text 26"/>
          <p:cNvSpPr/>
          <p:nvPr/>
        </p:nvSpPr>
        <p:spPr>
          <a:xfrm>
            <a:off x="822960" y="4645152"/>
            <a:ext cx="7498080" cy="274320"/>
          </a:xfrm>
          <a:prstGeom prst="rect">
            <a:avLst/>
          </a:prstGeom>
          <a:noFill/>
          <a:ln/>
        </p:spPr>
        <p:txBody>
          <a:bodyPr wrap="square" rtlCol="0" anchor="ctr"/>
          <a:lstStyle/>
          <a:p>
            <a:pPr indent="0" marL="0">
              <a:buNone/>
            </a:pPr>
            <a:r>
              <a:rPr lang="en-US" sz="1000" i="1" dirty="0">
                <a:solidFill>
                  <a:srgbClr val="8B5CF6"/>
                </a:solidFill>
                <a:latin typeface="Calibri" pitchFamily="34" charset="0"/>
                <a:ea typeface="Calibri" pitchFamily="34" charset="-122"/>
                <a:cs typeface="Calibri" pitchFamily="34" charset="-120"/>
              </a:rPr>
              <a:t>Representation sub-groups: Object/Region Level → 3D Geometry Level → Dynamic State Level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3B82F6">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Evaluation &amp; Diagnosis</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"Can we measure spatial reasoning properly?"</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3B82F6"/>
                </a:solidFill>
                <a:latin typeface="Calibri" pitchFamily="34" charset="0"/>
                <a:ea typeface="Calibri" pitchFamily="34" charset="-122"/>
                <a:cs typeface="Calibri" pitchFamily="34" charset="-120"/>
              </a:rPr>
              <a:t>3 papers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Mind the Gap</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Shape 4"/>
          <p:cNvSpPr/>
          <p:nvPr/>
        </p:nvSpPr>
        <p:spPr>
          <a:xfrm>
            <a:off x="365760" y="841248"/>
            <a:ext cx="8412480" cy="411480"/>
          </a:xfrm>
          <a:prstGeom prst="roundRect">
            <a:avLst>
              <a:gd name="adj" fmla="val 13333"/>
            </a:avLst>
          </a:prstGeom>
          <a:solidFill>
            <a:srgbClr val="EFF6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Existing VLM benchmarks fail to isolate spatial reasoning from object detection and language comprehension, producing misleading evaluations.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VLM benchmarks (MMBench etc.) entangle spatial reasoning with object detection and semantic comprehension. When a model answers 'chair is left of table' correctly, we cannot tell if this is genuine spatial reasoning or a semantic shortcut. VLM community treats 'spatial reasoning' as an undifferentiated whole.</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No cognitive-science-grounded framework decomposes spatial reasoning into diagnosable sub-components; benchmarks aggregate over heterogeneous abilities, hiding where models actually fail.</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Four-component taxonomy borrowed from cognitive psychology (Hegarty 2010, Newcombe &amp; Huttenlocher 2000): (1) Mental Rotation, (2) Spatial Visualization, (3) Spatial Relations, (4) Orientation &amp; Navigation. Also introduces GenAI vs programmatic image ablation to test whether performance gains come from real reasoning or dataset familiarity.</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Assembles six subtasks (each 11–22% share) from existing benchmarks (Spatial-Obj, Maze-Nav, EgoOrientBench) + programmatic MRT (polycube renderings at 0°/60°/90°/120° rotations) + GenAI-synthesized natural images. Multiple-choice format, greedy decoding, regex-matched answers. No CoT or LTM prompting — deliberately zero-shot.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Mind the Gap</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1,800 image-question pairs across 6 subtasks. Programmatic MRT (matplotlib polycube renders, 100×100 px). Natural images sourced across subtasks. GenAI ablation subset has only ~80 QA pairs.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13 VLMs tested. Best model: InternVL2.5 26B at 48.83% avg. Overall models 35–48% vs aggregated chance level 32.37%. BUT: GPT-4o reaches Orientation 72.5% (chance 50%), Spatial Relations 66.5% (chance 25%) — NOT 'near random'. Mental Rotation and Navigation are weakest. No confidence intervals reported; no human baseline; no error analysis; no CoT tested.</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Cross-substrate construct validity untested — psychometric tests designed for parietal cortex may not measure the 'same' ability in VLM computation. Synthetic image quality confounds (100×100 matplotlib polycubes are OOD for image encoders). No difficulty calibration (MRT rotation angle not analyzed). Heterogeneous subtask composition makes 'overall score' scientifically questionable.</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Are psychometric tests valid measurements for VLMs? Would explicit 3D input (point cloud, multi-view) improve results — locating the bottleneck at 2D-to-3D lifting? Can Spatial Relations skill transfer to Mental Rotation?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OmniSpatial</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Shape 4"/>
          <p:cNvSpPr/>
          <p:nvPr/>
        </p:nvSpPr>
        <p:spPr>
          <a:xfrm>
            <a:off x="365760" y="841248"/>
            <a:ext cx="8412480" cy="411480"/>
          </a:xfrm>
          <a:prstGeom prst="roundRect">
            <a:avLst>
              <a:gd name="adj" fmla="val 13333"/>
            </a:avLst>
          </a:prstGeom>
          <a:solidFill>
            <a:srgbClr val="EFF6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Current spatial benchmarks overemphasize basic relations and saturate quickly, leaving higher-order spatial cognition insufficiently measured.</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spatial benchmarks over-emphasize basic relations (left/right, near/far, counting) which are saturated on o3/Gemini-2.5-Pro (&gt;90% on SpatialBot-Bench). No cognitive-science-grounded framework exists.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Benchmarks lack theoretical framework and saturate quickly; higher-order spatial cognition (mental rotation, perspective-taking, spatial visualization) poorly measured.</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Four cognitive-psychology categories: (1) Dynamic Reasoning, (2) Complex Spatial Logic, (3) Spatial Interaction, (4) Perspective-Taking — with 50 subcategories. Two training-free aids: PointGraph (SAM→scene graph→prepend tokens) and SpatialCoT (InstantMesh novel-view synthesis for mental imagery).</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Multi-source data: Internet crawling + standardized tests + driving license exams + MME + HOI4D. Six annotators, multi-round cross-validation, reject templates. PointGraph builds scene graph with edges=position/scale/depth. Evaluated 40+ VLMs, each 5× averaged.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OmniSpatial</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1.5K QA (v1) / 8.4K QA (v2), 1,387 images, cross-national multi-scene; MCQ format (binary + 4-option). Random baseline: 24.98%.</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Best o3: 56.33% avg | Gemini-2.5-Pro: 55.19% | GPT-4.1: 51.78% | Human: 92.63% (36+ pp gap). Weakest categories: Complex Logic (geometry) and non-egocentric perspective-taking (~30–40%). PointGraph gains: Qwen-VL2.5-3B +2.91, Gemini-2.5-Flash +1.76, GPT-4.1-mini +1.63. Text CoT: NEGATIVE (Qwen-VL2.5-3B: −0.81 zero-shot, −1.38 manual). SpatialCoT: +2% on perspective track.</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No training set; 6 annotators are all authors (potential bias); MCQ can be shortcut; LLM-as-a-Judge for reasoning models introduces evaluation bias; PointGraph gains &lt;3% — treats symptoms, not root cause.</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the 4-category taxonomy carve nature at its joints? Are the gains from structured visual input real, or format regularization? Why does text CoT hurt spatial reasoning?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InfiniBench</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Shape 4"/>
          <p:cNvSpPr/>
          <p:nvPr/>
        </p:nvSpPr>
        <p:spPr>
          <a:xfrm>
            <a:off x="365760" y="841248"/>
            <a:ext cx="8412480" cy="411480"/>
          </a:xfrm>
          <a:prstGeom prst="roundRect">
            <a:avLst>
              <a:gd name="adj" fmla="val 13333"/>
            </a:avLst>
          </a:prstGeom>
          <a:solidFill>
            <a:srgbClr val="EFF6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Fixed benchmarks cannot isolate why a model fails because scene complexity is entangled and uncontrollable.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spatial reasoning benchmarks are all fixed datasets — cannot customize scene complexity to isolate specific VLM failure modes. Different models fail at different complexity levels for different reasons; fixed benchmarks hide this.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One aggregate score per benchmark cannot separate compositional, relational, and observational complexity as independent failure causes. No way to sweep complexity axes.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Paradigm shift: from 'better fixed benchmark' to 'benchmark GENERATOR'. Three-dimensional scene-complexity taxonomy: (1) Compositional (object count/diversity), (2) Relational (occupancy ratio, irrelevant objects), (3) Observational (camera height, occlusion level: none/partial/full). Occlusion is a controllable parameter — a first among benchmarks.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LLM agent converts natural-language scene description to procedural constraints → cluster-based layout optimizer (moves related objects as units, e.g. table+chairs) → task-aware camera trajectory optimization with occlusion check → photo-realistic video output + auto-generated QA pairs. Built on Infinigen asset library. Camera has 4-DOF (fixed height and roll).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InfiniBench</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3B82F6"/>
                </a:solidFill>
                <a:latin typeface="Calibri" pitchFamily="34" charset="0"/>
                <a:ea typeface="Calibri" pitchFamily="34" charset="-122"/>
                <a:cs typeface="Calibri" pitchFamily="34" charset="-120"/>
              </a:rPr>
              <a:t>Evaluation &amp; Diagnosis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Generator produces photo-realistic indoor videos with controlled complexity. Three spatial reasoning task families evaluated: measurement, perspective-taking, spatiotemporal. Only 5 VLMs used for diagnosis.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Fidelity 0.98 at high complexity vs baselines (which suffer collision/fidelity collapse). All VLMs drop to 20-40% accuracy at 50 objects. Gemini-2.5-Pro perspective-taking: BEV 77.4% vs Egocentric 67.2% — BUT this is confounded with occlusion (BEV = higher viewpoint = less occlusion). Gemini-2.5-Pro and Cambrian-S-7B are most robust to compositional complexity.</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Synthetic-to-real transfer not verified (biggest concern — failures in Infinigen may not reflect real-world failures); only 3 spatial task families; only 5 VLMs diagnosed; indoor only; static scenes; asset diversity limited by Infinigen library; QA-generation details underspecified; occlusion is a controllable parameter but NOT used as a dedicated benchmark axis.</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 complexity-axis failure modes transfer to real scenes? Can this generator produce training data that specifically fixes each identified weakness? What if occlusion were the primary axis instead of a sub-dimension?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10B981">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Training Signal</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"Is the data sufficient?"</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10B981"/>
                </a:solidFill>
                <a:latin typeface="Calibri" pitchFamily="34" charset="0"/>
                <a:ea typeface="Calibri" pitchFamily="34" charset="-122"/>
                <a:cs typeface="Calibri" pitchFamily="34" charset="-120"/>
              </a:rPr>
              <a:t>1 paper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10B981"/>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SpatialVLM</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2024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Training Signal</a:t>
            </a:r>
            <a:endParaRPr lang="en-US" sz="900" dirty="0"/>
          </a:p>
        </p:txBody>
      </p:sp>
      <p:sp>
        <p:nvSpPr>
          <p:cNvPr id="7" name="Shape 4"/>
          <p:cNvSpPr/>
          <p:nvPr/>
        </p:nvSpPr>
        <p:spPr>
          <a:xfrm>
            <a:off x="365760" y="841248"/>
            <a:ext cx="8412480" cy="411480"/>
          </a:xfrm>
          <a:prstGeom prst="roundRect">
            <a:avLst>
              <a:gd name="adj" fmla="val 13333"/>
            </a:avLst>
          </a:prstGeom>
          <a:solidFill>
            <a:srgbClr val="ECFDF5"/>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lack spatial knowledge because pretraining provides insufficient spatial supervision — a data problem, not architecture problem.</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lack quantitative and qualitative 3D spatial reasoning (distances, sizes, directions) because pretraining data is 2D image-caption. Cannot answer 'how far apart are the two objects?' or 'which one is behind the other?' reliably.</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Image-caption pretraining provides no spatial supervision signal; geometry is completely absent from what the model learns.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Automatic 3D spatial VQA generation pipeline at INTERNET SCALE. Estimates depth per image → lifts to point cloud → normalizes to canonical coordinates → generates templated qualitative + quantitative spatial QA. Trains VLM with this data alongside standard VQA.</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Pipeline: image → SAM/GroundedSAM object masks → ZoeDepth depth estimation → back-project to metric point cloud → canonicalize using ground plane detection → generate binary (qualitative) and numerical (quantitative) QA templates. Co-train with standard VQA to avoid catastrophic forgetting.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10B981"/>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SpatialVLM</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2024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10B981"/>
                </a:solidFill>
                <a:latin typeface="Calibri" pitchFamily="34" charset="0"/>
                <a:ea typeface="Calibri" pitchFamily="34" charset="-122"/>
                <a:cs typeface="Calibri" pitchFamily="34" charset="-120"/>
              </a:rPr>
              <a:t>Training Signal</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~2 billion QA pairs generated from ~10 million internet images. Google-scale data pipeline. Custom SpatialVQA benchmark for evaluation.</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Substantial improvement on spatial QA tasks (qualitative binary + quantitative numerical answers). Retains general VQA performance (no catastrophic forgetting from co-training). Enables downstream chain-of-thought spatial reasoning (multi-step distance calculations) that base VLM couldn't do. Google/Berkeley team.</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Mostly static, pairwise questions (A relative to B); no multi-object composition tested; no occlusion or viewpoint change reasoning; the data pipeline is EXPLICIT geometry (depth, point cloud) but the trained VLM has only IMPLICIT geometry (in weights). Cannot introspect what the model actually learned.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the model form a reusable internal 3D representation, or memorize answer patterns? Is explicit geometry (VGGT-style) still needed after strong spatial supervision? What's the ceiling of the data-only approach?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8B5CF6">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Spatial Representation</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Object / Region Level</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"What structured representation do VLMs need?"</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8B5CF6"/>
                </a:solidFill>
                <a:latin typeface="Calibri" pitchFamily="34" charset="0"/>
                <a:ea typeface="Calibri" pitchFamily="34" charset="-122"/>
                <a:cs typeface="Calibri" pitchFamily="34" charset="-120"/>
              </a:rPr>
              <a:t>3 papers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SPOT</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ICLR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 scene graph generation is limited by unstructured outputs and weak object grounding — structured prompting with object tokens helps broadly.</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Open-world scene graph generation from VLMs is unreliable — free-form generation loses object-level spatial info in global visual tokens, and free-form output format is hard to structure into (subject, predicate, object) triples.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Global visual tokens dilute object-level spatial signal; free-form output format is unreliable for structured relations; no explicit mechanism binds output triples to specific image regions.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Three-part recipe: (1) object-centric pooled SigLIP features per candidate object; (2) STRUCTURED FILL-IN-BLANK relation prompts (VLM completes 'the [subject] is ___ the [object]' with a predicate); (3) distance-aware pruning of candidate object pairs to remove implausible relations.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Given detected/annotated objects: pool SigLIP features per object mask → construct fill-in-blank prompts for each object pair → prune by 3D distance (using depth estimate) → VLM predicts predicate. Works across VLM backbones (LLaVA, Qwen-VL, InternVL) without fine-tuning.</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SPOT</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ICLR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Evaluated on VG150 (both PredCLS and SGDet settings), PSG (Panoptic Scene Graph), 3DSSG via ConceptGraphs (3D scene graph), PVSG video frames. Four different scene-graph formulations.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Structured prompting consistently improves across VLM backbones — this generalization is E3-level evidence (transfer across models). Component ablations show each of the three components contributes. Distance-aware pruning has largest single-component gain on cluttered scenes.</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Cannot separate REPRESENTATION gain from INTERFACE/FORMAT gain — do object-centric tokens carry spatial info, or does the structured prompt just regularize output? No geometry, occlusion, or temporal modeling. Depends on external object detector. Distance pruning uses estimated depth (noisy).</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Is the gain from spatial info in tokens, or from task-format regularization? Do object-centric tokens preserve geometry across views? Would explicit occlusion pruning (in addition to distance) help further?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SpatialRGPT</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NeurIPS 2024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need region-level visual grounding and depth evidence to reliably reason about spatial relations between objects.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are global parsers that cannot reliably identify which region the question refers to. Cannot answer 'what's behind the RED chair?' when there are multiple chairs. Also, RGB pixels alone are insufficient for 3D spatial arrangement.</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Global attention cannot ground linguistic references to specific object regions; RGB has no depth signal, so 'behind/in-front' is guessed from monocular cues.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Two additions to LLaVA-style VLM: (1) region-level &lt;region&gt; TOKENS that ground linguistic entity to specific image mask; (2) DEPTH-PLUGIN pathway — a small module injecting relative-depth features into the visual encoder from a monocular depth estimator. Also builds automated 3D scene graph data-generation pipeline.</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Data: use MASt3R/ZoeDepth + SAM to auto-construct 3D scene graphs from indoor/outdoor/simulated images → generate region-referring spatial QA templates. Model: standard LLaVA + region tokens (mask-pooled features) + depth-plugin (mixes relative-depth features into visual tokens). Large-scale region-aware spatial instruction tuning.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SpatialRGPT</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NeurIPS 2024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SpatialRGPT-Bench: ground-truth 3D annotations across indoor (Hypersim), outdoor (Waymo), and simulated scenes. Task types: direction, depth, distance, size — both qualitative and quantitative.</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Improvement on region-referred spatial QA. Depth-plugin ablation shows meaningful contribution for behind/front and distance questions (the tasks that intrinsically require depth). Region tokens fix the reference-resolution problem. NeurIPS 2024. Same team later builds GR3D as follow-up.</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Doesn't establish robustness for multi-object compositions ('the object between A and B'), viewpoint change, or occlusion reasoning. Depth plugin gives scalar depth per token, not relational visibility structure. Region grounding is 2D — object identity across views not addressed.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region grounding resolve depth/occlusion, or mainly improve 2D localization? Is depth-plugin's contribution due to depth INFO, or due to being an auxiliary task that regularizes visual encoder?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GR3D</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should bind entity references to image regions during generation — interleaved grounding makes variable binding a first-class issue.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In free-form CoT reasoning, VLMs mention entities ('the red chair') without binding them to specific image regions during generation. This makes reasoning ungrounded and error-prone.</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No mechanism links generated entity references back to image regions during multi-step reasoning; entity binding is a first-class problem that no prior VLM addresses.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First to make VARIABLE BINDING a first-class spatial reasoning issue. Three grounding modes: (1) explicit 2D bounding box output; (2) implicit STREAMING REGION insertion during CoT — during generation, when an entity is mentioned, the model localizes it and inserts a region token before continuing; (3) monocular 3D bounding box output. Direct successor to SpatialRGPT (same first author An-Chieh Cheng).</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During CoT decoding: mention entity → trigger localization sub-call → insert region token bound to that entity → continue generation on grounded evidence. Training with dense geometric supervision from CAD models and depth maps.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GR3D</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Object / Region</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Evaluated on 2D grounding benchmarks (RefCOCO family), 3D grounding benchmarks (Talk2Car, ScanRefer), spatial reasoning benchmarks (Q-Spatial, SpatialRGPT-Bench). CVPR 2026.</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Improved grounding and spatial reasoning while retaining general VLM performance. Streaming grounding is the most novel — perturbing the region token entity-specifically changes only that entity's answer, suggesting the binding is functional. Component comparisons show streaming &gt; explicit-bbox for multi-entity chains.</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Cannot uniquely attribute gain to streaming region insertion vs. dense geometric training data. No hidden-object reasoning tested. No persistent state across multiple images. Grounding is per-image; cross-view identity not addressed.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Is the CoT grounding trace faithful — does perturbing an entity's region token change only that entity's answer? Does streaming grounding compose over multi-hop reasoning (A relative to B, B relative to C)?</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8B5CF6">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Spatial Representation</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3D Geometry Level</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"Is explicit 3D geometry necessary?"</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8B5CF6"/>
                </a:solidFill>
                <a:latin typeface="Calibri" pitchFamily="34" charset="0"/>
                <a:ea typeface="Calibri" pitchFamily="34" charset="-122"/>
                <a:cs typeface="Calibri" pitchFamily="34" charset="-120"/>
              </a:rPr>
              <a:t>3 papers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G²VLM</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need a geometry-grounded internal pathway — a learned geometric expert stream — to lift evidence into coherent 3D structure.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Standard VLMs learn from 2D image-text pairs without a geometry-grounded pathway. Cannot lift 2D evidence into coherent 3D structure, so multi-view/depth-sensitive spatial reasoning fails.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Semantic understanding and geometric understanding compete for the same VLM parameters; no dedicated 'where' pathway exists alongside the 'what' pathway.</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Two-stream MIXTURE-OF-TRANSFORMER-EXPERTS (MoTE): a 'where' expert supervised on geometric tasks (depth estimation, point-cloud prediction, camera-pose regression) + a 'what' expert with standard visual-semantic tokens + SHARED ATTENTION so streams interact. First unified architecture jointly optimizing 3D reconstruction and spatial reasoning.</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MoTE routing: some transformer layers have geometric experts, others have semantic experts, some shared. Geometric expert trained with reconstruction losses. Cross-stream attention enables geometry to inform reasoning and vice versa. End-to-end training with mixed geometric and QA data.</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G²VLM</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3D reconstruction benchmarks + spatial reasoning benchmarks: SPAR-Bench, MindCube, OmniSpatial. CVPR 2026.</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Beats human baseline on SPAR-Bench Low category: 59.99 vs human 55.31. Strongest support in the corpus that geometry helps reasoning. Dual-architecture outperforms semantic-only baseline. Geometry-reasoning gains co-vary — hard to separate which geometric variable causes which reasoning improvement.</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Cannot isolate which geometric variable (depth vs pose vs point cloud) causally mediates reasoning; geometry and reasoning gains co-vary. Reconstruction losses may leak information indirectly. Not tested on occlusion or amodal tasks — the visible-surface geometry it models doesn't cover hidden structure.</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Which spatial capabilities actually REQUIRE explicit geometry vs which improve incidentally? Can visible-surface geometry handle occlusion and amodal reasoning? Would InfiniBench-style complexity sweeps reveal where G²VLM breaks?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VLM-3R</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Monocular video spatial reasoning benefits from implicit reconstruction-derived spatial tokens and camera-view tokens fused via cross-attention.</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Monocular video spatial reasoning needs 3D understanding, but existing 3D-LLM pipelines require pre-built 3D reconstructions or external depth sensors that aren't available for arbitrary videos.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lack geometric encoding for video; the 'give VLM a point cloud' approach doesn't scale to arbitrary in-the-wild video.</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Use a FROZEN reconstruction model (CUT3R) as an implicit 3D feature extractor. Extract two token types: SPATIAL TOKENS (per-patch geometry) and CAMERA-VIEW TOKENS (view pose). Fuse with visual tokens via cross-attention. First to show implicit reconstruction-derived tokens can OUTPERFORM explicit point-cloud fusion.</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Frozen CUT3R receives video → outputs spatial tokens + camera-view tokens per frame → cross-attention fusion module (only trainable component) combines with CLIP visual tokens → into LLM. Trained on 200K+ 3D spatial QA + route-planning data mined from video corpora.</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VLM-3R</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VSI-Bench (Thinking in Space, CVPR 2025), VSTI-Bench (VLM-3R's own — camera dynamics), ScanQA, SQA3D, general video and image benchmarks. CVPR 2026.</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Token removal ablation lowers performance across benchmarks — the tokens carry usable info. Implicit token fusion outperforms a tested explicit-point-cloud fusion alternative. VSTI-Bench specifically tests camera-dynamics understanding (novel evaluation dimension).</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Beating ONE explicit-point-fusion baseline ≠ evidence against ALL explicit representations — the comparison is narrow. Frozen encoder — cannot adapt to occlusion or hidden-object queries the encoder wasn't trained for. Tests don't stress preservation of object identity under camera reversal, occlusion, or conflicting visual priors.</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 the spatial tokens preserve object identity under camera reversal or occlusion? Would a stronger explicit representation (e.g. occlusion graph) beat implicit tokens on visibility tasks? Are camera-view tokens necessary or would spatial tokens alone suffice?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Think3D</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reason better when given an external 3D workspace to actively interrogate, rather than passively absorbing reconstruction tokens.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excel at 2D perception but remain fundamentally 2D perceivers — they treat multi-view images as independent 2D observations without a consistent 3D reference frame. Cannot 'think' with 3D space as humans do.</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Two existing paths both fail: (1) internalize-spatial-knowledge (SpatialVLM/SpatialRGPT) needs massive spatial data and may sacrifice general reasoning; (2) think-with-image (DeepEyes/PyVision) only supports 2.5D operations (zoom/crop/depth), too shallow.</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Training-free framework upgrading VLM into ACTIVE 3D EXPLORER. Three components: (1) 3D Manipulation Toolkit — Pi3 reconstructs point cloud+camera poses, virtual camera via anchor+azimuth+elevation rotation, global/ego-view rendering; (2) Observe→Manipulate→Reflect loop forming '3D Chain-of-Thought'; (3) Think3D-RL with GRPO to train small models. KEY INSIGHT: use estimated camera poses as spatial ANCHOR so VLM doesn't get lost.</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K=3 iterations max, K=1 reconstruction call, K rendering calls. Agent can STOP early. Action a_k=(anchor_idx, mode, Δazimuth, Δelevation). RL uses only final task reward (no viewpoint supervision); discretized to 3 canonical views for training (top/left/right), continuous at inference.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Think3D</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3D Geometry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Evaluated on BLINK Multi-view (ECCV 2024), MindCube (ICCV'25 W), VSI-Bench tiny (CVPR 2025). RL trained on 977 MindCube samples (disjoint from test).</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GPT-4.1 + Think3D: BLINK 36.82→63.91 (+27.09), MindCube +11.57%, VSI-Bench +2.96%. Gemini-2.5-Pro: BLINK +8.02, MindCube +4, VSI-Bench +6.45%. Qwen3-VL-4B: tool benefit +0.7% → +6.8% with RL. ABLATION: raw 3D without camera anchor DEGRADES (−0.49 BLINK); with anchor +14.77 BLINK — camera anchor is the critical design.</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~5-minute latency per query (K rounds + Pi3 inference); depends on reconstruction quality (fails on transparent/specular surfaces); NO explicit occlusion handling — relies on 'change viewpoint until visible' strategy; small model still trails large; only MCQ tested.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3D CoT reflect real spatial understanding or clever tool use? Would explicit occlusion representation reduce exploration rounds? Can trajectory reward without viewpoint supervision truly discover optimal exploration policy?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8B5CF6">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Spatial Representation</a:t>
            </a:r>
            <a:endParaRPr lang="en-US" sz="3000" dirty="0"/>
          </a:p>
          <a:p>
            <a:pPr indent="0" marL="0">
              <a:buNone/>
            </a:pPr>
            <a:r>
              <a:rPr lang="en-US" sz="3000" b="1" dirty="0">
                <a:solidFill>
                  <a:srgbClr val="FFFFFF"/>
                </a:solidFill>
                <a:latin typeface="Calibri" pitchFamily="34" charset="0"/>
                <a:ea typeface="Calibri" pitchFamily="34" charset="-122"/>
                <a:cs typeface="Calibri" pitchFamily="34" charset="-120"/>
              </a:rPr>
              <a:t>Dynamic State Level</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"What must persist across time and action?"</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8B5CF6"/>
                </a:solidFill>
                <a:latin typeface="Calibri" pitchFamily="34" charset="0"/>
                <a:ea typeface="Calibri" pitchFamily="34" charset="-122"/>
                <a:cs typeface="Calibri" pitchFamily="34" charset="-120"/>
              </a:rPr>
              <a:t>2 papers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EmbodiedVSR</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Dynamic State</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Embodied spatial reasoning requires an external dynamic scene graph maintaining object relations and state transitions across actions.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Embodied spatial reasoning under sequential observation and action (reachability, feasibility, long-horizon tasks) fails because VLMs rely on implicit spatial knowledge that decays across long action horizons — geometric hallucination and loss of physical-state consistency.</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Fragmented reasoning + implicit spatial memory cannot maintain object-relation consistency as actions unfold; each step 'forgets' earlier state.</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EXTERNAL DYNAMIC SCENE GRAPH with object attributes, spatial edges, and ACTION-CONDITIONED state transitions. Graph-grounded spatial CoT: identify (which objects are task-relevant) → query (what relations does the graph say?) → deduce (compose the answer). Graph persists and updates across actions.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Per step: build/update task-relevant graph from current image + object detection + depth + prior graph. Reasoning template: identify entities → query graph for relevant edges → deduce answer. Graph maintains persistent state (position, contact, containment) across action steps.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EmbodiedVSR</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Dynamic State</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eSpatial-Benchmark: general visual spatial tasks + robotic embodied tasks + LEGO assembly (long-horizon multi-step). Custom benchmark since existing ones don't test cross-step state consistency.</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KEY FINDING: Full pipeline improves accuracy, BUT detector-alone or depth-alone or graph-alone can actually HURT performance. Integration matters — isolated structured perception degrades VLM reasoning. This is the FIRST of four independent 'isolated perception hurts' findings (also seen in SpatiaLQA, NuScenes-SpatialQA, ISGR).</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Cannot separate contribution of graph PERSISTENCE vs GROUNDING vs CoT formatting. Graph lacks occlusion edges — when an occluder moves, visibility and accessibility should update but don't. Graph structure is manually designed, not learned. Depends on detector quality.</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What minimum state must persist across time and action? Should occlusion edges be added for visibility update after occluder motion? Can the graph itself be trained (vs manually designed)?</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SpatiaLQA</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Dynamic State</a:t>
            </a:r>
            <a:endParaRPr lang="en-US" sz="900" dirty="0"/>
          </a:p>
        </p:txBody>
      </p:sp>
      <p:sp>
        <p:nvSpPr>
          <p:cNvPr id="7" name="Shape 4"/>
          <p:cNvSpPr/>
          <p:nvPr/>
        </p:nvSpPr>
        <p:spPr>
          <a:xfrm>
            <a:off x="365760" y="841248"/>
            <a:ext cx="8412480" cy="411480"/>
          </a:xfrm>
          <a:prstGeom prst="roundRect">
            <a:avLst>
              <a:gd name="adj" fmla="val 13333"/>
            </a:avLst>
          </a:prstGeom>
          <a:solidFill>
            <a:srgbClr val="F5F3FF"/>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can identify actions but struggle to recover spatial precondition dependencies — the directed ordering that spatial relations impose.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struggle at spatial LOGICAL reasoning — tasks requiring both spatial understanding AND multi-step logical dependencies. Example: 'To pick up the red book: first move mouse off keyboard, then move keyboard' — GPT-4o skips the precondition step because it doesn't understand stacking-induced dependencies.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VQA/embodied benchmarks don't isolate whether VLMs understand how spatial relations (like stacking/occlusion) induce action-ordering dependencies. Missing dedicated 'precondition' evaluation.</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First formalization of 'spatial logical reasoning' = spatial understanding + logical reasoning + precondition dependencies. Precondition Graph: each answer is a DAG where nodes=steps, edges=precondition dependencies. RSGAR (Recursive Scene Graph Assisted Reasoning): SAM+Depth Anything V2+VLM iteratively construct task-relevant scene graph from target outward.</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Three-stage annotation: (1) Manual annotation 2,401 QA (2-8 steps); (2) Subgraph extraction augmentation (+2,251); (3) Graph expansion with reverse steps (+4,953). Evaluation: Hungarian matching + GPT-4o-based F_c (content F1) and F_p (precondition F1). RSGAR builds graph via iterative queries: target→direct-contact objects→expand.</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8B5CF6"/>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SpatiaLQA</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CVPR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8B5CF6"/>
                </a:solidFill>
                <a:latin typeface="Calibri" pitchFamily="34" charset="0"/>
                <a:ea typeface="Calibri" pitchFamily="34" charset="-122"/>
                <a:cs typeface="Calibri" pitchFamily="34" charset="-120"/>
              </a:rPr>
              <a:t>Representation — Dynamic State</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9,605 QA pairs, 241 real-world indoor scenes, 13 scene categories. 41 VLMs evaluated (largest such study). Metrics: F_c (content F1), F_p (precondition F1).</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Human: F_c=97.6, F_p=92.5. Best GPT-5: F_c=76.0, F_p=47.0 (F_p gap to human = 45 pts!). GPT-4.1: 73.5/38.0. Gemini-2.5-Pro: 74.3/39.3. Precondition is the ROOT weakness (content-precondition gap = 29 pp; humans 5 pp). RSGAR on GPT-4o: F_c +2.4, F_p +3.0. KEY NEGATIVE: Seg alone drops F_c from 67.4→50.3, Depth alone 67.4→64.1 — isolated structured perception HURTS. Only integrated scene graph helps.</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RSGAR gains still small (&lt;3 pp) — gap to human remains huge; only indoor scenes (13 categories); structured step-output format constrains QA; evaluation depends on GPT-4o judge; augmentation may introduce distribution shift.</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8B5CF6"/>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If a model correctly predicts precondition graph, does it also update it under intervention? Can an occlusion graph automatically induce precondition graph (occlusion → removal-before-access ordering)?</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EF4444">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Occlusion &amp; Visibility</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"Can VLMs reason about what they cannot see?"</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EF4444"/>
                </a:solidFill>
                <a:latin typeface="Calibri" pitchFamily="34" charset="0"/>
                <a:ea typeface="Calibri" pitchFamily="34" charset="-122"/>
                <a:cs typeface="Calibri" pitchFamily="34" charset="-120"/>
              </a:rPr>
              <a:t>4 papers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O-Bench / Beyond the Visible</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Shape 4"/>
          <p:cNvSpPr/>
          <p:nvPr/>
        </p:nvSpPr>
        <p:spPr>
          <a:xfrm>
            <a:off x="365760" y="841248"/>
            <a:ext cx="8412480" cy="411480"/>
          </a:xfrm>
          <a:prstGeom prst="roundRect">
            <a:avLst>
              <a:gd name="adj" fmla="val 13333"/>
            </a:avLst>
          </a:prstGeom>
          <a:solidFill>
            <a:srgbClr val="FEF2F2"/>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Occlusion perception is a high-value diagnostic capability that existing spatial benchmarks do not systematically measure.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spatial benchmarks do not systematically measure occlusion perception — VLMs are never tested on what they cannot see. Yet occlusion is central to real-world spatial reasoning (parked cars hide pedestrians, boxes hide contents).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No dedicated benchmark for occlusion; existing multi-purpose benchmarks conflate occlusion with counting, localization, and general recognition.</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Layered image synthesis with KNOWN OCCLUSION MASKS. Five progressive task levels: (1) BRI — Basic Relation Identification (is A occluded?), (2) OI — Occluder Identification (what occludes A?), (3) GD — Gestalt Direction (which direction is the hidden part?), (4) GR — Gestalt Reasoning (multi-object hidden structure), (5) ORE — Occlusion Rate Estimation (what percentage is hidden?). Controls for false-relation, inverted-depth, and answer-frequency bias.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Composite images by layering: one background + one target + one potential occluder per image. Ground-truth from layer masks. 5 task levels of increasing difficulty. 22 MLLMs evaluated. Answer-frequency bias control ensures 'occluded' isn't the majority answer, so models can't get high accuracy by always saying yes.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O-Bench / Beyond the Visible</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1,365 composited images, 4,588 QA pairs. Single target + single occluder per image (deliberate simplicity for controllability).</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22 MLLMs evaluated — all well below human baseline. Many near chance on BASIC occlusion identification (BRI) — VLMs can't reliably tell if something is occluded. Consistent CONSERVATIVE BIAS: models err on saying 'not occluded' when uncertain. Performance drops sharply from BRI → OI → GD → GR → ORE.</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Single target + single occluder only — no multi-object occlusion CHAINS, no global visibility GRAPHS, no temporal occlusion tests. Synthetic composites — real-world occlusion has more subtle appearance cues. Answer-frequency bias fixed but position-of-answer bias not addressed.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 models answer by contextual priors (backgrounds often have hidden objects), or do they maintain hidden-extent / foreground-order representation? Would multi-object occlusion CHAINS (A hides B hides C) reveal further limits?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CAPTURe</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Shape 4"/>
          <p:cNvSpPr/>
          <p:nvPr/>
        </p:nvSpPr>
        <p:spPr>
          <a:xfrm>
            <a:off x="365760" y="841248"/>
            <a:ext cx="8412480" cy="411480"/>
          </a:xfrm>
          <a:prstGeom prst="roundRect">
            <a:avLst>
              <a:gd name="adj" fmla="val 13333"/>
            </a:avLst>
          </a:prstGeom>
          <a:solidFill>
            <a:srgbClr val="FEF2F2"/>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struggle to infer how regular object arrangements continue through occluders and count total visible + hidden objects.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No objective way to test whether VLMs can complete missing visual information about multiple occluded objects. 'Amodal completion' has been discussed but never operationalized as a countable, verifiable task.</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Amodal reasoning has no scalar ground truth — 'imagine what's behind' is subjective — until you make it a counting task with a known answer.</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PAIRED OCCLUDED / UNOCCLUDED patterned-object images. Objects arranged in regular patterns (dots, lines, grids). Task: count TOTAL objects including hidden ones. Answer is verifiable because the pattern continues predictably behind the occluder. Also provides ORACLE decompositions to diagnose which sub-skill fails: perception, pattern-continuation, or counting.</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CAPTURe-real: photograph patterned real objects, then insert occluders. CAPTURe-synthetic: render patterned scenes with controlled occlusion. Paired conditions: same layout, with/without occluder. Metric: sMAPE (symmetric Mean Absolute Percentage Error) on count. Oracle interventions: give model full object coordinates, or count of visible + count of hidden separately.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CAPTURe</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CAPTURe-real: 924 images. CAPTURe-synthetic: 1,250 images. Paired occluded/unoccluded conditions.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consistently worse under occlusion than unoccluded conditions — expected. KEY FINDING: providing full-object oracle coordinates helps MOST (biggest jump), suggesting failure mixes counting + localization + pattern completion. Inpainting-based approaches (fill in occluded region visually before counting) provide only limited help.</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Relies on REGULAR ARRANGEMENTS (dots, grids) — doesn't test arbitrary occlusion, depth order, or cross-view persistence. Real-world hidden objects rarely follow such regular patterns. Doesn't distinguish 'model imagines pattern continues' from 'model has learned this specific pattern class'.</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correct counting imply a world model, or can learned pattern continuation (a shortcut) explain it? Would irregular arrangements collapse performance? Is amodal reasoning composable with occlusion-graph reasoning?</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CausalSpatial</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ICML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Shape 4"/>
          <p:cNvSpPr/>
          <p:nvPr/>
        </p:nvSpPr>
        <p:spPr>
          <a:xfrm>
            <a:off x="365760" y="841248"/>
            <a:ext cx="8412480" cy="411480"/>
          </a:xfrm>
          <a:prstGeom prst="roundRect">
            <a:avLst>
              <a:gd name="adj" fmla="val 13333"/>
            </a:avLst>
          </a:prstGeom>
          <a:solidFill>
            <a:srgbClr val="FEF2F2"/>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Static-image VLMs cannot predict how hypothetical object motion changes spatial configurations — especially occlusion outcomes.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VLMs can answer 'what is where' (static perception) but cannot answer 'what if this object moves' (causal spatial reasoning). No benchmark systematically tests causal spatial prediction under hypothetical interventions.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evaluation restricted to static perception; no benchmark for causal anticipation of collision/compatibility/occlusion/trajectory outcomes.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First object-centric causal spatial benchmark: 4 tasks × 2 difficulty levels = 8 subtasks. Tasks: (1) Collision — will moving A cause impact? (2) Compatibility — can A fit into B? (3) Occlusion — how does moving A change visibility? (4) Trajectory — where will A travel under physics? L1=1-to-1, L2=1-to-many. COW (Causal Object World Model): externalizes simulation via trajectory-conditioned video generation.</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Blender rendering with 50+ object categories, 130+ camera viewpoints. GT from Bullet Physics engine (mesh intersection→deterministic labels). MCQ format with 'Not Sure' option to expose overconfidence. Each question evaluated 5×. COW: MLLM predicts object bbox+orientation → 3D position+velocity → ATI trajectory-conditioned video → MLLM reasons over original image + 3 simulated frames.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CausalSpatial</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ICML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Synthetic scenes, 4 task families × 2 levels. 'Not Sure' option enables NSR (Not-Sure Rate) analysis.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Human 84.49% vs GPT-5 54.17% (30 pp gap). Occlusion L2: Human 97.5% vs GPT-5 62.96% (34.5 pp). Collision L2 hardest: Human 78.57% vs GPT-5 40.94%. Spatial-VLM only 24.07% on Occlusion L2 (near random 20.37%). MODEL SCALE SATURATION: Qwen3-VL 4B/8B/30B plateau at 44-46%. NSR drops 18.77%→0.10% but accuracy flat → larger models become 'decisively wrong.' KEY FAILURE: CoT drifts from visual evidence → fluent-but-ungrounded hallucination. COW: Collision +2.40%, Trajectory +2.20%, OCCLUSION DECREASED (first 3 frames insufficient for long-term visibility change).</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Synthetic Blender scenes only, no real-world; COW fails on Occlusion (its target task); object count per scene limited; no graph-based method compared; GPT-5 closed-source blocks mechanism analysis.</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 we measure whether a model forms and updates a typed visibility state, not just answers correctly? Does causal reasoning failure trace to perception or reasoning? Would an explicit occlusion graph help Occlusion L2 more than COW's video?</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SpatialMosaic</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Shape 4"/>
          <p:cNvSpPr/>
          <p:nvPr/>
        </p:nvSpPr>
        <p:spPr>
          <a:xfrm>
            <a:off x="365760" y="841248"/>
            <a:ext cx="8412480" cy="411480"/>
          </a:xfrm>
          <a:prstGeom prst="roundRect">
            <a:avLst>
              <a:gd name="adj" fmla="val 13333"/>
            </a:avLst>
          </a:prstGeom>
          <a:solidFill>
            <a:srgbClr val="FEF2F2"/>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Multi-view VLMs fail under partial visibility, occlusion, and low-overlap — targeted data + a geometry encoder recover robustness at small scale.</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Multi-view VLM spatial reasoning fails under partial visibility (object visible only in some views), occlusion (blocked or FoV-cropped), low-overlap (sparse cross-view intersection) — the three fragmented conditions of real environments.</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Existing multi-view VLMs either depend on pre-built 3D representations (poor scalability) or learn from multi-view images without targeting fragmented real conditions.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Dataset+Bench+Method three-in-one. Data pipeline auto-computes per-instance occlusion ratio from point clouds: r_obj (blocked by other objects, via z-buffer depth compare) and r_FoV (cropped by frame edges, via 2×2 expanded intrinsics). SpatialMosaicVLM: CLIP visual encoder + VGGT (frozen 3D reconstruction as geometry encoder) → cross-attention fusion → LLM.</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Three-stage pipeline: (1) Data Prep — project instance point clouds per-view, compare depths → occlusion ratios r_obj, r_FoV; (2) QA Gen — sparse multi-view sampling with pair-overlap&lt;τ, instance filtering (target must not appear in all frames, r_obj&lt;0.9, task-specific constraints); (3) 6 task templates. Training: 8× H200, lr 2e-5, 5 epochs, only train fusion module (encoders frozen).</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EF4444"/>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SpatialMosaic</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EF4444"/>
                </a:solidFill>
                <a:latin typeface="Calibri" pitchFamily="34" charset="0"/>
                <a:ea typeface="Calibri" pitchFamily="34" charset="-122"/>
                <a:cs typeface="Calibri" pitchFamily="34" charset="-120"/>
              </a:rPr>
              <a:t>Occlusion &amp; Visibility</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SpatialMosaic: 2M+ QA (indoor ScanNet++ + outdoor Waymo). SpatialMosaic-Bench: 1M QA across 6 tasks — Object Count, Best-View Selection, Object Localization, Occlusion-Aware Existence, Occlusion-Aware Attribute, Occlusion-Aware Spatial Relation.</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SpatialMosaicVLM-7B: Indoor 77.4% avg (best open-source 40B: 48.5%; even beats human-tiny 55.1%). VSI-Bench: 59.6% avg — beats 72B models by 18.7 pp with ~1/10 parameters. Outdoor zero-shot: 62.0%. Ablation: removing geometry encoder drops VSI Rel.Dir from 77.5→55.4. Accuracy MONOTONICALLY drops with occlusion / overlap / partial-visibility level — hardest regime: 'Partially Visible + Partial Coverage'.</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Occlusion recorded as scalar ratio only — NOT who-occludes-whom edges (KEY GAP); late-fusion (cross-attention on top of frozen encoders); VLM still implicitly reasons about 3D; MCQ format only; GT depends on ScanNet++/Waymo point cloud annotation quality.</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scalar occlusion ratio suffice, or is a relational visibility graph needed? Can the fused tokens preserve object identity under camera reversal? Would earlier grounding (representational fusion) beat late cross-attention?</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F59E0B">
              <a:alpha val="18000"/>
            </a:srgbClr>
          </a:solidFill>
          <a:ln/>
        </p:spPr>
      </p:sp>
      <p:pic>
        <p:nvPicPr>
          <p:cNvPr id="3" name="Image 0" descr="preencoded.png">    </p:cNvPr>
          <p:cNvPicPr>
            <a:picLocks noChangeAspect="1"/>
          </p:cNvPicPr>
          <p:nvPr/>
        </p:nvPicPr>
        <p:blipFill>
          <a:blip r:embed="rId1"/>
          <a:stretch>
            <a:fillRect/>
          </a:stretch>
        </p:blipFill>
        <p:spPr>
          <a:xfrm>
            <a:off x="731520" y="1463040"/>
            <a:ext cx="548640" cy="548640"/>
          </a:xfrm>
          <a:prstGeom prst="rect">
            <a:avLst/>
          </a:prstGeom>
        </p:spPr>
      </p:pic>
      <p:sp>
        <p:nvSpPr>
          <p:cNvPr id="4" name="Text 1"/>
          <p:cNvSpPr/>
          <p:nvPr/>
        </p:nvSpPr>
        <p:spPr>
          <a:xfrm>
            <a:off x="1463040" y="1371600"/>
            <a:ext cx="6400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Faithfulness &amp; Process</a:t>
            </a:r>
            <a:endParaRPr lang="en-US" sz="3000" dirty="0"/>
          </a:p>
        </p:txBody>
      </p:sp>
      <p:sp>
        <p:nvSpPr>
          <p:cNvPr id="5" name="Text 2"/>
          <p:cNvSpPr/>
          <p:nvPr/>
        </p:nvSpPr>
        <p:spPr>
          <a:xfrm>
            <a:off x="1463040" y="2194560"/>
            <a:ext cx="6400800" cy="457200"/>
          </a:xfrm>
          <a:prstGeom prst="rect">
            <a:avLst/>
          </a:prstGeom>
          <a:noFill/>
          <a:ln/>
        </p:spPr>
        <p:txBody>
          <a:bodyPr wrap="square" rtlCol="0" anchor="ctr"/>
          <a:lstStyle/>
          <a:p>
            <a:pPr indent="0" marL="0">
              <a:buNone/>
            </a:pPr>
            <a:r>
              <a:rPr lang="en-US" sz="1400" i="1" dirty="0">
                <a:solidFill>
                  <a:srgbClr val="CBD5E0"/>
                </a:solidFill>
                <a:latin typeface="Calibri" pitchFamily="34" charset="0"/>
                <a:ea typeface="Calibri" pitchFamily="34" charset="-122"/>
                <a:cs typeface="Calibri" pitchFamily="34" charset="-120"/>
              </a:rPr>
              <a:t>"Do VLMs actually understand space internally?"</a:t>
            </a:r>
            <a:endParaRPr lang="en-US" sz="1400" dirty="0"/>
          </a:p>
        </p:txBody>
      </p:sp>
      <p:sp>
        <p:nvSpPr>
          <p:cNvPr id="6" name="Text 3"/>
          <p:cNvSpPr/>
          <p:nvPr/>
        </p:nvSpPr>
        <p:spPr>
          <a:xfrm>
            <a:off x="1463040" y="2743200"/>
            <a:ext cx="6400800" cy="365760"/>
          </a:xfrm>
          <a:prstGeom prst="rect">
            <a:avLst/>
          </a:prstGeom>
          <a:noFill/>
          <a:ln/>
        </p:spPr>
        <p:txBody>
          <a:bodyPr wrap="square" rtlCol="0" anchor="ctr"/>
          <a:lstStyle/>
          <a:p>
            <a:pPr indent="0" marL="0">
              <a:buNone/>
            </a:pPr>
            <a:r>
              <a:rPr lang="en-US" sz="1200" dirty="0">
                <a:solidFill>
                  <a:srgbClr val="F59E0B"/>
                </a:solidFill>
                <a:latin typeface="Calibri" pitchFamily="34" charset="0"/>
                <a:ea typeface="Calibri" pitchFamily="34" charset="-122"/>
                <a:cs typeface="Calibri" pitchFamily="34" charset="-120"/>
              </a:rPr>
              <a:t>3 papers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Structural Graph Probing</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Shape 4"/>
          <p:cNvSpPr/>
          <p:nvPr/>
        </p:nvSpPr>
        <p:spPr>
          <a:xfrm>
            <a:off x="365760" y="841248"/>
            <a:ext cx="8412480" cy="411480"/>
          </a:xfrm>
          <a:prstGeom prst="roundRect">
            <a:avLst>
              <a:gd name="adj" fmla="val 13333"/>
            </a:avLst>
          </a:prstGeom>
          <a:solidFill>
            <a:srgbClr val="FFFBEB"/>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Population-level neuron-correlation topology in VLMs contains behaviorally meaningful structure and identifies causally influential components.</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Local interpretability tools (attention maps, saliency, single-neuron probing) don't explain how cross-modal computation is ORGANIZED across neuron populations. We see individual neurons but not the collective structure.</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Prior probing looks at neurons in isolation; there's no framework for population-level structure within VLM layers.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Build WITHIN-LAYER NEURON-NEURON ACTIVATION-CORRELATION GRAPHS: nodes=neurons, edges=activation correlation on a probe dataset. Then (1) probe the graph topology with a GCN (vs linear-probe baseline); (2) test causal influence by TOPOLOGY-BASED INTERVENTIONS on hubs and edges. This gets to E4-E5 evidence (the strongest across the paper corpus).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Per layer: compute pairwise neuron activation correlations on a diverse probe dataset → build correlation graph → apply GCN to predict behavioral outputs from graph structure → identify high-degree HUBS → ablate hubs by degree ranking → apply edge interventions (perturb specific edges) → measure output change. Hub stability tested across probe datasets to rule out coincidence.</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Structural Graph Probing</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Multiple VLM backbones (varies by study). Behavior prediction and hallucination-related tasks. Probe datasets designed to elicit specific behaviors.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Topology probes OUTPERFORM linear baselines — structure carries information beyond individual neuron activations. Hub ablation and edge intervention systematically ALTER model output (E4-E5 causal-influence evidence — the strongest in the entire corpus). Hubs are stable across probe datasets (not artifacts).</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Causal influence on OUTPUT ≠ semantic SPATIAL MEANING of the component — an important edge might carry generic computation, not spatial info specifically. Correlation graphs are just one topology; other structures (co-activation clusters, information-flow graphs) might reveal different mechanisms. Not tested with spatially-controlled interventions.</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 topology measurements under SPATIALLY CONTROLLED interventions identify relation-specific internal mechanisms? Would this framework detect Linear Mechanisms' 'spatial IDs' as hubs?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Linear Mechanisms for Spatiotemporal Reasoning</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Shape 4"/>
          <p:cNvSpPr/>
          <p:nvPr/>
        </p:nvSpPr>
        <p:spPr>
          <a:xfrm>
            <a:off x="365760" y="841248"/>
            <a:ext cx="8412480" cy="411480"/>
          </a:xfrm>
          <a:prstGeom prst="roundRect">
            <a:avLst>
              <a:gd name="adj" fmla="val 13333"/>
            </a:avLst>
          </a:prstGeom>
          <a:solidFill>
            <a:srgbClr val="FFFBEB"/>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VLMs internally encode object locations as linear 'spatial IDs' bound to text activations — a mechanistic answer to whether spatial understanding exists inside the model.</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Spatiotemporal reasoning in VLMs is a remarkable capability, but the underlying MECHANISMS remain opaque — how do VLMs internally combine visual/geometric structure with textual reasoning? Prior probing shows correlation, not causation.</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Behavioral evaluation and standard probing cannot distinguish between (a) internal representations that carry spatial information but are unused, and (b) representations that causally drive the answer. Without causal evidence, 'the VLM understands space' remains untestable.</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Empirical claim: VLMs encode object locations by LINEARLY BINDING 'spatial IDs' to textual activations, then perform reasoning via language tokens. Spatial IDs are (1) ubiquitous across the model, (2) causally mediating — perturbing them systematically changes model beliefs at intermediate layers, (3) diagnostic — reveal failure modes of current VLMs, (4) usable as training signal. Analogous linear TEMPORAL ID mechanism identified in video VLMs.</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Search for confluence of visual/geometric and textual representations. Use linear probes to identify spatial IDs at intermediate layers. Apply rigorous CAUSAL INTERVENTIONS (add/subtract IDs) to test whether they systematically alter outputs. Extend analysis to video VLMs for temporal ID mechanism. Release code at github.com/Raphoo/linear-mech-vlms.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Linear Mechanisms for Spatiotemporal Reasoning</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2026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Standard VLM benchmarks used for behavioral tests; probing and intervention data derived from spatial content. Video VLM benchmarks for temporal ID extension.</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Two levels of evidence claimed: (1) DECODABILITY — spatial IDs recoverable via linear probes across model layers; (2) CAUSAL MEDIATION — intervening on spatial IDs at intermediate layers systematically changes model beliefs. This is E4–E5 level evidence in the landscape's evidence-strength ladder (the strongest across all 19 papers). Extension to video VLMs demonstrates analogous linear temporal ID mechanism.</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'Location' and 'temporal position' are simpler than relational, occluded, or dynamic spatial understanding; linear structure may be ONE of several coexisting mechanisms — nonlinear or distributed mechanisms not ruled out; scope of spatial capabilities tested is limited (needs to be verified from paper).</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Does the linear ID mechanism scale to relational / occluded / consequence-level spatial reasoning? Can spatial IDs be used as a training signal to enhance understanding — as the paper suggests? Do spatial IDs exist for objects behind occluders?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Cognitive Paradigm</a:t>
            </a:r>
            <a:endParaRPr lang="en-US" sz="1600" dirty="0"/>
          </a:p>
        </p:txBody>
      </p:sp>
      <p:sp>
        <p:nvSpPr>
          <p:cNvPr id="5" name="Text 2"/>
          <p:cNvSpPr/>
          <p:nvPr/>
        </p:nvSpPr>
        <p:spPr>
          <a:xfrm>
            <a:off x="5943600" y="137160"/>
            <a:ext cx="265176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Overview</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Shape 4"/>
          <p:cNvSpPr/>
          <p:nvPr/>
        </p:nvSpPr>
        <p:spPr>
          <a:xfrm>
            <a:off x="365760" y="841248"/>
            <a:ext cx="8412480" cy="411480"/>
          </a:xfrm>
          <a:prstGeom prst="roundRect">
            <a:avLst>
              <a:gd name="adj" fmla="val 13333"/>
            </a:avLst>
          </a:prstGeom>
          <a:solidFill>
            <a:srgbClr val="FFFBEB"/>
          </a:solidFill>
          <a:ln/>
        </p:spPr>
      </p:sp>
      <p:sp>
        <p:nvSpPr>
          <p:cNvPr id="8" name="Text 5"/>
          <p:cNvSpPr/>
          <p:nvPr/>
        </p:nvSpPr>
        <p:spPr>
          <a:xfrm>
            <a:off x="548640" y="868680"/>
            <a:ext cx="8046720" cy="365760"/>
          </a:xfrm>
          <a:prstGeom prst="rect">
            <a:avLst/>
          </a:prstGeom>
          <a:noFill/>
          <a:ln/>
        </p:spPr>
        <p:txBody>
          <a:bodyPr wrap="square" lIns="0" tIns="0" rIns="0" bIns="0" rtlCol="0" anchor="ctr"/>
          <a:lstStyle/>
          <a:p>
            <a:pPr indent="0" marL="0">
              <a:buNone/>
            </a:pPr>
            <a:r>
              <a:rPr lang="en-US" sz="1000" i="1" dirty="0">
                <a:solidFill>
                  <a:srgbClr val="1A202C"/>
                </a:solidFill>
                <a:latin typeface="Calibri" pitchFamily="34" charset="0"/>
                <a:ea typeface="Calibri" pitchFamily="34" charset="-122"/>
                <a:cs typeface="Calibri" pitchFamily="34" charset="-120"/>
              </a:rPr>
              <a:t>VLM failures can be decomposed into perception vs reasoning errors through staged paradigms with increasing cognitive decomposition.</a:t>
            </a:r>
            <a:endParaRPr lang="en-US" sz="1000" dirty="0"/>
          </a:p>
        </p:txBody>
      </p:sp>
      <p:sp>
        <p:nvSpPr>
          <p:cNvPr id="9" name="Text 6"/>
          <p:cNvSpPr/>
          <p:nvPr/>
        </p:nvSpPr>
        <p:spPr>
          <a:xfrm>
            <a:off x="365760" y="13716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Problem Setting</a:t>
            </a:r>
            <a:endParaRPr lang="en-US" sz="1000" dirty="0"/>
          </a:p>
        </p:txBody>
      </p:sp>
      <p:sp>
        <p:nvSpPr>
          <p:cNvPr id="10" name="Text 7"/>
          <p:cNvSpPr/>
          <p:nvPr/>
        </p:nvSpPr>
        <p:spPr>
          <a:xfrm>
            <a:off x="365760" y="1572768"/>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When a VLM fails at visual reasoning, we can't tell if the failure is PERCEPTION (didn't see it), RULE EXTRACTION (couldn't infer the pattern), or RULE APPLICATION (couldn't apply the rule). Aggregate accuracy conflates all three.</a:t>
            </a:r>
            <a:endParaRPr lang="en-US" sz="900" dirty="0"/>
          </a:p>
        </p:txBody>
      </p:sp>
      <p:sp>
        <p:nvSpPr>
          <p:cNvPr id="11" name="Shape 8"/>
          <p:cNvSpPr/>
          <p:nvPr/>
        </p:nvSpPr>
        <p:spPr>
          <a:xfrm>
            <a:off x="365760" y="2249424"/>
            <a:ext cx="8412480" cy="0"/>
          </a:xfrm>
          <a:prstGeom prst="line">
            <a:avLst/>
          </a:prstGeom>
          <a:noFill/>
          <a:ln w="6350">
            <a:solidFill>
              <a:srgbClr val="E2E8F0"/>
            </a:solidFill>
            <a:prstDash val="solid"/>
          </a:ln>
        </p:spPr>
      </p:sp>
      <p:sp>
        <p:nvSpPr>
          <p:cNvPr id="12" name="Text 9"/>
          <p:cNvSpPr/>
          <p:nvPr/>
        </p:nvSpPr>
        <p:spPr>
          <a:xfrm>
            <a:off x="365760" y="2267712"/>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Bottleneck</a:t>
            </a:r>
            <a:endParaRPr lang="en-US" sz="1000" dirty="0"/>
          </a:p>
        </p:txBody>
      </p:sp>
      <p:sp>
        <p:nvSpPr>
          <p:cNvPr id="13" name="Text 10"/>
          <p:cNvSpPr/>
          <p:nvPr/>
        </p:nvSpPr>
        <p:spPr>
          <a:xfrm>
            <a:off x="365760" y="2468880"/>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Standard evaluation gives one number that hides the failure locus; without decomposition, you can't target improvements.</a:t>
            </a:r>
            <a:endParaRPr lang="en-US" sz="900" dirty="0"/>
          </a:p>
        </p:txBody>
      </p:sp>
      <p:sp>
        <p:nvSpPr>
          <p:cNvPr id="14" name="Shape 11"/>
          <p:cNvSpPr/>
          <p:nvPr/>
        </p:nvSpPr>
        <p:spPr>
          <a:xfrm>
            <a:off x="365760" y="3145536"/>
            <a:ext cx="8412480" cy="0"/>
          </a:xfrm>
          <a:prstGeom prst="line">
            <a:avLst/>
          </a:prstGeom>
          <a:noFill/>
          <a:ln w="6350">
            <a:solidFill>
              <a:srgbClr val="E2E8F0"/>
            </a:solidFill>
            <a:prstDash val="solid"/>
          </a:ln>
        </p:spPr>
      </p:sp>
      <p:sp>
        <p:nvSpPr>
          <p:cNvPr id="15" name="Text 12"/>
          <p:cNvSpPr/>
          <p:nvPr/>
        </p:nvSpPr>
        <p:spPr>
          <a:xfrm>
            <a:off x="365760" y="316382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Novelty</a:t>
            </a:r>
            <a:endParaRPr lang="en-US" sz="1000" dirty="0"/>
          </a:p>
        </p:txBody>
      </p:sp>
      <p:sp>
        <p:nvSpPr>
          <p:cNvPr id="16" name="Text 13"/>
          <p:cNvSpPr/>
          <p:nvPr/>
        </p:nvSpPr>
        <p:spPr>
          <a:xfrm>
            <a:off x="365760" y="3364992"/>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Three paradigms of INCREASING COGNITIVE DECOMPOSITION: (1) DVRL — Direct Visual Reasoning: baseline VQA. (2) DRL — Deductive Reasoning: model explicitly states hypothesis then verifies. (3) CA — Componential Analysis: model produces a TASK-AGNOSTIC DESCRIPTION of the image first, then a separate reasoning stage uses ONLY that description. CA structurally separates perception from reasoning.</a:t>
            </a:r>
            <a:endParaRPr lang="en-US" sz="900" dirty="0"/>
          </a:p>
        </p:txBody>
      </p:sp>
      <p:sp>
        <p:nvSpPr>
          <p:cNvPr id="17" name="Shape 14"/>
          <p:cNvSpPr/>
          <p:nvPr/>
        </p:nvSpPr>
        <p:spPr>
          <a:xfrm>
            <a:off x="365760" y="4041648"/>
            <a:ext cx="8412480" cy="0"/>
          </a:xfrm>
          <a:prstGeom prst="line">
            <a:avLst/>
          </a:prstGeom>
          <a:noFill/>
          <a:ln w="6350">
            <a:solidFill>
              <a:srgbClr val="E2E8F0"/>
            </a:solidFill>
            <a:prstDash val="solid"/>
          </a:ln>
        </p:spPr>
      </p:sp>
      <p:sp>
        <p:nvSpPr>
          <p:cNvPr id="18" name="Text 15"/>
          <p:cNvSpPr/>
          <p:nvPr/>
        </p:nvSpPr>
        <p:spPr>
          <a:xfrm>
            <a:off x="365760" y="405993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Method</a:t>
            </a:r>
            <a:endParaRPr lang="en-US" sz="1000" dirty="0"/>
          </a:p>
        </p:txBody>
      </p:sp>
      <p:sp>
        <p:nvSpPr>
          <p:cNvPr id="19" name="Text 16"/>
          <p:cNvSpPr/>
          <p:nvPr/>
        </p:nvSpPr>
        <p:spPr>
          <a:xfrm>
            <a:off x="365760" y="4261104"/>
            <a:ext cx="8412480" cy="6583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For each task, run all three paradigms and compare. CA is the key innovation — the description is generated with NO knowledge of the specific downstream task, then a downstream reasoner (potentially a different model or a language-only model) works from the description. Ablate description quality by injecting noise or by using different describers.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37160"/>
            <a:ext cx="8412480" cy="457200"/>
          </a:xfrm>
          <a:prstGeom prst="roundRect">
            <a:avLst>
              <a:gd name="adj" fmla="val 12000"/>
            </a:avLst>
          </a:prstGeom>
          <a:solidFill>
            <a:srgbClr val="F59E0B"/>
          </a:solidFill>
          <a:ln/>
        </p:spPr>
      </p:sp>
      <p:pic>
        <p:nvPicPr>
          <p:cNvPr id="3" name="Image 0" descr="preencoded.png">    </p:cNvPr>
          <p:cNvPicPr>
            <a:picLocks noChangeAspect="1"/>
          </p:cNvPicPr>
          <p:nvPr/>
        </p:nvPicPr>
        <p:blipFill>
          <a:blip r:embed="rId1"/>
          <a:stretch>
            <a:fillRect/>
          </a:stretch>
        </p:blipFill>
        <p:spPr>
          <a:xfrm>
            <a:off x="502920" y="182880"/>
            <a:ext cx="274320" cy="274320"/>
          </a:xfrm>
          <a:prstGeom prst="rect">
            <a:avLst/>
          </a:prstGeom>
        </p:spPr>
      </p:pic>
      <p:sp>
        <p:nvSpPr>
          <p:cNvPr id="4" name="Text 1"/>
          <p:cNvSpPr/>
          <p:nvPr/>
        </p:nvSpPr>
        <p:spPr>
          <a:xfrm>
            <a:off x="868680" y="1371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Cognitive Paradigm</a:t>
            </a:r>
            <a:endParaRPr lang="en-US" sz="1600" dirty="0"/>
          </a:p>
        </p:txBody>
      </p:sp>
      <p:sp>
        <p:nvSpPr>
          <p:cNvPr id="5" name="Text 2"/>
          <p:cNvSpPr/>
          <p:nvPr/>
        </p:nvSpPr>
        <p:spPr>
          <a:xfrm>
            <a:off x="5760720" y="137160"/>
            <a:ext cx="2834640" cy="45720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arXiv 2025  •  Details &amp; Results</a:t>
            </a:r>
            <a:endParaRPr lang="en-US" sz="1000" dirty="0"/>
          </a:p>
        </p:txBody>
      </p:sp>
      <p:sp>
        <p:nvSpPr>
          <p:cNvPr id="6" name="Text 3"/>
          <p:cNvSpPr/>
          <p:nvPr/>
        </p:nvSpPr>
        <p:spPr>
          <a:xfrm>
            <a:off x="365760" y="621792"/>
            <a:ext cx="8412480" cy="201168"/>
          </a:xfrm>
          <a:prstGeom prst="rect">
            <a:avLst/>
          </a:prstGeom>
          <a:noFill/>
          <a:ln/>
        </p:spPr>
        <p:txBody>
          <a:bodyPr wrap="square" lIns="0" tIns="0" rIns="0" bIns="0" rtlCol="0" anchor="ctr"/>
          <a:lstStyle/>
          <a:p>
            <a:pPr indent="0" marL="0">
              <a:buNone/>
            </a:pPr>
            <a:r>
              <a:rPr lang="en-US" sz="900" i="1" dirty="0">
                <a:solidFill>
                  <a:srgbClr val="F59E0B"/>
                </a:solidFill>
                <a:latin typeface="Calibri" pitchFamily="34" charset="0"/>
                <a:ea typeface="Calibri" pitchFamily="34" charset="-122"/>
                <a:cs typeface="Calibri" pitchFamily="34" charset="-120"/>
              </a:rPr>
              <a:t>Faithfulness &amp; Process</a:t>
            </a:r>
            <a:endParaRPr lang="en-US" sz="900" dirty="0"/>
          </a:p>
        </p:txBody>
      </p:sp>
      <p:sp>
        <p:nvSpPr>
          <p:cNvPr id="7" name="Text 4"/>
          <p:cNvSpPr/>
          <p:nvPr/>
        </p:nvSpPr>
        <p:spPr>
          <a:xfrm>
            <a:off x="365760" y="914400"/>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Dataset</a:t>
            </a:r>
            <a:endParaRPr lang="en-US" sz="1000" dirty="0"/>
          </a:p>
        </p:txBody>
      </p:sp>
      <p:sp>
        <p:nvSpPr>
          <p:cNvPr id="8" name="Text 5"/>
          <p:cNvSpPr/>
          <p:nvPr/>
        </p:nvSpPr>
        <p:spPr>
          <a:xfrm>
            <a:off x="365760" y="1115568"/>
            <a:ext cx="8412480" cy="4846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Bongard-OpenWorld (open-ended visual concept learning), Bongard-HOI (human-object interaction concepts), Winoground (compositional linguistic-visual matching). Description-quality ablations.</a:t>
            </a:r>
            <a:endParaRPr lang="en-US" sz="900" dirty="0"/>
          </a:p>
        </p:txBody>
      </p:sp>
      <p:sp>
        <p:nvSpPr>
          <p:cNvPr id="9" name="Shape 6"/>
          <p:cNvSpPr/>
          <p:nvPr/>
        </p:nvSpPr>
        <p:spPr>
          <a:xfrm>
            <a:off x="365760" y="1645920"/>
            <a:ext cx="8412480" cy="0"/>
          </a:xfrm>
          <a:prstGeom prst="line">
            <a:avLst/>
          </a:prstGeom>
          <a:noFill/>
          <a:ln w="6350">
            <a:solidFill>
              <a:srgbClr val="E2E8F0"/>
            </a:solidFill>
            <a:prstDash val="solid"/>
          </a:ln>
        </p:spPr>
      </p:sp>
      <p:sp>
        <p:nvSpPr>
          <p:cNvPr id="10" name="Text 7"/>
          <p:cNvSpPr/>
          <p:nvPr/>
        </p:nvSpPr>
        <p:spPr>
          <a:xfrm>
            <a:off x="365760" y="1709928"/>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Evaluation &amp; Key Findings</a:t>
            </a:r>
            <a:endParaRPr lang="en-US" sz="1000" dirty="0"/>
          </a:p>
        </p:txBody>
      </p:sp>
      <p:sp>
        <p:nvSpPr>
          <p:cNvPr id="11" name="Text 8"/>
          <p:cNvSpPr/>
          <p:nvPr/>
        </p:nvSpPr>
        <p:spPr>
          <a:xfrm>
            <a:off x="365760" y="1911096"/>
            <a:ext cx="8412480" cy="12161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 (Componential Analysis) OUTPERFORMS less decomposed paradigms across tasks — decomposition helps. Description QUALITY is a major determinant of accuracy — better descriptions → better final answers. This suggests perception (description generation) is a significant bottleneck. But: the fact that description helps at all shows perception was underused in DVRL.</a:t>
            </a:r>
            <a:endParaRPr lang="en-US" sz="900" dirty="0"/>
          </a:p>
        </p:txBody>
      </p:sp>
      <p:sp>
        <p:nvSpPr>
          <p:cNvPr id="12" name="Shape 9"/>
          <p:cNvSpPr/>
          <p:nvPr/>
        </p:nvSpPr>
        <p:spPr>
          <a:xfrm>
            <a:off x="365760" y="3172968"/>
            <a:ext cx="8412480" cy="0"/>
          </a:xfrm>
          <a:prstGeom prst="line">
            <a:avLst/>
          </a:prstGeom>
          <a:noFill/>
          <a:ln w="6350">
            <a:solidFill>
              <a:srgbClr val="E2E8F0"/>
            </a:solidFill>
            <a:prstDash val="solid"/>
          </a:ln>
        </p:spPr>
      </p:sp>
      <p:sp>
        <p:nvSpPr>
          <p:cNvPr id="13" name="Text 10"/>
          <p:cNvSpPr/>
          <p:nvPr/>
        </p:nvSpPr>
        <p:spPr>
          <a:xfrm>
            <a:off x="365760" y="3236976"/>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Limitation</a:t>
            </a:r>
            <a:endParaRPr lang="en-US" sz="1000" dirty="0"/>
          </a:p>
        </p:txBody>
      </p:sp>
      <p:sp>
        <p:nvSpPr>
          <p:cNvPr id="14" name="Text 11"/>
          <p:cNvSpPr/>
          <p:nvPr/>
        </p:nvSpPr>
        <p:spPr>
          <a:xfrm>
            <a:off x="365760" y="3438144"/>
            <a:ext cx="8412480" cy="62179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Tests reasoning over DESCRIPTIONS, not the VLM's native reasoning process — you're measuring how well descriptions serve reasoning, not how well VLMs internally reason. Descriptions may INJECT task-relevant structure the perception step alone wouldn't have provided. Whether real VLMs internally do this decomposition is untested.</a:t>
            </a:r>
            <a:endParaRPr lang="en-US" sz="900" dirty="0"/>
          </a:p>
        </p:txBody>
      </p:sp>
      <p:sp>
        <p:nvSpPr>
          <p:cNvPr id="15" name="Shape 12"/>
          <p:cNvSpPr/>
          <p:nvPr/>
        </p:nvSpPr>
        <p:spPr>
          <a:xfrm>
            <a:off x="365760" y="4105656"/>
            <a:ext cx="8412480" cy="0"/>
          </a:xfrm>
          <a:prstGeom prst="line">
            <a:avLst/>
          </a:prstGeom>
          <a:noFill/>
          <a:ln w="6350">
            <a:solidFill>
              <a:srgbClr val="E2E8F0"/>
            </a:solidFill>
            <a:prstDash val="solid"/>
          </a:ln>
        </p:spPr>
      </p:sp>
      <p:sp>
        <p:nvSpPr>
          <p:cNvPr id="16" name="Text 13"/>
          <p:cNvSpPr/>
          <p:nvPr/>
        </p:nvSpPr>
        <p:spPr>
          <a:xfrm>
            <a:off x="365760" y="4169664"/>
            <a:ext cx="8412480" cy="201168"/>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Open Questions</a:t>
            </a:r>
            <a:endParaRPr lang="en-US" sz="1000" dirty="0"/>
          </a:p>
        </p:txBody>
      </p:sp>
      <p:sp>
        <p:nvSpPr>
          <p:cNvPr id="17" name="Text 14"/>
          <p:cNvSpPr/>
          <p:nvPr/>
        </p:nvSpPr>
        <p:spPr>
          <a:xfrm>
            <a:off x="365760" y="4370832"/>
            <a:ext cx="8412480" cy="53035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Can this template diagnose whether OCCLUSION failures are perceptual or reasoning-level? Do internal VLM computations naturally follow this three-stage decomposition, or is CA an external prosthesis?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731520" y="457200"/>
            <a:ext cx="73152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Cross-Paper Pattern</a:t>
            </a:r>
            <a:endParaRPr lang="en-US" sz="2800" dirty="0"/>
          </a:p>
        </p:txBody>
      </p:sp>
      <p:sp>
        <p:nvSpPr>
          <p:cNvPr id="3" name="Shape 1"/>
          <p:cNvSpPr/>
          <p:nvPr/>
        </p:nvSpPr>
        <p:spPr>
          <a:xfrm>
            <a:off x="731520" y="1280160"/>
            <a:ext cx="7680960" cy="914400"/>
          </a:xfrm>
          <a:prstGeom prst="roundRect">
            <a:avLst>
              <a:gd name="adj" fmla="val 10000"/>
            </a:avLst>
          </a:prstGeom>
          <a:solidFill>
            <a:srgbClr val="1B9AAA">
              <a:alpha val="25000"/>
            </a:srgbClr>
          </a:solidFill>
          <a:ln w="19050">
            <a:solidFill>
              <a:srgbClr val="1B9AAA"/>
            </a:solidFill>
            <a:prstDash val="solid"/>
          </a:ln>
        </p:spPr>
      </p:sp>
      <p:sp>
        <p:nvSpPr>
          <p:cNvPr id="4" name="Text 2"/>
          <p:cNvSpPr/>
          <p:nvPr/>
        </p:nvSpPr>
        <p:spPr>
          <a:xfrm>
            <a:off x="914400" y="1371600"/>
            <a:ext cx="7315200" cy="73152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Performance improves when a model gets better structure, geometry, or grounding — but evidence rarely identifies which variable is actually used, whether it remains consistent under intervention, or whether it generalizes.</a:t>
            </a:r>
            <a:endParaRPr lang="en-US" sz="1300" dirty="0"/>
          </a:p>
        </p:txBody>
      </p:sp>
      <p:sp>
        <p:nvSpPr>
          <p:cNvPr id="5" name="Text 3"/>
          <p:cNvSpPr/>
          <p:nvPr/>
        </p:nvSpPr>
        <p:spPr>
          <a:xfrm>
            <a:off x="731520" y="2468880"/>
            <a:ext cx="7315200" cy="365760"/>
          </a:xfrm>
          <a:prstGeom prst="rect">
            <a:avLst/>
          </a:prstGeom>
          <a:noFill/>
          <a:ln/>
        </p:spPr>
        <p:txBody>
          <a:bodyPr wrap="square" rtlCol="0" anchor="ctr"/>
          <a:lstStyle/>
          <a:p>
            <a:pPr indent="0" marL="0">
              <a:buNone/>
            </a:pPr>
            <a:r>
              <a:rPr lang="en-US" sz="1400" b="1" dirty="0">
                <a:solidFill>
                  <a:srgbClr val="F6AD55"/>
                </a:solidFill>
                <a:latin typeface="Calibri" pitchFamily="34" charset="0"/>
                <a:ea typeface="Calibri" pitchFamily="34" charset="-122"/>
                <a:cs typeface="Calibri" pitchFamily="34" charset="-120"/>
              </a:rPr>
              <a:t>Two competing explanations for every improvement:</a:t>
            </a:r>
            <a:endParaRPr lang="en-US" sz="1400" dirty="0"/>
          </a:p>
        </p:txBody>
      </p:sp>
      <p:sp>
        <p:nvSpPr>
          <p:cNvPr id="6" name="Shape 4"/>
          <p:cNvSpPr/>
          <p:nvPr/>
        </p:nvSpPr>
        <p:spPr>
          <a:xfrm>
            <a:off x="731520" y="2926080"/>
            <a:ext cx="3657600" cy="1005840"/>
          </a:xfrm>
          <a:prstGeom prst="roundRect">
            <a:avLst>
              <a:gd name="adj" fmla="val 7273"/>
            </a:avLst>
          </a:prstGeom>
          <a:solidFill>
            <a:srgbClr val="8B5CF6">
              <a:alpha val="25000"/>
            </a:srgbClr>
          </a:solidFill>
          <a:ln w="12700">
            <a:solidFill>
              <a:srgbClr val="8B5CF6"/>
            </a:solidFill>
            <a:prstDash val="solid"/>
          </a:ln>
        </p:spPr>
      </p:sp>
      <p:sp>
        <p:nvSpPr>
          <p:cNvPr id="7" name="Text 5"/>
          <p:cNvSpPr/>
          <p:nvPr/>
        </p:nvSpPr>
        <p:spPr>
          <a:xfrm>
            <a:off x="914400" y="2971800"/>
            <a:ext cx="329184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Representation Hypothesis</a:t>
            </a:r>
            <a:endParaRPr lang="en-US" sz="1300" dirty="0"/>
          </a:p>
        </p:txBody>
      </p:sp>
      <p:sp>
        <p:nvSpPr>
          <p:cNvPr id="8" name="Text 6"/>
          <p:cNvSpPr/>
          <p:nvPr/>
        </p:nvSpPr>
        <p:spPr>
          <a:xfrm>
            <a:off x="914400" y="3291840"/>
            <a:ext cx="3291840" cy="502920"/>
          </a:xfrm>
          <a:prstGeom prst="rect">
            <a:avLst/>
          </a:prstGeom>
          <a:noFill/>
          <a:ln/>
        </p:spPr>
        <p:txBody>
          <a:bodyPr wrap="square" rtlCol="0" anchor="ctr"/>
          <a:lstStyle/>
          <a:p>
            <a:pPr indent="0" marL="0">
              <a:buNone/>
            </a:pPr>
            <a:r>
              <a:rPr lang="en-US" sz="1100" dirty="0">
                <a:solidFill>
                  <a:srgbClr val="CBD5E0"/>
                </a:solidFill>
                <a:latin typeface="Calibri" pitchFamily="34" charset="0"/>
                <a:ea typeface="Calibri" pitchFamily="34" charset="-122"/>
                <a:cs typeface="Calibri" pitchFamily="34" charset="-120"/>
              </a:rPr>
              <a:t>Structure supplies a spatial state the model needs for reasoning.</a:t>
            </a:r>
            <a:endParaRPr lang="en-US" sz="1100" dirty="0"/>
          </a:p>
        </p:txBody>
      </p:sp>
      <p:sp>
        <p:nvSpPr>
          <p:cNvPr id="9" name="Text 7"/>
          <p:cNvSpPr/>
          <p:nvPr/>
        </p:nvSpPr>
        <p:spPr>
          <a:xfrm>
            <a:off x="4114800" y="3200400"/>
            <a:ext cx="731520" cy="365760"/>
          </a:xfrm>
          <a:prstGeom prst="rect">
            <a:avLst/>
          </a:prstGeom>
          <a:noFill/>
          <a:ln/>
        </p:spPr>
        <p:txBody>
          <a:bodyPr wrap="square" rtlCol="0" anchor="ctr"/>
          <a:lstStyle/>
          <a:p>
            <a:pPr algn="ctr" indent="0" marL="0">
              <a:buNone/>
            </a:pPr>
            <a:r>
              <a:rPr lang="en-US" sz="1400" b="1" dirty="0">
                <a:solidFill>
                  <a:srgbClr val="E8715A"/>
                </a:solidFill>
                <a:latin typeface="Calibri" pitchFamily="34" charset="0"/>
                <a:ea typeface="Calibri" pitchFamily="34" charset="-122"/>
                <a:cs typeface="Calibri" pitchFamily="34" charset="-120"/>
              </a:rPr>
              <a:t>vs</a:t>
            </a:r>
            <a:endParaRPr lang="en-US" sz="1400" dirty="0"/>
          </a:p>
        </p:txBody>
      </p:sp>
      <p:sp>
        <p:nvSpPr>
          <p:cNvPr id="10" name="Shape 8"/>
          <p:cNvSpPr/>
          <p:nvPr/>
        </p:nvSpPr>
        <p:spPr>
          <a:xfrm>
            <a:off x="4754880" y="2926080"/>
            <a:ext cx="3657600" cy="1005840"/>
          </a:xfrm>
          <a:prstGeom prst="roundRect">
            <a:avLst>
              <a:gd name="adj" fmla="val 7273"/>
            </a:avLst>
          </a:prstGeom>
          <a:solidFill>
            <a:srgbClr val="F59E0B">
              <a:alpha val="25000"/>
            </a:srgbClr>
          </a:solidFill>
          <a:ln w="12700">
            <a:solidFill>
              <a:srgbClr val="F59E0B"/>
            </a:solidFill>
            <a:prstDash val="solid"/>
          </a:ln>
        </p:spPr>
      </p:sp>
      <p:sp>
        <p:nvSpPr>
          <p:cNvPr id="11" name="Text 9"/>
          <p:cNvSpPr/>
          <p:nvPr/>
        </p:nvSpPr>
        <p:spPr>
          <a:xfrm>
            <a:off x="4937760" y="2971800"/>
            <a:ext cx="329184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Interface Hypothesis</a:t>
            </a:r>
            <a:endParaRPr lang="en-US" sz="1300" dirty="0"/>
          </a:p>
        </p:txBody>
      </p:sp>
      <p:sp>
        <p:nvSpPr>
          <p:cNvPr id="12" name="Text 10"/>
          <p:cNvSpPr/>
          <p:nvPr/>
        </p:nvSpPr>
        <p:spPr>
          <a:xfrm>
            <a:off x="4937760" y="3291840"/>
            <a:ext cx="3291840" cy="502920"/>
          </a:xfrm>
          <a:prstGeom prst="rect">
            <a:avLst/>
          </a:prstGeom>
          <a:noFill/>
          <a:ln/>
        </p:spPr>
        <p:txBody>
          <a:bodyPr wrap="square" rtlCol="0" anchor="ctr"/>
          <a:lstStyle/>
          <a:p>
            <a:pPr indent="0" marL="0">
              <a:buNone/>
            </a:pPr>
            <a:r>
              <a:rPr lang="en-US" sz="1100" dirty="0">
                <a:solidFill>
                  <a:srgbClr val="CBD5E0"/>
                </a:solidFill>
                <a:latin typeface="Calibri" pitchFamily="34" charset="0"/>
                <a:ea typeface="Calibri" pitchFamily="34" charset="-122"/>
                <a:cs typeface="Calibri" pitchFamily="34" charset="-120"/>
              </a:rPr>
              <a:t>Structure mainly regularizes decoding, removes ambiguity, or supplies task cues.</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4864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Five Key Research Tensions</a:t>
            </a:r>
            <a:endParaRPr lang="en-US" sz="2600" dirty="0"/>
          </a:p>
        </p:txBody>
      </p:sp>
      <p:sp>
        <p:nvSpPr>
          <p:cNvPr id="3" name="Shape 1"/>
          <p:cNvSpPr/>
          <p:nvPr/>
        </p:nvSpPr>
        <p:spPr>
          <a:xfrm>
            <a:off x="640080" y="960120"/>
            <a:ext cx="457200" cy="594360"/>
          </a:xfrm>
          <a:prstGeom prst="roundRect">
            <a:avLst>
              <a:gd name="adj" fmla="val 10000"/>
            </a:avLst>
          </a:prstGeom>
          <a:solidFill>
            <a:srgbClr val="1B9AAA"/>
          </a:solidFill>
          <a:ln/>
        </p:spPr>
      </p:sp>
      <p:sp>
        <p:nvSpPr>
          <p:cNvPr id="4" name="Text 2"/>
          <p:cNvSpPr/>
          <p:nvPr/>
        </p:nvSpPr>
        <p:spPr>
          <a:xfrm>
            <a:off x="640080" y="960120"/>
            <a:ext cx="457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T1</a:t>
            </a:r>
            <a:endParaRPr lang="en-US" sz="1200" dirty="0"/>
          </a:p>
        </p:txBody>
      </p:sp>
      <p:sp>
        <p:nvSpPr>
          <p:cNvPr id="5" name="Text 3"/>
          <p:cNvSpPr/>
          <p:nvPr/>
        </p:nvSpPr>
        <p:spPr>
          <a:xfrm>
            <a:off x="1234440" y="914400"/>
            <a:ext cx="2743200" cy="27432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Representation vs Interface</a:t>
            </a:r>
            <a:endParaRPr lang="en-US" sz="1300" dirty="0"/>
          </a:p>
        </p:txBody>
      </p:sp>
      <p:sp>
        <p:nvSpPr>
          <p:cNvPr id="6" name="Text 4"/>
          <p:cNvSpPr/>
          <p:nvPr/>
        </p:nvSpPr>
        <p:spPr>
          <a:xfrm>
            <a:off x="1234440" y="1170432"/>
            <a:ext cx="4389120" cy="36576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Do graphs/tokens improve reasoning because they encode spatial state, or because they simplify output?</a:t>
            </a:r>
            <a:endParaRPr lang="en-US" sz="1000" dirty="0"/>
          </a:p>
        </p:txBody>
      </p:sp>
      <p:sp>
        <p:nvSpPr>
          <p:cNvPr id="7" name="Text 5"/>
          <p:cNvSpPr/>
          <p:nvPr/>
        </p:nvSpPr>
        <p:spPr>
          <a:xfrm>
            <a:off x="5760720" y="1005840"/>
            <a:ext cx="2926080" cy="45720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SPOT, SpatialRGPT, SpatiaLQA, GR3D</a:t>
            </a:r>
            <a:endParaRPr lang="en-US" sz="900" dirty="0"/>
          </a:p>
        </p:txBody>
      </p:sp>
      <p:sp>
        <p:nvSpPr>
          <p:cNvPr id="8" name="Shape 6"/>
          <p:cNvSpPr/>
          <p:nvPr/>
        </p:nvSpPr>
        <p:spPr>
          <a:xfrm>
            <a:off x="640080" y="1764792"/>
            <a:ext cx="457200" cy="594360"/>
          </a:xfrm>
          <a:prstGeom prst="roundRect">
            <a:avLst>
              <a:gd name="adj" fmla="val 10000"/>
            </a:avLst>
          </a:prstGeom>
          <a:solidFill>
            <a:srgbClr val="1B9AAA"/>
          </a:solidFill>
          <a:ln/>
        </p:spPr>
      </p:sp>
      <p:sp>
        <p:nvSpPr>
          <p:cNvPr id="9" name="Text 7"/>
          <p:cNvSpPr/>
          <p:nvPr/>
        </p:nvSpPr>
        <p:spPr>
          <a:xfrm>
            <a:off x="640080" y="1764792"/>
            <a:ext cx="457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10" name="Text 8"/>
          <p:cNvSpPr/>
          <p:nvPr/>
        </p:nvSpPr>
        <p:spPr>
          <a:xfrm>
            <a:off x="1234440" y="1719072"/>
            <a:ext cx="2743200" cy="27432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Geometry vs Visibility-Aware State</a:t>
            </a:r>
            <a:endParaRPr lang="en-US" sz="1300" dirty="0"/>
          </a:p>
        </p:txBody>
      </p:sp>
      <p:sp>
        <p:nvSpPr>
          <p:cNvPr id="11" name="Text 9"/>
          <p:cNvSpPr/>
          <p:nvPr/>
        </p:nvSpPr>
        <p:spPr>
          <a:xfrm>
            <a:off x="1234440" y="1975104"/>
            <a:ext cx="4389120" cy="36576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Is depth/reconstruction sufficient, or does occlusion require a distinct relational visibility state?</a:t>
            </a:r>
            <a:endParaRPr lang="en-US" sz="1000" dirty="0"/>
          </a:p>
        </p:txBody>
      </p:sp>
      <p:sp>
        <p:nvSpPr>
          <p:cNvPr id="12" name="Text 10"/>
          <p:cNvSpPr/>
          <p:nvPr/>
        </p:nvSpPr>
        <p:spPr>
          <a:xfrm>
            <a:off x="5760720" y="1810512"/>
            <a:ext cx="2926080" cy="45720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SpatialVLM, G²VLM, VLM-3R vs O-Bench, CAPTURe, SpatialMosaic</a:t>
            </a:r>
            <a:endParaRPr lang="en-US" sz="900" dirty="0"/>
          </a:p>
        </p:txBody>
      </p:sp>
      <p:sp>
        <p:nvSpPr>
          <p:cNvPr id="13" name="Shape 11"/>
          <p:cNvSpPr/>
          <p:nvPr/>
        </p:nvSpPr>
        <p:spPr>
          <a:xfrm>
            <a:off x="640080" y="2569464"/>
            <a:ext cx="457200" cy="594360"/>
          </a:xfrm>
          <a:prstGeom prst="roundRect">
            <a:avLst>
              <a:gd name="adj" fmla="val 10000"/>
            </a:avLst>
          </a:prstGeom>
          <a:solidFill>
            <a:srgbClr val="1B9AAA"/>
          </a:solidFill>
          <a:ln/>
        </p:spPr>
      </p:sp>
      <p:sp>
        <p:nvSpPr>
          <p:cNvPr id="14" name="Text 12"/>
          <p:cNvSpPr/>
          <p:nvPr/>
        </p:nvSpPr>
        <p:spPr>
          <a:xfrm>
            <a:off x="640080" y="2569464"/>
            <a:ext cx="457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15" name="Text 13"/>
          <p:cNvSpPr/>
          <p:nvPr/>
        </p:nvSpPr>
        <p:spPr>
          <a:xfrm>
            <a:off x="1234440" y="2523744"/>
            <a:ext cx="2743200" cy="27432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Static Accuracy vs Dynamic Update</a:t>
            </a:r>
            <a:endParaRPr lang="en-US" sz="1300" dirty="0"/>
          </a:p>
        </p:txBody>
      </p:sp>
      <p:sp>
        <p:nvSpPr>
          <p:cNvPr id="16" name="Text 14"/>
          <p:cNvSpPr/>
          <p:nvPr/>
        </p:nvSpPr>
        <p:spPr>
          <a:xfrm>
            <a:off x="1234440" y="2779776"/>
            <a:ext cx="4389120" cy="36576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Correct static answers may come from local cues without maintaining persistent spatial state.</a:t>
            </a:r>
            <a:endParaRPr lang="en-US" sz="1000" dirty="0"/>
          </a:p>
        </p:txBody>
      </p:sp>
      <p:sp>
        <p:nvSpPr>
          <p:cNvPr id="17" name="Text 15"/>
          <p:cNvSpPr/>
          <p:nvPr/>
        </p:nvSpPr>
        <p:spPr>
          <a:xfrm>
            <a:off x="5760720" y="2615184"/>
            <a:ext cx="2926080" cy="45720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SpatiaLQA, EmbodiedVSR, Think3D</a:t>
            </a:r>
            <a:endParaRPr lang="en-US" sz="900" dirty="0"/>
          </a:p>
        </p:txBody>
      </p:sp>
      <p:sp>
        <p:nvSpPr>
          <p:cNvPr id="18" name="Shape 16"/>
          <p:cNvSpPr/>
          <p:nvPr/>
        </p:nvSpPr>
        <p:spPr>
          <a:xfrm>
            <a:off x="640080" y="3374136"/>
            <a:ext cx="457200" cy="594360"/>
          </a:xfrm>
          <a:prstGeom prst="roundRect">
            <a:avLst>
              <a:gd name="adj" fmla="val 10000"/>
            </a:avLst>
          </a:prstGeom>
          <a:solidFill>
            <a:srgbClr val="1B9AAA"/>
          </a:solidFill>
          <a:ln/>
        </p:spPr>
      </p:sp>
      <p:sp>
        <p:nvSpPr>
          <p:cNvPr id="19" name="Text 17"/>
          <p:cNvSpPr/>
          <p:nvPr/>
        </p:nvSpPr>
        <p:spPr>
          <a:xfrm>
            <a:off x="640080" y="3374136"/>
            <a:ext cx="457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T4</a:t>
            </a:r>
            <a:endParaRPr lang="en-US" sz="1200" dirty="0"/>
          </a:p>
        </p:txBody>
      </p:sp>
      <p:sp>
        <p:nvSpPr>
          <p:cNvPr id="20" name="Text 18"/>
          <p:cNvSpPr/>
          <p:nvPr/>
        </p:nvSpPr>
        <p:spPr>
          <a:xfrm>
            <a:off x="1234440" y="3328416"/>
            <a:ext cx="2743200" cy="27432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Decodability vs Causal Use</a:t>
            </a:r>
            <a:endParaRPr lang="en-US" sz="1300" dirty="0"/>
          </a:p>
        </p:txBody>
      </p:sp>
      <p:sp>
        <p:nvSpPr>
          <p:cNvPr id="21" name="Text 19"/>
          <p:cNvSpPr/>
          <p:nvPr/>
        </p:nvSpPr>
        <p:spPr>
          <a:xfrm>
            <a:off x="1234440" y="3584448"/>
            <a:ext cx="4389120" cy="36576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 probe can recover a spatial variable even when the model doesn't use it for reasoning.</a:t>
            </a:r>
            <a:endParaRPr lang="en-US" sz="1000" dirty="0"/>
          </a:p>
        </p:txBody>
      </p:sp>
      <p:sp>
        <p:nvSpPr>
          <p:cNvPr id="22" name="Text 20"/>
          <p:cNvSpPr/>
          <p:nvPr/>
        </p:nvSpPr>
        <p:spPr>
          <a:xfrm>
            <a:off x="5760720" y="3419856"/>
            <a:ext cx="2926080" cy="45720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Structural Graph Probing, Cognitive Paradigm</a:t>
            </a:r>
            <a:endParaRPr lang="en-US" sz="900" dirty="0"/>
          </a:p>
        </p:txBody>
      </p:sp>
      <p:sp>
        <p:nvSpPr>
          <p:cNvPr id="23" name="Shape 21"/>
          <p:cNvSpPr/>
          <p:nvPr/>
        </p:nvSpPr>
        <p:spPr>
          <a:xfrm>
            <a:off x="640080" y="4178808"/>
            <a:ext cx="457200" cy="594360"/>
          </a:xfrm>
          <a:prstGeom prst="roundRect">
            <a:avLst>
              <a:gd name="adj" fmla="val 10000"/>
            </a:avLst>
          </a:prstGeom>
          <a:solidFill>
            <a:srgbClr val="1B9AAA"/>
          </a:solidFill>
          <a:ln/>
        </p:spPr>
      </p:sp>
      <p:sp>
        <p:nvSpPr>
          <p:cNvPr id="24" name="Text 22"/>
          <p:cNvSpPr/>
          <p:nvPr/>
        </p:nvSpPr>
        <p:spPr>
          <a:xfrm>
            <a:off x="640080" y="4178808"/>
            <a:ext cx="457200" cy="5943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T5</a:t>
            </a:r>
            <a:endParaRPr lang="en-US" sz="1200" dirty="0"/>
          </a:p>
        </p:txBody>
      </p:sp>
      <p:sp>
        <p:nvSpPr>
          <p:cNvPr id="25" name="Text 23"/>
          <p:cNvSpPr/>
          <p:nvPr/>
        </p:nvSpPr>
        <p:spPr>
          <a:xfrm>
            <a:off x="1234440" y="4133088"/>
            <a:ext cx="2743200" cy="27432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Benchmark Difficulty vs Validity</a:t>
            </a:r>
            <a:endParaRPr lang="en-US" sz="1300" dirty="0"/>
          </a:p>
        </p:txBody>
      </p:sp>
      <p:sp>
        <p:nvSpPr>
          <p:cNvPr id="26" name="Text 24"/>
          <p:cNvSpPr/>
          <p:nvPr/>
        </p:nvSpPr>
        <p:spPr>
          <a:xfrm>
            <a:off x="1234440" y="4389120"/>
            <a:ext cx="4389120" cy="36576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Poor scores may indicate genuine deficits — or task formulation artifacts and parsing errors.</a:t>
            </a:r>
            <a:endParaRPr lang="en-US" sz="1000" dirty="0"/>
          </a:p>
        </p:txBody>
      </p:sp>
      <p:sp>
        <p:nvSpPr>
          <p:cNvPr id="27" name="Text 25"/>
          <p:cNvSpPr/>
          <p:nvPr/>
        </p:nvSpPr>
        <p:spPr>
          <a:xfrm>
            <a:off x="5760720" y="4224528"/>
            <a:ext cx="2926080" cy="45720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Mind the Gap, OmniSpatial, O-Bench, InfiniBench</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rtlCol="0" anchor="ctr"/>
          <a:lstStyle/>
          <a:p>
            <a:pPr indent="0" marL="0">
              <a:buNone/>
            </a:pPr>
            <a:r>
              <a:rPr lang="en-US" sz="2400" b="1" dirty="0">
                <a:solidFill>
                  <a:srgbClr val="1A202C"/>
                </a:solidFill>
                <a:latin typeface="Calibri" pitchFamily="34" charset="0"/>
                <a:ea typeface="Calibri" pitchFamily="34" charset="-122"/>
                <a:cs typeface="Calibri" pitchFamily="34" charset="-120"/>
              </a:rPr>
              <a:t>What do we mean by "spatial understanding"?</a:t>
            </a:r>
            <a:endParaRPr lang="en-US" sz="2400" dirty="0"/>
          </a:p>
        </p:txBody>
      </p:sp>
      <p:sp>
        <p:nvSpPr>
          <p:cNvPr id="3" name="Text 1"/>
          <p:cNvSpPr/>
          <p:nvPr/>
        </p:nvSpPr>
        <p:spPr>
          <a:xfrm>
            <a:off x="640080" y="777240"/>
            <a:ext cx="8229600" cy="32004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The field has no shared definition. Different papers implicitly mean different things — five roughly separable meanings:</a:t>
            </a:r>
            <a:endParaRPr lang="en-US" sz="1100" dirty="0"/>
          </a:p>
        </p:txBody>
      </p:sp>
      <p:sp>
        <p:nvSpPr>
          <p:cNvPr id="4" name="Shape 2"/>
          <p:cNvSpPr/>
          <p:nvPr/>
        </p:nvSpPr>
        <p:spPr>
          <a:xfrm>
            <a:off x="640080" y="1188720"/>
            <a:ext cx="7863840" cy="566928"/>
          </a:xfrm>
          <a:prstGeom prst="roundRect">
            <a:avLst>
              <a:gd name="adj" fmla="val 9677"/>
            </a:avLst>
          </a:prstGeom>
          <a:solidFill>
            <a:srgbClr val="F0F4F8"/>
          </a:solidFill>
          <a:ln/>
        </p:spPr>
      </p:sp>
      <p:sp>
        <p:nvSpPr>
          <p:cNvPr id="5" name="Shape 3"/>
          <p:cNvSpPr/>
          <p:nvPr/>
        </p:nvSpPr>
        <p:spPr>
          <a:xfrm>
            <a:off x="777240" y="1316736"/>
            <a:ext cx="320040" cy="320040"/>
          </a:xfrm>
          <a:prstGeom prst="ellipse">
            <a:avLst/>
          </a:prstGeom>
          <a:solidFill>
            <a:srgbClr val="3B82F6"/>
          </a:solidFill>
          <a:ln/>
        </p:spPr>
      </p:sp>
      <p:sp>
        <p:nvSpPr>
          <p:cNvPr id="6" name="Text 4"/>
          <p:cNvSpPr/>
          <p:nvPr/>
        </p:nvSpPr>
        <p:spPr>
          <a:xfrm>
            <a:off x="777240" y="1316736"/>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34440" y="1234440"/>
            <a:ext cx="2468880" cy="25603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Behavioral competence</a:t>
            </a:r>
            <a:endParaRPr lang="en-US" sz="1200" dirty="0"/>
          </a:p>
        </p:txBody>
      </p:sp>
      <p:sp>
        <p:nvSpPr>
          <p:cNvPr id="8" name="Text 6"/>
          <p:cNvSpPr/>
          <p:nvPr/>
        </p:nvSpPr>
        <p:spPr>
          <a:xfrm>
            <a:off x="1234440" y="1481328"/>
            <a:ext cx="5120640"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model answers spatial questions correctly.</a:t>
            </a:r>
            <a:endParaRPr lang="en-US" sz="1000" dirty="0"/>
          </a:p>
        </p:txBody>
      </p:sp>
      <p:sp>
        <p:nvSpPr>
          <p:cNvPr id="9" name="Text 7"/>
          <p:cNvSpPr/>
          <p:nvPr/>
        </p:nvSpPr>
        <p:spPr>
          <a:xfrm>
            <a:off x="6400800" y="1344168"/>
            <a:ext cx="2011680" cy="27432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Most benchmarks</a:t>
            </a:r>
            <a:endParaRPr lang="en-US" sz="900" dirty="0"/>
          </a:p>
        </p:txBody>
      </p:sp>
      <p:sp>
        <p:nvSpPr>
          <p:cNvPr id="10" name="Shape 8"/>
          <p:cNvSpPr/>
          <p:nvPr/>
        </p:nvSpPr>
        <p:spPr>
          <a:xfrm>
            <a:off x="640080" y="1847088"/>
            <a:ext cx="7863840" cy="566928"/>
          </a:xfrm>
          <a:prstGeom prst="roundRect">
            <a:avLst>
              <a:gd name="adj" fmla="val 9677"/>
            </a:avLst>
          </a:prstGeom>
          <a:solidFill>
            <a:srgbClr val="F0F4F8"/>
          </a:solidFill>
          <a:ln/>
        </p:spPr>
      </p:sp>
      <p:sp>
        <p:nvSpPr>
          <p:cNvPr id="11" name="Shape 9"/>
          <p:cNvSpPr/>
          <p:nvPr/>
        </p:nvSpPr>
        <p:spPr>
          <a:xfrm>
            <a:off x="777240" y="1975104"/>
            <a:ext cx="320040" cy="320040"/>
          </a:xfrm>
          <a:prstGeom prst="ellipse">
            <a:avLst/>
          </a:prstGeom>
          <a:solidFill>
            <a:srgbClr val="8B5CF6"/>
          </a:solidFill>
          <a:ln/>
        </p:spPr>
      </p:sp>
      <p:sp>
        <p:nvSpPr>
          <p:cNvPr id="12" name="Text 10"/>
          <p:cNvSpPr/>
          <p:nvPr/>
        </p:nvSpPr>
        <p:spPr>
          <a:xfrm>
            <a:off x="777240" y="1975104"/>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34440" y="1892808"/>
            <a:ext cx="2468880" cy="256032"/>
          </a:xfrm>
          <a:prstGeom prst="rect">
            <a:avLst/>
          </a:prstGeom>
          <a:noFill/>
          <a:ln/>
        </p:spPr>
        <p:txBody>
          <a:bodyPr wrap="square" lIns="0" tIns="0" rIns="0" bIns="0" rtlCol="0" anchor="ctr"/>
          <a:lstStyle/>
          <a:p>
            <a:pPr indent="0" marL="0">
              <a:buNone/>
            </a:pPr>
            <a:r>
              <a:rPr lang="en-US" sz="1200" b="1" dirty="0">
                <a:solidFill>
                  <a:srgbClr val="8B5CF6"/>
                </a:solidFill>
                <a:latin typeface="Calibri" pitchFamily="34" charset="0"/>
                <a:ea typeface="Calibri" pitchFamily="34" charset="-122"/>
                <a:cs typeface="Calibri" pitchFamily="34" charset="-120"/>
              </a:rPr>
              <a:t>Decodable representation</a:t>
            </a:r>
            <a:endParaRPr lang="en-US" sz="1200" dirty="0"/>
          </a:p>
        </p:txBody>
      </p:sp>
      <p:sp>
        <p:nvSpPr>
          <p:cNvPr id="14" name="Text 12"/>
          <p:cNvSpPr/>
          <p:nvPr/>
        </p:nvSpPr>
        <p:spPr>
          <a:xfrm>
            <a:off x="1234440" y="2139696"/>
            <a:ext cx="5120640"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Spatial info is recoverable from internal states.</a:t>
            </a:r>
            <a:endParaRPr lang="en-US" sz="1000" dirty="0"/>
          </a:p>
        </p:txBody>
      </p:sp>
      <p:sp>
        <p:nvSpPr>
          <p:cNvPr id="15" name="Text 13"/>
          <p:cNvSpPr/>
          <p:nvPr/>
        </p:nvSpPr>
        <p:spPr>
          <a:xfrm>
            <a:off x="6400800" y="2002536"/>
            <a:ext cx="2011680" cy="27432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Probing work</a:t>
            </a:r>
            <a:endParaRPr lang="en-US" sz="900" dirty="0"/>
          </a:p>
        </p:txBody>
      </p:sp>
      <p:sp>
        <p:nvSpPr>
          <p:cNvPr id="16" name="Shape 14"/>
          <p:cNvSpPr/>
          <p:nvPr/>
        </p:nvSpPr>
        <p:spPr>
          <a:xfrm>
            <a:off x="640080" y="2505456"/>
            <a:ext cx="7863840" cy="566928"/>
          </a:xfrm>
          <a:prstGeom prst="roundRect">
            <a:avLst>
              <a:gd name="adj" fmla="val 9677"/>
            </a:avLst>
          </a:prstGeom>
          <a:solidFill>
            <a:srgbClr val="FFFBEB"/>
          </a:solidFill>
          <a:ln w="19050">
            <a:solidFill>
              <a:srgbClr val="F59E0B"/>
            </a:solidFill>
            <a:prstDash val="solid"/>
          </a:ln>
        </p:spPr>
      </p:sp>
      <p:sp>
        <p:nvSpPr>
          <p:cNvPr id="17" name="Shape 15"/>
          <p:cNvSpPr/>
          <p:nvPr/>
        </p:nvSpPr>
        <p:spPr>
          <a:xfrm>
            <a:off x="777240" y="2633472"/>
            <a:ext cx="320040" cy="320040"/>
          </a:xfrm>
          <a:prstGeom prst="ellipse">
            <a:avLst/>
          </a:prstGeom>
          <a:solidFill>
            <a:srgbClr val="F59E0B"/>
          </a:solidFill>
          <a:ln/>
        </p:spPr>
      </p:sp>
      <p:sp>
        <p:nvSpPr>
          <p:cNvPr id="18" name="Text 16"/>
          <p:cNvSpPr/>
          <p:nvPr/>
        </p:nvSpPr>
        <p:spPr>
          <a:xfrm>
            <a:off x="777240" y="2633472"/>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34440" y="2551176"/>
            <a:ext cx="246888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Causal / functional use</a:t>
            </a:r>
            <a:endParaRPr lang="en-US" sz="1200" dirty="0"/>
          </a:p>
        </p:txBody>
      </p:sp>
      <p:sp>
        <p:nvSpPr>
          <p:cNvPr id="20" name="Text 18"/>
          <p:cNvSpPr/>
          <p:nvPr/>
        </p:nvSpPr>
        <p:spPr>
          <a:xfrm>
            <a:off x="1234440" y="2798064"/>
            <a:ext cx="5120640"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Internal representations mediate the answer — perturbing them changes behavior predictably.</a:t>
            </a:r>
            <a:endParaRPr lang="en-US" sz="1000" dirty="0"/>
          </a:p>
        </p:txBody>
      </p:sp>
      <p:sp>
        <p:nvSpPr>
          <p:cNvPr id="21" name="Text 19"/>
          <p:cNvSpPr/>
          <p:nvPr/>
        </p:nvSpPr>
        <p:spPr>
          <a:xfrm>
            <a:off x="6400800" y="2660904"/>
            <a:ext cx="2011680" cy="27432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Linear Mechanisms, Structural Graph Probing</a:t>
            </a:r>
            <a:endParaRPr lang="en-US" sz="900" dirty="0"/>
          </a:p>
        </p:txBody>
      </p:sp>
      <p:sp>
        <p:nvSpPr>
          <p:cNvPr id="22" name="Text 20"/>
          <p:cNvSpPr/>
          <p:nvPr/>
        </p:nvSpPr>
        <p:spPr>
          <a:xfrm>
            <a:off x="6400800" y="2798064"/>
            <a:ext cx="2011680" cy="256032"/>
          </a:xfrm>
          <a:prstGeom prst="rect">
            <a:avLst/>
          </a:prstGeom>
          <a:noFill/>
          <a:ln/>
        </p:spPr>
        <p:txBody>
          <a:bodyPr wrap="square" lIns="0" tIns="0" rIns="0" bIns="0" rtlCol="0" anchor="ctr"/>
          <a:lstStyle/>
          <a:p>
            <a:pPr indent="0" marL="0">
              <a:buNone/>
            </a:pPr>
            <a:r>
              <a:rPr lang="en-US" sz="900" b="1" i="1" dirty="0">
                <a:solidFill>
                  <a:srgbClr val="F59E0B"/>
                </a:solidFill>
                <a:latin typeface="Calibri" pitchFamily="34" charset="0"/>
                <a:ea typeface="Calibri" pitchFamily="34" charset="-122"/>
                <a:cs typeface="Calibri" pitchFamily="34" charset="-120"/>
              </a:rPr>
              <a:t>← my working definition</a:t>
            </a:r>
            <a:endParaRPr lang="en-US" sz="900" dirty="0"/>
          </a:p>
        </p:txBody>
      </p:sp>
      <p:sp>
        <p:nvSpPr>
          <p:cNvPr id="23" name="Shape 21"/>
          <p:cNvSpPr/>
          <p:nvPr/>
        </p:nvSpPr>
        <p:spPr>
          <a:xfrm>
            <a:off x="640080" y="3163824"/>
            <a:ext cx="7863840" cy="566928"/>
          </a:xfrm>
          <a:prstGeom prst="roundRect">
            <a:avLst>
              <a:gd name="adj" fmla="val 9677"/>
            </a:avLst>
          </a:prstGeom>
          <a:solidFill>
            <a:srgbClr val="F0F4F8"/>
          </a:solidFill>
          <a:ln/>
        </p:spPr>
      </p:sp>
      <p:sp>
        <p:nvSpPr>
          <p:cNvPr id="24" name="Shape 22"/>
          <p:cNvSpPr/>
          <p:nvPr/>
        </p:nvSpPr>
        <p:spPr>
          <a:xfrm>
            <a:off x="777240" y="3291840"/>
            <a:ext cx="320040" cy="320040"/>
          </a:xfrm>
          <a:prstGeom prst="ellipse">
            <a:avLst/>
          </a:prstGeom>
          <a:solidFill>
            <a:srgbClr val="3B82F6"/>
          </a:solidFill>
          <a:ln/>
        </p:spPr>
      </p:sp>
      <p:sp>
        <p:nvSpPr>
          <p:cNvPr id="25" name="Text 23"/>
          <p:cNvSpPr/>
          <p:nvPr/>
        </p:nvSpPr>
        <p:spPr>
          <a:xfrm>
            <a:off x="777240" y="329184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1234440" y="3209544"/>
            <a:ext cx="2468880" cy="256032"/>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Transfer / generalization</a:t>
            </a:r>
            <a:endParaRPr lang="en-US" sz="1200" dirty="0"/>
          </a:p>
        </p:txBody>
      </p:sp>
      <p:sp>
        <p:nvSpPr>
          <p:cNvPr id="27" name="Text 25"/>
          <p:cNvSpPr/>
          <p:nvPr/>
        </p:nvSpPr>
        <p:spPr>
          <a:xfrm>
            <a:off x="1234440" y="3456432"/>
            <a:ext cx="5120640"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capability holds under novel spatial situations.</a:t>
            </a:r>
            <a:endParaRPr lang="en-US" sz="1000" dirty="0"/>
          </a:p>
        </p:txBody>
      </p:sp>
      <p:sp>
        <p:nvSpPr>
          <p:cNvPr id="28" name="Text 26"/>
          <p:cNvSpPr/>
          <p:nvPr/>
        </p:nvSpPr>
        <p:spPr>
          <a:xfrm>
            <a:off x="6400800" y="3319272"/>
            <a:ext cx="2011680" cy="27432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OOD studies</a:t>
            </a:r>
            <a:endParaRPr lang="en-US" sz="900" dirty="0"/>
          </a:p>
        </p:txBody>
      </p:sp>
      <p:sp>
        <p:nvSpPr>
          <p:cNvPr id="29" name="Shape 27"/>
          <p:cNvSpPr/>
          <p:nvPr/>
        </p:nvSpPr>
        <p:spPr>
          <a:xfrm>
            <a:off x="640080" y="3822192"/>
            <a:ext cx="7863840" cy="566928"/>
          </a:xfrm>
          <a:prstGeom prst="roundRect">
            <a:avLst>
              <a:gd name="adj" fmla="val 9677"/>
            </a:avLst>
          </a:prstGeom>
          <a:solidFill>
            <a:srgbClr val="F0F4F8"/>
          </a:solidFill>
          <a:ln/>
        </p:spPr>
      </p:sp>
      <p:sp>
        <p:nvSpPr>
          <p:cNvPr id="30" name="Shape 28"/>
          <p:cNvSpPr/>
          <p:nvPr/>
        </p:nvSpPr>
        <p:spPr>
          <a:xfrm>
            <a:off x="777240" y="3950208"/>
            <a:ext cx="320040" cy="320040"/>
          </a:xfrm>
          <a:prstGeom prst="ellipse">
            <a:avLst/>
          </a:prstGeom>
          <a:solidFill>
            <a:srgbClr val="EF4444"/>
          </a:solidFill>
          <a:ln/>
        </p:spPr>
      </p:sp>
      <p:sp>
        <p:nvSpPr>
          <p:cNvPr id="31" name="Text 29"/>
          <p:cNvSpPr/>
          <p:nvPr/>
        </p:nvSpPr>
        <p:spPr>
          <a:xfrm>
            <a:off x="777240" y="3950208"/>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1234440" y="3867912"/>
            <a:ext cx="2468880" cy="25603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World modeling</a:t>
            </a:r>
            <a:endParaRPr lang="en-US" sz="1200" dirty="0"/>
          </a:p>
        </p:txBody>
      </p:sp>
      <p:sp>
        <p:nvSpPr>
          <p:cNvPr id="33" name="Text 31"/>
          <p:cNvSpPr/>
          <p:nvPr/>
        </p:nvSpPr>
        <p:spPr>
          <a:xfrm>
            <a:off x="1234440" y="4114800"/>
            <a:ext cx="5120640" cy="256032"/>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model can predict consequences of interventions.</a:t>
            </a:r>
            <a:endParaRPr lang="en-US" sz="1000" dirty="0"/>
          </a:p>
        </p:txBody>
      </p:sp>
      <p:sp>
        <p:nvSpPr>
          <p:cNvPr id="34" name="Text 32"/>
          <p:cNvSpPr/>
          <p:nvPr/>
        </p:nvSpPr>
        <p:spPr>
          <a:xfrm>
            <a:off x="6400800" y="3977640"/>
            <a:ext cx="2011680" cy="274320"/>
          </a:xfrm>
          <a:prstGeom prst="rect">
            <a:avLst/>
          </a:prstGeom>
          <a:noFill/>
          <a:ln/>
        </p:spPr>
        <p:txBody>
          <a:bodyPr wrap="square" lIns="0" tIns="0" rIns="0" bIns="0" rtlCol="0" anchor="ctr"/>
          <a:lstStyle/>
          <a:p>
            <a:pPr indent="0" marL="0">
              <a:buNone/>
            </a:pPr>
            <a:r>
              <a:rPr lang="en-US" sz="900" i="1" dirty="0">
                <a:solidFill>
                  <a:srgbClr val="4A6FA5"/>
                </a:solidFill>
                <a:latin typeface="Calibri" pitchFamily="34" charset="0"/>
                <a:ea typeface="Calibri" pitchFamily="34" charset="-122"/>
                <a:cs typeface="Calibri" pitchFamily="34" charset="-120"/>
              </a:rPr>
              <a:t>CausalSpatial, Think3D</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Where I think I'm headed</a:t>
            </a:r>
            <a:endParaRPr lang="en-US" sz="2600" dirty="0"/>
          </a:p>
        </p:txBody>
      </p:sp>
      <p:sp>
        <p:nvSpPr>
          <p:cNvPr id="3" name="Shape 1"/>
          <p:cNvSpPr/>
          <p:nvPr/>
        </p:nvSpPr>
        <p:spPr>
          <a:xfrm>
            <a:off x="640080" y="868680"/>
            <a:ext cx="7863840" cy="777240"/>
          </a:xfrm>
          <a:prstGeom prst="roundRect">
            <a:avLst>
              <a:gd name="adj" fmla="val 9412"/>
            </a:avLst>
          </a:prstGeom>
          <a:solidFill>
            <a:srgbClr val="E6F7F9"/>
          </a:solidFill>
          <a:ln w="19050">
            <a:solidFill>
              <a:srgbClr val="1B9AAA"/>
            </a:solidFill>
            <a:prstDash val="solid"/>
          </a:ln>
        </p:spPr>
      </p:sp>
      <p:sp>
        <p:nvSpPr>
          <p:cNvPr id="4" name="Text 2"/>
          <p:cNvSpPr/>
          <p:nvPr/>
        </p:nvSpPr>
        <p:spPr>
          <a:xfrm>
            <a:off x="822960" y="914400"/>
            <a:ext cx="7315200" cy="228600"/>
          </a:xfrm>
          <a:prstGeom prst="rect">
            <a:avLst/>
          </a:prstGeom>
          <a:noFill/>
          <a:ln/>
        </p:spPr>
        <p:txBody>
          <a:bodyPr wrap="square" lIns="0" tIns="0" rIns="0" bIns="0" rtlCol="0" anchor="ctr"/>
          <a:lstStyle/>
          <a:p>
            <a:pPr indent="0" marL="0">
              <a:buNone/>
            </a:pPr>
            <a:r>
              <a:rPr lang="en-US" sz="1000" b="1" dirty="0">
                <a:solidFill>
                  <a:srgbClr val="1B9AAA"/>
                </a:solidFill>
                <a:latin typeface="Calibri" pitchFamily="34" charset="0"/>
                <a:ea typeface="Calibri" pitchFamily="34" charset="-122"/>
                <a:cs typeface="Calibri" pitchFamily="34" charset="-120"/>
              </a:rPr>
              <a:t>Working question</a:t>
            </a:r>
            <a:endParaRPr lang="en-US" sz="1000" dirty="0"/>
          </a:p>
        </p:txBody>
      </p:sp>
      <p:sp>
        <p:nvSpPr>
          <p:cNvPr id="5" name="Text 3"/>
          <p:cNvSpPr/>
          <p:nvPr/>
        </p:nvSpPr>
        <p:spPr>
          <a:xfrm>
            <a:off x="822960" y="1143000"/>
            <a:ext cx="7498080" cy="502920"/>
          </a:xfrm>
          <a:prstGeom prst="rect">
            <a:avLst/>
          </a:prstGeom>
          <a:noFill/>
          <a:ln/>
        </p:spPr>
        <p:txBody>
          <a:bodyPr wrap="square" lIns="0" tIns="0" rIns="0" bIns="0" rtlCol="0" anchor="ctr"/>
          <a:lstStyle/>
          <a:p>
            <a:pPr indent="0" marL="0">
              <a:buNone/>
            </a:pPr>
            <a:r>
              <a:rPr lang="en-US" sz="1200" i="1" dirty="0">
                <a:solidFill>
                  <a:srgbClr val="1A202C"/>
                </a:solidFill>
                <a:latin typeface="Calibri" pitchFamily="34" charset="0"/>
                <a:ea typeface="Calibri" pitchFamily="34" charset="-122"/>
                <a:cs typeface="Calibri" pitchFamily="34" charset="-120"/>
              </a:rPr>
              <a:t>Do VLMs internally represent spatial information and causally use it when reasoning about spatial consequences — and if not fully, how can we enhance that use?</a:t>
            </a:r>
            <a:endParaRPr lang="en-US" sz="1200" dirty="0"/>
          </a:p>
        </p:txBody>
      </p:sp>
      <p:sp>
        <p:nvSpPr>
          <p:cNvPr id="6" name="Text 4"/>
          <p:cNvSpPr/>
          <p:nvPr/>
        </p:nvSpPr>
        <p:spPr>
          <a:xfrm>
            <a:off x="640080" y="1783080"/>
            <a:ext cx="7315200" cy="274320"/>
          </a:xfrm>
          <a:prstGeom prst="rect">
            <a:avLst/>
          </a:prstGeom>
          <a:noFill/>
          <a:ln/>
        </p:spPr>
        <p:txBody>
          <a:bodyPr wrap="square" rtlCol="0" anchor="ctr"/>
          <a:lstStyle/>
          <a:p>
            <a:pPr indent="0" marL="0">
              <a:buNone/>
            </a:pPr>
            <a:r>
              <a:rPr lang="en-US" sz="1200" b="1" dirty="0">
                <a:solidFill>
                  <a:srgbClr val="1A202C"/>
                </a:solidFill>
                <a:latin typeface="Calibri" pitchFamily="34" charset="0"/>
                <a:ea typeface="Calibri" pitchFamily="34" charset="-122"/>
                <a:cs typeface="Calibri" pitchFamily="34" charset="-120"/>
              </a:rPr>
              <a:t>Three converging elements:</a:t>
            </a:r>
            <a:endParaRPr lang="en-US" sz="1200" dirty="0"/>
          </a:p>
        </p:txBody>
      </p:sp>
      <p:sp>
        <p:nvSpPr>
          <p:cNvPr id="7" name="Shape 5"/>
          <p:cNvSpPr/>
          <p:nvPr/>
        </p:nvSpPr>
        <p:spPr>
          <a:xfrm>
            <a:off x="640080" y="2194560"/>
            <a:ext cx="2606040" cy="2194560"/>
          </a:xfrm>
          <a:prstGeom prst="roundRect">
            <a:avLst>
              <a:gd name="adj" fmla="val 3333"/>
            </a:avLst>
          </a:prstGeom>
          <a:solidFill>
            <a:srgbClr val="F0F4F8"/>
          </a:solidFill>
          <a:ln/>
          <a:effectLst>
            <a:outerShdw sx="100000" sy="100000" kx="0" ky="0" algn="bl" rotWithShape="0" blurRad="50800" dist="12700" dir="2700000">
              <a:srgbClr val="000000">
                <a:alpha val="8000"/>
              </a:srgbClr>
            </a:outerShdw>
          </a:effectLst>
        </p:spPr>
      </p:sp>
      <p:sp>
        <p:nvSpPr>
          <p:cNvPr id="8" name="Shape 6"/>
          <p:cNvSpPr/>
          <p:nvPr/>
        </p:nvSpPr>
        <p:spPr>
          <a:xfrm>
            <a:off x="777240" y="2286000"/>
            <a:ext cx="320040" cy="320040"/>
          </a:xfrm>
          <a:prstGeom prst="ellipse">
            <a:avLst/>
          </a:prstGeom>
          <a:solidFill>
            <a:srgbClr val="F59E0B"/>
          </a:solidFill>
          <a:ln/>
        </p:spPr>
      </p:sp>
      <p:sp>
        <p:nvSpPr>
          <p:cNvPr id="9" name="Text 7"/>
          <p:cNvSpPr/>
          <p:nvPr/>
        </p:nvSpPr>
        <p:spPr>
          <a:xfrm>
            <a:off x="777240" y="228600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88720" y="2267712"/>
            <a:ext cx="19659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Mechanistic tools</a:t>
            </a:r>
            <a:endParaRPr lang="en-US" sz="1200" dirty="0"/>
          </a:p>
        </p:txBody>
      </p:sp>
      <p:sp>
        <p:nvSpPr>
          <p:cNvPr id="11" name="Text 9"/>
          <p:cNvSpPr/>
          <p:nvPr/>
        </p:nvSpPr>
        <p:spPr>
          <a:xfrm>
            <a:off x="777240" y="2651760"/>
            <a:ext cx="2331720" cy="228600"/>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How to look inside</a:t>
            </a:r>
            <a:endParaRPr lang="en-US" sz="1000" dirty="0"/>
          </a:p>
        </p:txBody>
      </p:sp>
      <p:sp>
        <p:nvSpPr>
          <p:cNvPr id="12" name="Text 10"/>
          <p:cNvSpPr/>
          <p:nvPr/>
        </p:nvSpPr>
        <p:spPr>
          <a:xfrm>
            <a:off x="777240" y="2926080"/>
            <a:ext cx="2331720" cy="6858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Linear Mechanisms</a:t>
            </a:r>
            <a:endParaRPr lang="en-US" sz="1000" dirty="0"/>
          </a:p>
          <a:p>
            <a:pPr indent="0" marL="0">
              <a:buNone/>
            </a:pPr>
            <a:r>
              <a:rPr lang="en-US" sz="1000" b="1" dirty="0">
                <a:solidFill>
                  <a:srgbClr val="F59E0B"/>
                </a:solidFill>
                <a:latin typeface="Calibri" pitchFamily="34" charset="0"/>
                <a:ea typeface="Calibri" pitchFamily="34" charset="-122"/>
                <a:cs typeface="Calibri" pitchFamily="34" charset="-120"/>
              </a:rPr>
              <a:t>Structural Graph Probing</a:t>
            </a:r>
            <a:endParaRPr lang="en-US" sz="1000" dirty="0"/>
          </a:p>
        </p:txBody>
      </p:sp>
      <p:sp>
        <p:nvSpPr>
          <p:cNvPr id="13" name="Text 11"/>
          <p:cNvSpPr/>
          <p:nvPr/>
        </p:nvSpPr>
        <p:spPr>
          <a:xfrm>
            <a:off x="777240" y="3657600"/>
            <a:ext cx="2331720" cy="64008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Linear probes + causal interventions to identify what's actually used.</a:t>
            </a:r>
            <a:endParaRPr lang="en-US" sz="900" dirty="0"/>
          </a:p>
        </p:txBody>
      </p:sp>
      <p:sp>
        <p:nvSpPr>
          <p:cNvPr id="14" name="Shape 12"/>
          <p:cNvSpPr/>
          <p:nvPr/>
        </p:nvSpPr>
        <p:spPr>
          <a:xfrm>
            <a:off x="3429000" y="2194560"/>
            <a:ext cx="2606040" cy="2194560"/>
          </a:xfrm>
          <a:prstGeom prst="roundRect">
            <a:avLst>
              <a:gd name="adj" fmla="val 3333"/>
            </a:avLst>
          </a:prstGeom>
          <a:solidFill>
            <a:srgbClr val="F0F4F8"/>
          </a:solidFill>
          <a:ln/>
          <a:effectLst>
            <a:outerShdw sx="100000" sy="100000" kx="0" ky="0" algn="bl" rotWithShape="0" blurRad="50800" dist="12700" dir="2700000">
              <a:srgbClr val="000000">
                <a:alpha val="8000"/>
              </a:srgbClr>
            </a:outerShdw>
          </a:effectLst>
        </p:spPr>
      </p:sp>
      <p:sp>
        <p:nvSpPr>
          <p:cNvPr id="15" name="Shape 13"/>
          <p:cNvSpPr/>
          <p:nvPr/>
        </p:nvSpPr>
        <p:spPr>
          <a:xfrm>
            <a:off x="3566160" y="2286000"/>
            <a:ext cx="320040" cy="320040"/>
          </a:xfrm>
          <a:prstGeom prst="ellipse">
            <a:avLst/>
          </a:prstGeom>
          <a:solidFill>
            <a:srgbClr val="EF4444"/>
          </a:solidFill>
          <a:ln/>
        </p:spPr>
      </p:sp>
      <p:sp>
        <p:nvSpPr>
          <p:cNvPr id="16" name="Text 14"/>
          <p:cNvSpPr/>
          <p:nvPr/>
        </p:nvSpPr>
        <p:spPr>
          <a:xfrm>
            <a:off x="3566160" y="228600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3977640" y="2267712"/>
            <a:ext cx="1965960" cy="27432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Behavioral testbed</a:t>
            </a:r>
            <a:endParaRPr lang="en-US" sz="1200" dirty="0"/>
          </a:p>
        </p:txBody>
      </p:sp>
      <p:sp>
        <p:nvSpPr>
          <p:cNvPr id="18" name="Text 16"/>
          <p:cNvSpPr/>
          <p:nvPr/>
        </p:nvSpPr>
        <p:spPr>
          <a:xfrm>
            <a:off x="3566160" y="2651760"/>
            <a:ext cx="2331720" cy="228600"/>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What to look for</a:t>
            </a:r>
            <a:endParaRPr lang="en-US" sz="1000" dirty="0"/>
          </a:p>
        </p:txBody>
      </p:sp>
      <p:sp>
        <p:nvSpPr>
          <p:cNvPr id="19" name="Text 17"/>
          <p:cNvSpPr/>
          <p:nvPr/>
        </p:nvSpPr>
        <p:spPr>
          <a:xfrm>
            <a:off x="3566160" y="2926080"/>
            <a:ext cx="2331720" cy="685800"/>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CausalSpatial</a:t>
            </a:r>
            <a:endParaRPr lang="en-US" sz="1000" dirty="0"/>
          </a:p>
          <a:p>
            <a:pPr indent="0" marL="0">
              <a:buNone/>
            </a:pPr>
            <a:r>
              <a:rPr lang="en-US" sz="1000" b="1" dirty="0">
                <a:solidFill>
                  <a:srgbClr val="EF4444"/>
                </a:solidFill>
                <a:latin typeface="Calibri" pitchFamily="34" charset="0"/>
                <a:ea typeface="Calibri" pitchFamily="34" charset="-122"/>
                <a:cs typeface="Calibri" pitchFamily="34" charset="-120"/>
              </a:rPr>
              <a:t>Think3D · SpatiaLQA</a:t>
            </a:r>
            <a:endParaRPr lang="en-US" sz="1000" dirty="0"/>
          </a:p>
        </p:txBody>
      </p:sp>
      <p:sp>
        <p:nvSpPr>
          <p:cNvPr id="20" name="Text 18"/>
          <p:cNvSpPr/>
          <p:nvPr/>
        </p:nvSpPr>
        <p:spPr>
          <a:xfrm>
            <a:off x="3566160" y="3657600"/>
            <a:ext cx="2331720" cy="64008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Spatial consequence reasoning — a strong test of real understanding.</a:t>
            </a:r>
            <a:endParaRPr lang="en-US" sz="900" dirty="0"/>
          </a:p>
        </p:txBody>
      </p:sp>
      <p:sp>
        <p:nvSpPr>
          <p:cNvPr id="21" name="Shape 19"/>
          <p:cNvSpPr/>
          <p:nvPr/>
        </p:nvSpPr>
        <p:spPr>
          <a:xfrm>
            <a:off x="6217920" y="2194560"/>
            <a:ext cx="2606040" cy="2194560"/>
          </a:xfrm>
          <a:prstGeom prst="roundRect">
            <a:avLst>
              <a:gd name="adj" fmla="val 3333"/>
            </a:avLst>
          </a:prstGeom>
          <a:solidFill>
            <a:srgbClr val="F0F4F8"/>
          </a:solidFill>
          <a:ln/>
          <a:effectLst>
            <a:outerShdw sx="100000" sy="100000" kx="0" ky="0" algn="bl" rotWithShape="0" blurRad="50800" dist="12700" dir="2700000">
              <a:srgbClr val="000000">
                <a:alpha val="8000"/>
              </a:srgbClr>
            </a:outerShdw>
          </a:effectLst>
        </p:spPr>
      </p:sp>
      <p:sp>
        <p:nvSpPr>
          <p:cNvPr id="22" name="Shape 20"/>
          <p:cNvSpPr/>
          <p:nvPr/>
        </p:nvSpPr>
        <p:spPr>
          <a:xfrm>
            <a:off x="6355080" y="2286000"/>
            <a:ext cx="320040" cy="320040"/>
          </a:xfrm>
          <a:prstGeom prst="ellipse">
            <a:avLst/>
          </a:prstGeom>
          <a:solidFill>
            <a:srgbClr val="3B82F6"/>
          </a:solidFill>
          <a:ln/>
        </p:spPr>
      </p:sp>
      <p:sp>
        <p:nvSpPr>
          <p:cNvPr id="23" name="Text 21"/>
          <p:cNvSpPr/>
          <p:nvPr/>
        </p:nvSpPr>
        <p:spPr>
          <a:xfrm>
            <a:off x="6355080" y="2286000"/>
            <a:ext cx="32004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6766560" y="2267712"/>
            <a:ext cx="1965960" cy="274320"/>
          </a:xfrm>
          <a:prstGeom prst="rect">
            <a:avLst/>
          </a:prstGeom>
          <a:noFill/>
          <a:ln/>
        </p:spPr>
        <p:txBody>
          <a:bodyPr wrap="square" lIns="0" tIns="0" rIns="0" bIns="0" rtlCol="0" anchor="ctr"/>
          <a:lstStyle/>
          <a:p>
            <a:pPr indent="0" marL="0">
              <a:buNone/>
            </a:pPr>
            <a:r>
              <a:rPr lang="en-US" sz="1200" b="1" dirty="0">
                <a:solidFill>
                  <a:srgbClr val="3B82F6"/>
                </a:solidFill>
                <a:latin typeface="Calibri" pitchFamily="34" charset="0"/>
                <a:ea typeface="Calibri" pitchFamily="34" charset="-122"/>
                <a:cs typeface="Calibri" pitchFamily="34" charset="-120"/>
              </a:rPr>
              <a:t>Applications (motivation)</a:t>
            </a:r>
            <a:endParaRPr lang="en-US" sz="1200" dirty="0"/>
          </a:p>
        </p:txBody>
      </p:sp>
      <p:sp>
        <p:nvSpPr>
          <p:cNvPr id="25" name="Text 23"/>
          <p:cNvSpPr/>
          <p:nvPr/>
        </p:nvSpPr>
        <p:spPr>
          <a:xfrm>
            <a:off x="6355080" y="2651760"/>
            <a:ext cx="2331720" cy="228600"/>
          </a:xfrm>
          <a:prstGeom prst="rect">
            <a:avLst/>
          </a:prstGeom>
          <a:noFill/>
          <a:ln/>
        </p:spPr>
        <p:txBody>
          <a:bodyPr wrap="square" lIns="0" tIns="0" rIns="0" bIns="0" rtlCol="0" anchor="ctr"/>
          <a:lstStyle/>
          <a:p>
            <a:pPr indent="0" marL="0">
              <a:buNone/>
            </a:pPr>
            <a:r>
              <a:rPr lang="en-US" sz="1000" i="1" dirty="0">
                <a:solidFill>
                  <a:srgbClr val="4A5568"/>
                </a:solidFill>
                <a:latin typeface="Calibri" pitchFamily="34" charset="0"/>
                <a:ea typeface="Calibri" pitchFamily="34" charset="-122"/>
                <a:cs typeface="Calibri" pitchFamily="34" charset="-120"/>
              </a:rPr>
              <a:t>Why it matters</a:t>
            </a:r>
            <a:endParaRPr lang="en-US" sz="1000" dirty="0"/>
          </a:p>
        </p:txBody>
      </p:sp>
      <p:sp>
        <p:nvSpPr>
          <p:cNvPr id="26" name="Text 24"/>
          <p:cNvSpPr/>
          <p:nvPr/>
        </p:nvSpPr>
        <p:spPr>
          <a:xfrm>
            <a:off x="6355080" y="2926080"/>
            <a:ext cx="2331720" cy="685800"/>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VLA robustness</a:t>
            </a:r>
            <a:endParaRPr lang="en-US" sz="1000" dirty="0"/>
          </a:p>
          <a:p>
            <a:pPr indent="0" marL="0">
              <a:buNone/>
            </a:pPr>
            <a:r>
              <a:rPr lang="en-US" sz="1000" b="1" dirty="0">
                <a:solidFill>
                  <a:srgbClr val="3B82F6"/>
                </a:solidFill>
                <a:latin typeface="Calibri" pitchFamily="34" charset="0"/>
                <a:ea typeface="Calibri" pitchFamily="34" charset="-122"/>
                <a:cs typeface="Calibri" pitchFamily="34" charset="-120"/>
              </a:rPr>
              <a:t>VLM-as-judge reliability</a:t>
            </a:r>
            <a:endParaRPr lang="en-US" sz="1000" dirty="0"/>
          </a:p>
        </p:txBody>
      </p:sp>
      <p:sp>
        <p:nvSpPr>
          <p:cNvPr id="27" name="Text 25"/>
          <p:cNvSpPr/>
          <p:nvPr/>
        </p:nvSpPr>
        <p:spPr>
          <a:xfrm>
            <a:off x="6355080" y="3657600"/>
            <a:ext cx="2331720" cy="640080"/>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Downstream systems inherit VLM spatial deficits — potential validation.</a:t>
            </a:r>
            <a:endParaRPr lang="en-US" sz="900" dirty="0"/>
          </a:p>
        </p:txBody>
      </p:sp>
      <p:sp>
        <p:nvSpPr>
          <p:cNvPr id="28" name="Shape 26"/>
          <p:cNvSpPr/>
          <p:nvPr/>
        </p:nvSpPr>
        <p:spPr>
          <a:xfrm>
            <a:off x="640080" y="4526280"/>
            <a:ext cx="7863840" cy="457200"/>
          </a:xfrm>
          <a:prstGeom prst="roundRect">
            <a:avLst>
              <a:gd name="adj" fmla="val 12000"/>
            </a:avLst>
          </a:prstGeom>
          <a:solidFill>
            <a:srgbClr val="FFF7ED"/>
          </a:solidFill>
          <a:ln/>
        </p:spPr>
      </p:sp>
      <p:sp>
        <p:nvSpPr>
          <p:cNvPr id="29" name="Text 27"/>
          <p:cNvSpPr/>
          <p:nvPr/>
        </p:nvSpPr>
        <p:spPr>
          <a:xfrm>
            <a:off x="822960" y="4572000"/>
            <a:ext cx="7498080" cy="365760"/>
          </a:xfrm>
          <a:prstGeom prst="rect">
            <a:avLst/>
          </a:prstGeom>
          <a:noFill/>
          <a:ln/>
        </p:spPr>
        <p:txBody>
          <a:bodyPr wrap="square" rtlCol="0" anchor="ctr"/>
          <a:lstStyle/>
          <a:p>
            <a:pPr indent="0" marL="0">
              <a:buNone/>
            </a:pPr>
            <a:r>
              <a:rPr lang="en-US" sz="1000" i="1" dirty="0">
                <a:solidFill>
                  <a:srgbClr val="E8715A"/>
                </a:solidFill>
                <a:latin typeface="Calibri" pitchFamily="34" charset="0"/>
                <a:ea typeface="Calibri" pitchFamily="34" charset="-122"/>
                <a:cs typeface="Calibri" pitchFamily="34" charset="-120"/>
              </a:rPr>
              <a:t>Still to choose: which specific spatial capability, which specific mechanism, which specific application. Looking for mentor input.</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Open questions I want to discuss — About the field</a:t>
            </a:r>
            <a:endParaRPr lang="en-US" sz="2600" dirty="0"/>
          </a:p>
        </p:txBody>
      </p:sp>
      <p:sp>
        <p:nvSpPr>
          <p:cNvPr id="3" name="Text 1"/>
          <p:cNvSpPr/>
          <p:nvPr/>
        </p:nvSpPr>
        <p:spPr>
          <a:xfrm>
            <a:off x="640080" y="777240"/>
            <a:ext cx="8229600" cy="27432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Where I need mentor input to sharpen my thinking.</a:t>
            </a:r>
            <a:endParaRPr lang="en-US" sz="1100" dirty="0"/>
          </a:p>
        </p:txBody>
      </p:sp>
      <p:sp>
        <p:nvSpPr>
          <p:cNvPr id="4" name="Shape 2"/>
          <p:cNvSpPr/>
          <p:nvPr/>
        </p:nvSpPr>
        <p:spPr>
          <a:xfrm>
            <a:off x="640080" y="1188720"/>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5" name="Shape 3"/>
          <p:cNvSpPr/>
          <p:nvPr/>
        </p:nvSpPr>
        <p:spPr>
          <a:xfrm>
            <a:off x="822960" y="1353312"/>
            <a:ext cx="457200" cy="457200"/>
          </a:xfrm>
          <a:prstGeom prst="ellipse">
            <a:avLst/>
          </a:prstGeom>
          <a:solidFill>
            <a:srgbClr val="3B82F6"/>
          </a:solidFill>
          <a:ln/>
        </p:spPr>
      </p:sp>
      <p:sp>
        <p:nvSpPr>
          <p:cNvPr id="6" name="Text 4"/>
          <p:cNvSpPr/>
          <p:nvPr/>
        </p:nvSpPr>
        <p:spPr>
          <a:xfrm>
            <a:off x="822960" y="135331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p:nvPr/>
        </p:nvSpPr>
        <p:spPr>
          <a:xfrm>
            <a:off x="1417320" y="1298448"/>
            <a:ext cx="6949440" cy="292608"/>
          </a:xfrm>
          <a:prstGeom prst="rect">
            <a:avLst/>
          </a:prstGeom>
          <a:noFill/>
          <a:ln/>
        </p:spPr>
        <p:txBody>
          <a:bodyPr wrap="square" lIns="0" tIns="0" rIns="0" bIns="0" rtlCol="0" anchor="ctr"/>
          <a:lstStyle/>
          <a:p>
            <a:pPr indent="0" marL="0">
              <a:buNone/>
            </a:pPr>
            <a:r>
              <a:rPr lang="en-US" sz="1300" b="1" dirty="0">
                <a:solidFill>
                  <a:srgbClr val="3B82F6"/>
                </a:solidFill>
                <a:latin typeface="Calibri" pitchFamily="34" charset="0"/>
                <a:ea typeface="Calibri" pitchFamily="34" charset="-122"/>
                <a:cs typeface="Calibri" pitchFamily="34" charset="-120"/>
              </a:rPr>
              <a:t>The definition problem</a:t>
            </a:r>
            <a:endParaRPr lang="en-US" sz="1300" dirty="0"/>
          </a:p>
        </p:txBody>
      </p:sp>
      <p:sp>
        <p:nvSpPr>
          <p:cNvPr id="8" name="Text 6"/>
          <p:cNvSpPr/>
          <p:nvPr/>
        </p:nvSpPr>
        <p:spPr>
          <a:xfrm>
            <a:off x="1417320" y="1600200"/>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"Spatial understanding" has no shared definition. I'm adopting causal use (definition #3) as my working choice, but this commits the direction to mechanistic evaluation methods.</a:t>
            </a:r>
            <a:endParaRPr lang="en-US" sz="1000" dirty="0"/>
          </a:p>
        </p:txBody>
      </p:sp>
      <p:sp>
        <p:nvSpPr>
          <p:cNvPr id="9" name="Text 7"/>
          <p:cNvSpPr/>
          <p:nvPr/>
        </p:nvSpPr>
        <p:spPr>
          <a:xfrm>
            <a:off x="1417320" y="2011680"/>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Is causal use the right operational definition for a dissertation-scale project — or would another definition serve a stronger research program?</a:t>
            </a:r>
            <a:endParaRPr lang="en-US" sz="1000" dirty="0"/>
          </a:p>
        </p:txBody>
      </p:sp>
      <p:sp>
        <p:nvSpPr>
          <p:cNvPr id="10" name="Shape 8"/>
          <p:cNvSpPr/>
          <p:nvPr/>
        </p:nvSpPr>
        <p:spPr>
          <a:xfrm>
            <a:off x="640080" y="2487168"/>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11" name="Shape 9"/>
          <p:cNvSpPr/>
          <p:nvPr/>
        </p:nvSpPr>
        <p:spPr>
          <a:xfrm>
            <a:off x="822960" y="2651760"/>
            <a:ext cx="457200" cy="457200"/>
          </a:xfrm>
          <a:prstGeom prst="ellipse">
            <a:avLst/>
          </a:prstGeom>
          <a:solidFill>
            <a:srgbClr val="F59E0B"/>
          </a:solidFill>
          <a:ln/>
        </p:spPr>
      </p:sp>
      <p:sp>
        <p:nvSpPr>
          <p:cNvPr id="12" name="Text 10"/>
          <p:cNvSpPr/>
          <p:nvPr/>
        </p:nvSpPr>
        <p:spPr>
          <a:xfrm>
            <a:off x="822960" y="26517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1"/>
          <p:cNvSpPr/>
          <p:nvPr/>
        </p:nvSpPr>
        <p:spPr>
          <a:xfrm>
            <a:off x="1417320" y="2596896"/>
            <a:ext cx="6949440" cy="292608"/>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Papers may overclaim</a:t>
            </a:r>
            <a:endParaRPr lang="en-US" sz="1300" dirty="0"/>
          </a:p>
        </p:txBody>
      </p:sp>
      <p:sp>
        <p:nvSpPr>
          <p:cNvPr id="14" name="Text 12"/>
          <p:cNvSpPr/>
          <p:nvPr/>
        </p:nvSpPr>
        <p:spPr>
          <a:xfrm>
            <a:off x="1417320" y="2898648"/>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Many results in this space demonstrate performance gains without proving the gain is due to the mechanism they claim (representation vs. interface). Construct validity of borrowed cognitive tests for VLM computation is untested.</a:t>
            </a:r>
            <a:endParaRPr lang="en-US" sz="1000" dirty="0"/>
          </a:p>
        </p:txBody>
      </p:sp>
      <p:sp>
        <p:nvSpPr>
          <p:cNvPr id="15" name="Text 13"/>
          <p:cNvSpPr/>
          <p:nvPr/>
        </p:nvSpPr>
        <p:spPr>
          <a:xfrm>
            <a:off x="1417320" y="3310128"/>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How should I handle this risk methodologically — build replication into my pipeline, or trust published results and focus on extension?</a:t>
            </a:r>
            <a:endParaRPr lang="en-US" sz="1000" dirty="0"/>
          </a:p>
        </p:txBody>
      </p:sp>
      <p:sp>
        <p:nvSpPr>
          <p:cNvPr id="16" name="Shape 14"/>
          <p:cNvSpPr/>
          <p:nvPr/>
        </p:nvSpPr>
        <p:spPr>
          <a:xfrm>
            <a:off x="640080" y="3785616"/>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17" name="Shape 15"/>
          <p:cNvSpPr/>
          <p:nvPr/>
        </p:nvSpPr>
        <p:spPr>
          <a:xfrm>
            <a:off x="822960" y="3950208"/>
            <a:ext cx="457200" cy="457200"/>
          </a:xfrm>
          <a:prstGeom prst="ellipse">
            <a:avLst/>
          </a:prstGeom>
          <a:solidFill>
            <a:srgbClr val="8B5CF6"/>
          </a:solidFill>
          <a:ln/>
        </p:spPr>
      </p:sp>
      <p:sp>
        <p:nvSpPr>
          <p:cNvPr id="18" name="Text 16"/>
          <p:cNvSpPr/>
          <p:nvPr/>
        </p:nvSpPr>
        <p:spPr>
          <a:xfrm>
            <a:off x="822960" y="395020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19" name="Text 17"/>
          <p:cNvSpPr/>
          <p:nvPr/>
        </p:nvSpPr>
        <p:spPr>
          <a:xfrm>
            <a:off x="1417320" y="3895344"/>
            <a:ext cx="6949440" cy="292608"/>
          </a:xfrm>
          <a:prstGeom prst="rect">
            <a:avLst/>
          </a:prstGeom>
          <a:noFill/>
          <a:ln/>
        </p:spPr>
        <p:txBody>
          <a:bodyPr wrap="square" lIns="0" tIns="0" rIns="0" bIns="0"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"Generation implies understanding" is contested</a:t>
            </a:r>
            <a:endParaRPr lang="en-US" sz="1300" dirty="0"/>
          </a:p>
        </p:txBody>
      </p:sp>
      <p:sp>
        <p:nvSpPr>
          <p:cNvPr id="20" name="Text 18"/>
          <p:cNvSpPr/>
          <p:nvPr/>
        </p:nvSpPr>
        <p:spPr>
          <a:xfrm>
            <a:off x="1417320" y="4197096"/>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DeepMind advances this claim publicly (Genie 2/3); the V-JEPA camp disputes it. Neither side has empirically settled the question. Building on top of the strong claim without a way to test it is risky.</a:t>
            </a:r>
            <a:endParaRPr lang="en-US" sz="1000" dirty="0"/>
          </a:p>
        </p:txBody>
      </p:sp>
      <p:sp>
        <p:nvSpPr>
          <p:cNvPr id="21" name="Text 19"/>
          <p:cNvSpPr/>
          <p:nvPr/>
        </p:nvSpPr>
        <p:spPr>
          <a:xfrm>
            <a:off x="1417320" y="4608576"/>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Should my methodology stay agnostic to this debate, or explicitly contribute to it as a secondary contribution?</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Open questions I want to discuss — Applications &amp; feasibility</a:t>
            </a:r>
            <a:endParaRPr lang="en-US" sz="2600" dirty="0"/>
          </a:p>
        </p:txBody>
      </p:sp>
      <p:sp>
        <p:nvSpPr>
          <p:cNvPr id="3" name="Text 1"/>
          <p:cNvSpPr/>
          <p:nvPr/>
        </p:nvSpPr>
        <p:spPr>
          <a:xfrm>
            <a:off x="640080" y="777240"/>
            <a:ext cx="8229600" cy="27432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Where I need mentor input on scoping and positioning.</a:t>
            </a:r>
            <a:endParaRPr lang="en-US" sz="1100" dirty="0"/>
          </a:p>
        </p:txBody>
      </p:sp>
      <p:sp>
        <p:nvSpPr>
          <p:cNvPr id="4" name="Shape 2"/>
          <p:cNvSpPr/>
          <p:nvPr/>
        </p:nvSpPr>
        <p:spPr>
          <a:xfrm>
            <a:off x="640080" y="1188720"/>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5" name="Shape 3"/>
          <p:cNvSpPr/>
          <p:nvPr/>
        </p:nvSpPr>
        <p:spPr>
          <a:xfrm>
            <a:off x="822960" y="1353312"/>
            <a:ext cx="457200" cy="457200"/>
          </a:xfrm>
          <a:prstGeom prst="ellipse">
            <a:avLst/>
          </a:prstGeom>
          <a:solidFill>
            <a:srgbClr val="10B981"/>
          </a:solidFill>
          <a:ln/>
        </p:spPr>
      </p:sp>
      <p:sp>
        <p:nvSpPr>
          <p:cNvPr id="6" name="Text 4"/>
          <p:cNvSpPr/>
          <p:nvPr/>
        </p:nvSpPr>
        <p:spPr>
          <a:xfrm>
            <a:off x="822960" y="1353312"/>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C1</a:t>
            </a:r>
            <a:endParaRPr lang="en-US" sz="1500" dirty="0"/>
          </a:p>
        </p:txBody>
      </p:sp>
      <p:sp>
        <p:nvSpPr>
          <p:cNvPr id="7" name="Text 5"/>
          <p:cNvSpPr/>
          <p:nvPr/>
        </p:nvSpPr>
        <p:spPr>
          <a:xfrm>
            <a:off x="1417320" y="1298448"/>
            <a:ext cx="6949440" cy="292608"/>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VLA robustness inherits VLM deficits</a:t>
            </a:r>
            <a:endParaRPr lang="en-US" sz="1300" dirty="0"/>
          </a:p>
        </p:txBody>
      </p:sp>
      <p:sp>
        <p:nvSpPr>
          <p:cNvPr id="8" name="Text 6"/>
          <p:cNvSpPr/>
          <p:nvPr/>
        </p:nvSpPr>
        <p:spPr>
          <a:xfrm>
            <a:off x="1417320" y="1600200"/>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VLAs use image-based VLM encoders as their perceptual foundation. Errors in spatial-state representation compound across multi-step action horizons. If VLMs can't maintain spatial state under intervention, VLA long-horizon planning is compromised at the source.</a:t>
            </a:r>
            <a:endParaRPr lang="en-US" sz="1000" dirty="0"/>
          </a:p>
        </p:txBody>
      </p:sp>
      <p:sp>
        <p:nvSpPr>
          <p:cNvPr id="9" name="Text 7"/>
          <p:cNvSpPr/>
          <p:nvPr/>
        </p:nvSpPr>
        <p:spPr>
          <a:xfrm>
            <a:off x="1417320" y="2011680"/>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Is grounding my motivation in VLA robustness defensible, given VLAs currently use image encoders — or does the pending shift to video-input VLAs make this framing fragile?</a:t>
            </a:r>
            <a:endParaRPr lang="en-US" sz="1000" dirty="0"/>
          </a:p>
        </p:txBody>
      </p:sp>
      <p:sp>
        <p:nvSpPr>
          <p:cNvPr id="10" name="Shape 8"/>
          <p:cNvSpPr/>
          <p:nvPr/>
        </p:nvSpPr>
        <p:spPr>
          <a:xfrm>
            <a:off x="640080" y="2487168"/>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11" name="Shape 9"/>
          <p:cNvSpPr/>
          <p:nvPr/>
        </p:nvSpPr>
        <p:spPr>
          <a:xfrm>
            <a:off x="822960" y="2651760"/>
            <a:ext cx="457200" cy="457200"/>
          </a:xfrm>
          <a:prstGeom prst="ellipse">
            <a:avLst/>
          </a:prstGeom>
          <a:solidFill>
            <a:srgbClr val="EF4444"/>
          </a:solidFill>
          <a:ln/>
        </p:spPr>
      </p:sp>
      <p:sp>
        <p:nvSpPr>
          <p:cNvPr id="12" name="Text 10"/>
          <p:cNvSpPr/>
          <p:nvPr/>
        </p:nvSpPr>
        <p:spPr>
          <a:xfrm>
            <a:off x="822960" y="2651760"/>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C2</a:t>
            </a:r>
            <a:endParaRPr lang="en-US" sz="1500" dirty="0"/>
          </a:p>
        </p:txBody>
      </p:sp>
      <p:sp>
        <p:nvSpPr>
          <p:cNvPr id="13" name="Text 11"/>
          <p:cNvSpPr/>
          <p:nvPr/>
        </p:nvSpPr>
        <p:spPr>
          <a:xfrm>
            <a:off x="1417320" y="2596896"/>
            <a:ext cx="6949440" cy="292608"/>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T2I evaluation reliability requires spatial consistency checking</a:t>
            </a:r>
            <a:endParaRPr lang="en-US" sz="1300" dirty="0"/>
          </a:p>
        </p:txBody>
      </p:sp>
      <p:sp>
        <p:nvSpPr>
          <p:cNvPr id="14" name="Text 12"/>
          <p:cNvSpPr/>
          <p:nvPr/>
        </p:nvSpPr>
        <p:spPr>
          <a:xfrm>
            <a:off x="1417320" y="2898648"/>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T2I evaluation increasingly relies on VLMs to grade generated images for prompt adherence, including spatial claims ("cup behind bottle"). If judge VLMs can't verify occlusion, depth ordering, and spatial relations in generated content, T2I benchmarks and reward signals become unreliable.</a:t>
            </a:r>
            <a:endParaRPr lang="en-US" sz="1000" dirty="0"/>
          </a:p>
        </p:txBody>
      </p:sp>
      <p:sp>
        <p:nvSpPr>
          <p:cNvPr id="15" name="Text 13"/>
          <p:cNvSpPr/>
          <p:nvPr/>
        </p:nvSpPr>
        <p:spPr>
          <a:xfrm>
            <a:off x="1417320" y="3310128"/>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Is this a strong enough application motivation to lead with — or should it be a demonstration target within a broader mechanistic contribution?</a:t>
            </a:r>
            <a:endParaRPr lang="en-US" sz="1000" dirty="0"/>
          </a:p>
        </p:txBody>
      </p:sp>
      <p:sp>
        <p:nvSpPr>
          <p:cNvPr id="16" name="Shape 14"/>
          <p:cNvSpPr/>
          <p:nvPr/>
        </p:nvSpPr>
        <p:spPr>
          <a:xfrm>
            <a:off x="640080" y="3785616"/>
            <a:ext cx="7863840" cy="1188720"/>
          </a:xfrm>
          <a:prstGeom prst="roundRect">
            <a:avLst>
              <a:gd name="adj" fmla="val 6154"/>
            </a:avLst>
          </a:prstGeom>
          <a:solidFill>
            <a:srgbClr val="F0F4F8"/>
          </a:solidFill>
          <a:ln/>
          <a:effectLst>
            <a:outerShdw sx="100000" sy="100000" kx="0" ky="0" algn="bl" rotWithShape="0" blurRad="50800" dist="12700" dir="2700000">
              <a:srgbClr val="000000">
                <a:alpha val="8000"/>
              </a:srgbClr>
            </a:outerShdw>
          </a:effectLst>
        </p:spPr>
      </p:sp>
      <p:sp>
        <p:nvSpPr>
          <p:cNvPr id="17" name="Shape 15"/>
          <p:cNvSpPr/>
          <p:nvPr/>
        </p:nvSpPr>
        <p:spPr>
          <a:xfrm>
            <a:off x="822960" y="3950208"/>
            <a:ext cx="457200" cy="457200"/>
          </a:xfrm>
          <a:prstGeom prst="ellipse">
            <a:avLst/>
          </a:prstGeom>
          <a:solidFill>
            <a:srgbClr val="1B9AAA"/>
          </a:solidFill>
          <a:ln/>
        </p:spPr>
      </p:sp>
      <p:sp>
        <p:nvSpPr>
          <p:cNvPr id="18" name="Text 16"/>
          <p:cNvSpPr/>
          <p:nvPr/>
        </p:nvSpPr>
        <p:spPr>
          <a:xfrm>
            <a:off x="822960" y="3950208"/>
            <a:ext cx="45720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t>
            </a:r>
            <a:endParaRPr lang="en-US" sz="1500" dirty="0"/>
          </a:p>
        </p:txBody>
      </p:sp>
      <p:sp>
        <p:nvSpPr>
          <p:cNvPr id="19" name="Text 17"/>
          <p:cNvSpPr/>
          <p:nvPr/>
        </p:nvSpPr>
        <p:spPr>
          <a:xfrm>
            <a:off x="1417320" y="3895344"/>
            <a:ext cx="6949440" cy="292608"/>
          </a:xfrm>
          <a:prstGeom prst="rect">
            <a:avLst/>
          </a:prstGeom>
          <a:noFill/>
          <a:ln/>
        </p:spPr>
        <p:txBody>
          <a:bodyPr wrap="square" lIns="0" tIns="0" rIns="0" bIns="0"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Video/VLA trend vs. my compute constraint</a:t>
            </a:r>
            <a:endParaRPr lang="en-US" sz="1300" dirty="0"/>
          </a:p>
        </p:txBody>
      </p:sp>
      <p:sp>
        <p:nvSpPr>
          <p:cNvPr id="20" name="Text 18"/>
          <p:cNvSpPr/>
          <p:nvPr/>
        </p:nvSpPr>
        <p:spPr>
          <a:xfrm>
            <a:off x="1417320" y="4197096"/>
            <a:ext cx="6949440" cy="384048"/>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The field may shift toward video-first models. I lack compute for video research, but image-based VLMs remain upstream of video VLMs, image-based VLAs, and image-based judges — and mechanistic methodology transfers across modalities.</a:t>
            </a:r>
            <a:endParaRPr lang="en-US" sz="1000" dirty="0"/>
          </a:p>
        </p:txBody>
      </p:sp>
      <p:sp>
        <p:nvSpPr>
          <p:cNvPr id="21" name="Text 19"/>
          <p:cNvSpPr/>
          <p:nvPr/>
        </p:nvSpPr>
        <p:spPr>
          <a:xfrm>
            <a:off x="1417320" y="4608576"/>
            <a:ext cx="6949440" cy="320040"/>
          </a:xfrm>
          <a:prstGeom prst="rect">
            <a:avLst/>
          </a:prstGeom>
          <a:noFill/>
          <a:ln/>
        </p:spPr>
        <p:txBody>
          <a:bodyPr wrap="square" lIns="0" tIns="0" rIns="0" bIns="0" rtlCol="0" anchor="ctr"/>
          <a:lstStyle/>
          <a:p>
            <a:pPr indent="0" marL="0">
              <a:buNone/>
            </a:pPr>
            <a:r>
              <a:rPr lang="en-US" sz="1000" b="1" i="1" dirty="0">
                <a:solidFill>
                  <a:srgbClr val="E8715A"/>
                </a:solidFill>
                <a:latin typeface="Calibri" pitchFamily="34" charset="0"/>
                <a:ea typeface="Calibri" pitchFamily="34" charset="-122"/>
                <a:cs typeface="Calibri" pitchFamily="34" charset="-120"/>
              </a:rPr>
              <a:t>Question: </a:t>
            </a:r>
            <a:pPr indent="0" marL="0">
              <a:buNone/>
            </a:pPr>
            <a:r>
              <a:rPr lang="en-US" sz="1000" i="1" dirty="0">
                <a:solidFill>
                  <a:srgbClr val="1A202C"/>
                </a:solidFill>
                <a:latin typeface="Calibri" pitchFamily="34" charset="0"/>
                <a:ea typeface="Calibri" pitchFamily="34" charset="-122"/>
                <a:cs typeface="Calibri" pitchFamily="34" charset="-120"/>
              </a:rPr>
              <a:t>Am I making the right bet by staying image-focused — or should I plan for video adaptation as an explicit extension pathway?</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8229600" cy="502920"/>
          </a:xfrm>
          <a:prstGeom prst="rect">
            <a:avLst/>
          </a:prstGeom>
          <a:noFill/>
          <a:ln/>
        </p:spPr>
        <p:txBody>
          <a:bodyPr wrap="square" rtlCol="0" anchor="ctr"/>
          <a:lstStyle/>
          <a:p>
            <a:pPr indent="0" marL="0">
              <a:buNone/>
            </a:pPr>
            <a:r>
              <a:rPr lang="en-US" sz="2600" b="1" dirty="0">
                <a:solidFill>
                  <a:srgbClr val="1A202C"/>
                </a:solidFill>
                <a:latin typeface="Calibri" pitchFamily="34" charset="0"/>
                <a:ea typeface="Calibri" pitchFamily="34" charset="-122"/>
                <a:cs typeface="Calibri" pitchFamily="34" charset="-120"/>
              </a:rPr>
              <a:t>A concrete first step</a:t>
            </a:r>
            <a:endParaRPr lang="en-US" sz="2600" dirty="0"/>
          </a:p>
        </p:txBody>
      </p:sp>
      <p:sp>
        <p:nvSpPr>
          <p:cNvPr id="3" name="Text 1"/>
          <p:cNvSpPr/>
          <p:nvPr/>
        </p:nvSpPr>
        <p:spPr>
          <a:xfrm>
            <a:off x="640080" y="777240"/>
            <a:ext cx="8229600" cy="27432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How I'd test whether this direction is real — before committing to a protocol.</a:t>
            </a:r>
            <a:endParaRPr lang="en-US" sz="1100" dirty="0"/>
          </a:p>
        </p:txBody>
      </p:sp>
      <p:sp>
        <p:nvSpPr>
          <p:cNvPr id="4" name="Shape 2"/>
          <p:cNvSpPr/>
          <p:nvPr/>
        </p:nvSpPr>
        <p:spPr>
          <a:xfrm>
            <a:off x="640080" y="1097280"/>
            <a:ext cx="7863840" cy="685800"/>
          </a:xfrm>
          <a:prstGeom prst="roundRect">
            <a:avLst>
              <a:gd name="adj" fmla="val 10667"/>
            </a:avLst>
          </a:prstGeom>
          <a:solidFill>
            <a:srgbClr val="E6F7F9"/>
          </a:solidFill>
          <a:ln w="19050">
            <a:solidFill>
              <a:srgbClr val="1B9AAA"/>
            </a:solidFill>
            <a:prstDash val="solid"/>
          </a:ln>
        </p:spPr>
      </p:sp>
      <p:sp>
        <p:nvSpPr>
          <p:cNvPr id="5" name="Text 3"/>
          <p:cNvSpPr/>
          <p:nvPr/>
        </p:nvSpPr>
        <p:spPr>
          <a:xfrm>
            <a:off x="822960" y="1143000"/>
            <a:ext cx="7315200" cy="201168"/>
          </a:xfrm>
          <a:prstGeom prst="rect">
            <a:avLst/>
          </a:prstGeom>
          <a:noFill/>
          <a:ln/>
        </p:spPr>
        <p:txBody>
          <a:bodyPr wrap="square" lIns="0" tIns="0" rIns="0" bIns="0" rtlCol="0" anchor="ctr"/>
          <a:lstStyle/>
          <a:p>
            <a:pPr indent="0" marL="0">
              <a:buNone/>
            </a:pPr>
            <a:r>
              <a:rPr lang="en-US" sz="1000" b="1" dirty="0">
                <a:solidFill>
                  <a:srgbClr val="1B9AAA"/>
                </a:solidFill>
                <a:latin typeface="Calibri" pitchFamily="34" charset="0"/>
                <a:ea typeface="Calibri" pitchFamily="34" charset="-122"/>
                <a:cs typeface="Calibri" pitchFamily="34" charset="-120"/>
              </a:rPr>
              <a:t>Working hypothesis (probe)</a:t>
            </a:r>
            <a:endParaRPr lang="en-US" sz="1000" dirty="0"/>
          </a:p>
        </p:txBody>
      </p:sp>
      <p:sp>
        <p:nvSpPr>
          <p:cNvPr id="6" name="Text 4"/>
          <p:cNvSpPr/>
          <p:nvPr/>
        </p:nvSpPr>
        <p:spPr>
          <a:xfrm>
            <a:off x="822960" y="1344168"/>
            <a:ext cx="7498080" cy="411480"/>
          </a:xfrm>
          <a:prstGeom prst="rect">
            <a:avLst/>
          </a:prstGeom>
          <a:noFill/>
          <a:ln/>
        </p:spPr>
        <p:txBody>
          <a:bodyPr wrap="square" lIns="0" tIns="0" rIns="0" bIns="0" rtlCol="0" anchor="ctr"/>
          <a:lstStyle/>
          <a:p>
            <a:pPr indent="0" marL="0">
              <a:buNone/>
            </a:pPr>
            <a:r>
              <a:rPr lang="en-US" sz="1100" i="1" dirty="0">
                <a:solidFill>
                  <a:srgbClr val="1A202C"/>
                </a:solidFill>
                <a:latin typeface="Calibri" pitchFamily="34" charset="0"/>
                <a:ea typeface="Calibri" pitchFamily="34" charset="-122"/>
                <a:cs typeface="Calibri" pitchFamily="34" charset="-120"/>
              </a:rPr>
              <a:t>If VLMs have functional spatial understanding, then spatial-consequence features should be both linearly decodable from internal states AND causally used when the model answers spatial questions.</a:t>
            </a:r>
            <a:endParaRPr lang="en-US" sz="1100" dirty="0"/>
          </a:p>
        </p:txBody>
      </p:sp>
      <p:sp>
        <p:nvSpPr>
          <p:cNvPr id="7" name="Text 5"/>
          <p:cNvSpPr/>
          <p:nvPr/>
        </p:nvSpPr>
        <p:spPr>
          <a:xfrm>
            <a:off x="640080" y="1920240"/>
            <a:ext cx="7315200" cy="274320"/>
          </a:xfrm>
          <a:prstGeom prst="rect">
            <a:avLst/>
          </a:prstGeom>
          <a:noFill/>
          <a:ln/>
        </p:spPr>
        <p:txBody>
          <a:bodyPr wrap="square" rtlCol="0" anchor="ctr"/>
          <a:lstStyle/>
          <a:p>
            <a:pPr indent="0" marL="0">
              <a:buNone/>
            </a:pPr>
            <a:r>
              <a:rPr lang="en-US" sz="1200" b="1" dirty="0">
                <a:solidFill>
                  <a:srgbClr val="1A202C"/>
                </a:solidFill>
                <a:latin typeface="Calibri" pitchFamily="34" charset="0"/>
                <a:ea typeface="Calibri" pitchFamily="34" charset="-122"/>
                <a:cs typeface="Calibri" pitchFamily="34" charset="-120"/>
              </a:rPr>
              <a:t>Three steps  ·  ~2–4 weeks total on 8× A100</a:t>
            </a:r>
            <a:endParaRPr lang="en-US" sz="1200" dirty="0"/>
          </a:p>
        </p:txBody>
      </p:sp>
      <p:sp>
        <p:nvSpPr>
          <p:cNvPr id="8" name="Shape 6"/>
          <p:cNvSpPr/>
          <p:nvPr/>
        </p:nvSpPr>
        <p:spPr>
          <a:xfrm>
            <a:off x="640080" y="2240280"/>
            <a:ext cx="2606040" cy="1051560"/>
          </a:xfrm>
          <a:prstGeom prst="roundRect">
            <a:avLst>
              <a:gd name="adj" fmla="val 6957"/>
            </a:avLst>
          </a:prstGeom>
          <a:solidFill>
            <a:srgbClr val="F0F4F8"/>
          </a:solidFill>
          <a:ln/>
          <a:effectLst>
            <a:outerShdw sx="100000" sy="100000" kx="0" ky="0" algn="bl" rotWithShape="0" blurRad="50800" dist="12700" dir="2700000">
              <a:srgbClr val="000000">
                <a:alpha val="8000"/>
              </a:srgbClr>
            </a:outerShdw>
          </a:effectLst>
        </p:spPr>
      </p:sp>
      <p:sp>
        <p:nvSpPr>
          <p:cNvPr id="9" name="Shape 7"/>
          <p:cNvSpPr/>
          <p:nvPr/>
        </p:nvSpPr>
        <p:spPr>
          <a:xfrm>
            <a:off x="777240" y="2331720"/>
            <a:ext cx="320040" cy="320040"/>
          </a:xfrm>
          <a:prstGeom prst="ellipse">
            <a:avLst/>
          </a:prstGeom>
          <a:solidFill>
            <a:srgbClr val="1B9AAA"/>
          </a:solidFill>
          <a:ln/>
        </p:spPr>
      </p:sp>
      <p:sp>
        <p:nvSpPr>
          <p:cNvPr id="10" name="Text 8"/>
          <p:cNvSpPr/>
          <p:nvPr/>
        </p:nvSpPr>
        <p:spPr>
          <a:xfrm>
            <a:off x="777240" y="23317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2331720"/>
            <a:ext cx="1965960" cy="320040"/>
          </a:xfrm>
          <a:prstGeom prst="rect">
            <a:avLst/>
          </a:prstGeom>
          <a:noFill/>
          <a:ln/>
        </p:spPr>
        <p:txBody>
          <a:bodyPr wrap="square" lIns="0" tIns="0" rIns="0" bIns="0"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Reproduce</a:t>
            </a:r>
            <a:endParaRPr lang="en-US" sz="1300" dirty="0"/>
          </a:p>
        </p:txBody>
      </p:sp>
      <p:sp>
        <p:nvSpPr>
          <p:cNvPr id="12" name="Text 10"/>
          <p:cNvSpPr/>
          <p:nvPr/>
        </p:nvSpPr>
        <p:spPr>
          <a:xfrm>
            <a:off x="777240" y="2743200"/>
            <a:ext cx="2331720" cy="5029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Run Linear Mechanisms' spatial-ID probing on Qwen2.5-VL-7B using released code as-is.</a:t>
            </a:r>
            <a:endParaRPr lang="en-US" sz="1000" dirty="0"/>
          </a:p>
        </p:txBody>
      </p:sp>
      <p:sp>
        <p:nvSpPr>
          <p:cNvPr id="13" name="Shape 11"/>
          <p:cNvSpPr/>
          <p:nvPr/>
        </p:nvSpPr>
        <p:spPr>
          <a:xfrm>
            <a:off x="3429000" y="2240280"/>
            <a:ext cx="2606040" cy="1051560"/>
          </a:xfrm>
          <a:prstGeom prst="roundRect">
            <a:avLst>
              <a:gd name="adj" fmla="val 6957"/>
            </a:avLst>
          </a:prstGeom>
          <a:solidFill>
            <a:srgbClr val="F0F4F8"/>
          </a:solidFill>
          <a:ln/>
          <a:effectLst>
            <a:outerShdw sx="100000" sy="100000" kx="0" ky="0" algn="bl" rotWithShape="0" blurRad="50800" dist="12700" dir="2700000">
              <a:srgbClr val="000000">
                <a:alpha val="8000"/>
              </a:srgbClr>
            </a:outerShdw>
          </a:effectLst>
        </p:spPr>
      </p:sp>
      <p:sp>
        <p:nvSpPr>
          <p:cNvPr id="14" name="Shape 12"/>
          <p:cNvSpPr/>
          <p:nvPr/>
        </p:nvSpPr>
        <p:spPr>
          <a:xfrm>
            <a:off x="3566160" y="2331720"/>
            <a:ext cx="320040" cy="320040"/>
          </a:xfrm>
          <a:prstGeom prst="ellipse">
            <a:avLst/>
          </a:prstGeom>
          <a:solidFill>
            <a:srgbClr val="1B9AAA"/>
          </a:solidFill>
          <a:ln/>
        </p:spPr>
      </p:sp>
      <p:sp>
        <p:nvSpPr>
          <p:cNvPr id="15" name="Text 13"/>
          <p:cNvSpPr/>
          <p:nvPr/>
        </p:nvSpPr>
        <p:spPr>
          <a:xfrm>
            <a:off x="3566160" y="23317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3977640" y="2331720"/>
            <a:ext cx="1965960" cy="320040"/>
          </a:xfrm>
          <a:prstGeom prst="rect">
            <a:avLst/>
          </a:prstGeom>
          <a:noFill/>
          <a:ln/>
        </p:spPr>
        <p:txBody>
          <a:bodyPr wrap="square" lIns="0" tIns="0" rIns="0" bIns="0"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Extend</a:t>
            </a:r>
            <a:endParaRPr lang="en-US" sz="1300" dirty="0"/>
          </a:p>
        </p:txBody>
      </p:sp>
      <p:sp>
        <p:nvSpPr>
          <p:cNvPr id="17" name="Text 15"/>
          <p:cNvSpPr/>
          <p:nvPr/>
        </p:nvSpPr>
        <p:spPr>
          <a:xfrm>
            <a:off x="3566160" y="2743200"/>
            <a:ext cx="2331720" cy="5029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Add probing for ONE spatial-consequence feature (specific choice TBD — mentor input welcome).</a:t>
            </a:r>
            <a:endParaRPr lang="en-US" sz="1000" dirty="0"/>
          </a:p>
        </p:txBody>
      </p:sp>
      <p:sp>
        <p:nvSpPr>
          <p:cNvPr id="18" name="Shape 16"/>
          <p:cNvSpPr/>
          <p:nvPr/>
        </p:nvSpPr>
        <p:spPr>
          <a:xfrm>
            <a:off x="6217920" y="2240280"/>
            <a:ext cx="2606040" cy="1051560"/>
          </a:xfrm>
          <a:prstGeom prst="roundRect">
            <a:avLst>
              <a:gd name="adj" fmla="val 6957"/>
            </a:avLst>
          </a:prstGeom>
          <a:solidFill>
            <a:srgbClr val="F0F4F8"/>
          </a:solidFill>
          <a:ln/>
          <a:effectLst>
            <a:outerShdw sx="100000" sy="100000" kx="0" ky="0" algn="bl" rotWithShape="0" blurRad="50800" dist="12700" dir="2700000">
              <a:srgbClr val="000000">
                <a:alpha val="8000"/>
              </a:srgbClr>
            </a:outerShdw>
          </a:effectLst>
        </p:spPr>
      </p:sp>
      <p:sp>
        <p:nvSpPr>
          <p:cNvPr id="19" name="Shape 17"/>
          <p:cNvSpPr/>
          <p:nvPr/>
        </p:nvSpPr>
        <p:spPr>
          <a:xfrm>
            <a:off x="6355080" y="2331720"/>
            <a:ext cx="320040" cy="320040"/>
          </a:xfrm>
          <a:prstGeom prst="ellipse">
            <a:avLst/>
          </a:prstGeom>
          <a:solidFill>
            <a:srgbClr val="1B9AAA"/>
          </a:solidFill>
          <a:ln/>
        </p:spPr>
      </p:sp>
      <p:sp>
        <p:nvSpPr>
          <p:cNvPr id="20" name="Text 18"/>
          <p:cNvSpPr/>
          <p:nvPr/>
        </p:nvSpPr>
        <p:spPr>
          <a:xfrm>
            <a:off x="6355080" y="23317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766560" y="2331720"/>
            <a:ext cx="1965960" cy="320040"/>
          </a:xfrm>
          <a:prstGeom prst="rect">
            <a:avLst/>
          </a:prstGeom>
          <a:noFill/>
          <a:ln/>
        </p:spPr>
        <p:txBody>
          <a:bodyPr wrap="square" lIns="0" tIns="0" rIns="0" bIns="0"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Intervene</a:t>
            </a:r>
            <a:endParaRPr lang="en-US" sz="1300" dirty="0"/>
          </a:p>
        </p:txBody>
      </p:sp>
      <p:sp>
        <p:nvSpPr>
          <p:cNvPr id="22" name="Text 20"/>
          <p:cNvSpPr/>
          <p:nvPr/>
        </p:nvSpPr>
        <p:spPr>
          <a:xfrm>
            <a:off x="6355080" y="2743200"/>
            <a:ext cx="2331720" cy="50292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Apply causal intervention on that feature to test whether it's used, not just present.</a:t>
            </a:r>
            <a:endParaRPr lang="en-US" sz="1000" dirty="0"/>
          </a:p>
        </p:txBody>
      </p:sp>
      <p:sp>
        <p:nvSpPr>
          <p:cNvPr id="23" name="Text 21"/>
          <p:cNvSpPr/>
          <p:nvPr/>
        </p:nvSpPr>
        <p:spPr>
          <a:xfrm>
            <a:off x="640080" y="3429000"/>
            <a:ext cx="7315200" cy="274320"/>
          </a:xfrm>
          <a:prstGeom prst="rect">
            <a:avLst/>
          </a:prstGeom>
          <a:noFill/>
          <a:ln/>
        </p:spPr>
        <p:txBody>
          <a:bodyPr wrap="square" rtlCol="0" anchor="ctr"/>
          <a:lstStyle/>
          <a:p>
            <a:pPr indent="0" marL="0">
              <a:buNone/>
            </a:pPr>
            <a:r>
              <a:rPr lang="en-US" sz="1200" b="1" dirty="0">
                <a:solidFill>
                  <a:srgbClr val="1A202C"/>
                </a:solidFill>
                <a:latin typeface="Calibri" pitchFamily="34" charset="0"/>
                <a:ea typeface="Calibri" pitchFamily="34" charset="-122"/>
                <a:cs typeface="Calibri" pitchFamily="34" charset="-120"/>
              </a:rPr>
              <a:t>What each outcome tells me</a:t>
            </a:r>
            <a:endParaRPr lang="en-US" sz="1200" dirty="0"/>
          </a:p>
        </p:txBody>
      </p:sp>
      <p:sp>
        <p:nvSpPr>
          <p:cNvPr id="24" name="Shape 22"/>
          <p:cNvSpPr/>
          <p:nvPr/>
        </p:nvSpPr>
        <p:spPr>
          <a:xfrm>
            <a:off x="777240" y="3794760"/>
            <a:ext cx="274320" cy="274320"/>
          </a:xfrm>
          <a:prstGeom prst="ellipse">
            <a:avLst/>
          </a:prstGeom>
          <a:solidFill>
            <a:srgbClr val="10B981"/>
          </a:solidFill>
          <a:ln/>
        </p:spPr>
      </p:sp>
      <p:sp>
        <p:nvSpPr>
          <p:cNvPr id="25" name="Text 23"/>
          <p:cNvSpPr/>
          <p:nvPr/>
        </p:nvSpPr>
        <p:spPr>
          <a:xfrm>
            <a:off x="777240" y="379476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1188720" y="3749040"/>
            <a:ext cx="7315200" cy="36576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Decodable AND causally used</a:t>
            </a:r>
            <a:pPr indent="0" marL="0">
              <a:buNone/>
            </a:pPr>
            <a:r>
              <a:rPr lang="en-US" sz="1100" dirty="0">
                <a:solidFill>
                  <a:srgbClr val="4A5568"/>
                </a:solidFill>
                <a:latin typeface="Calibri" pitchFamily="34" charset="0"/>
                <a:ea typeface="Calibri" pitchFamily="34" charset="-122"/>
                <a:cs typeface="Calibri" pitchFamily="34" charset="-120"/>
              </a:rPr>
              <a:t>  →  Mechanism exists → characterize and enhance.</a:t>
            </a:r>
            <a:endParaRPr lang="en-US" sz="1100" dirty="0"/>
          </a:p>
        </p:txBody>
      </p:sp>
      <p:sp>
        <p:nvSpPr>
          <p:cNvPr id="27" name="Shape 25"/>
          <p:cNvSpPr/>
          <p:nvPr/>
        </p:nvSpPr>
        <p:spPr>
          <a:xfrm>
            <a:off x="777240" y="4178808"/>
            <a:ext cx="274320" cy="274320"/>
          </a:xfrm>
          <a:prstGeom prst="ellipse">
            <a:avLst/>
          </a:prstGeom>
          <a:solidFill>
            <a:srgbClr val="F59E0B"/>
          </a:solidFill>
          <a:ln/>
        </p:spPr>
      </p:sp>
      <p:sp>
        <p:nvSpPr>
          <p:cNvPr id="28" name="Text 26"/>
          <p:cNvSpPr/>
          <p:nvPr/>
        </p:nvSpPr>
        <p:spPr>
          <a:xfrm>
            <a:off x="777240" y="41788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1188720" y="4133088"/>
            <a:ext cx="7315200" cy="36576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Decodable but NOT causally used</a:t>
            </a:r>
            <a:pPr indent="0" marL="0">
              <a:buNone/>
            </a:pPr>
            <a:r>
              <a:rPr lang="en-US" sz="1100" dirty="0">
                <a:solidFill>
                  <a:srgbClr val="4A5568"/>
                </a:solidFill>
                <a:latin typeface="Calibri" pitchFamily="34" charset="0"/>
                <a:ea typeface="Calibri" pitchFamily="34" charset="-122"/>
                <a:cs typeface="Calibri" pitchFamily="34" charset="-120"/>
              </a:rPr>
              <a:t>  →  "Known vs used" gap → work to close it.</a:t>
            </a:r>
            <a:endParaRPr lang="en-US" sz="1100" dirty="0"/>
          </a:p>
        </p:txBody>
      </p:sp>
      <p:sp>
        <p:nvSpPr>
          <p:cNvPr id="30" name="Shape 28"/>
          <p:cNvSpPr/>
          <p:nvPr/>
        </p:nvSpPr>
        <p:spPr>
          <a:xfrm>
            <a:off x="777240" y="4562856"/>
            <a:ext cx="274320" cy="274320"/>
          </a:xfrm>
          <a:prstGeom prst="ellipse">
            <a:avLst/>
          </a:prstGeom>
          <a:solidFill>
            <a:srgbClr val="EF4444"/>
          </a:solidFill>
          <a:ln/>
        </p:spPr>
      </p:sp>
      <p:sp>
        <p:nvSpPr>
          <p:cNvPr id="31" name="Text 29"/>
          <p:cNvSpPr/>
          <p:nvPr/>
        </p:nvSpPr>
        <p:spPr>
          <a:xfrm>
            <a:off x="777240" y="456285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p:nvPr/>
        </p:nvSpPr>
        <p:spPr>
          <a:xfrm>
            <a:off x="1188720" y="4517136"/>
            <a:ext cx="7315200" cy="36576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Not linearly decodable</a:t>
            </a:r>
            <a:pPr indent="0" marL="0">
              <a:buNone/>
            </a:pPr>
            <a:r>
              <a:rPr lang="en-US" sz="1100" dirty="0">
                <a:solidFill>
                  <a:srgbClr val="4A5568"/>
                </a:solidFill>
                <a:latin typeface="Calibri" pitchFamily="34" charset="0"/>
                <a:ea typeface="Calibri" pitchFamily="34" charset="-122"/>
                <a:cs typeface="Calibri" pitchFamily="34" charset="-120"/>
              </a:rPr>
              <a:t>  →  Representation may be nonlinear or distributed → develop new probes.</a:t>
            </a:r>
            <a:endParaRPr lang="en-US" sz="1100" dirty="0"/>
          </a:p>
        </p:txBody>
      </p:sp>
      <p:sp>
        <p:nvSpPr>
          <p:cNvPr id="33" name="Shape 31"/>
          <p:cNvSpPr/>
          <p:nvPr/>
        </p:nvSpPr>
        <p:spPr>
          <a:xfrm>
            <a:off x="640080" y="5029200"/>
            <a:ext cx="7863840" cy="320040"/>
          </a:xfrm>
          <a:prstGeom prst="roundRect">
            <a:avLst>
              <a:gd name="adj" fmla="val 17143"/>
            </a:avLst>
          </a:prstGeom>
          <a:solidFill>
            <a:srgbClr val="FFF7ED"/>
          </a:solidFill>
          <a:ln/>
        </p:spPr>
      </p:sp>
      <p:sp>
        <p:nvSpPr>
          <p:cNvPr id="34" name="Text 32"/>
          <p:cNvSpPr/>
          <p:nvPr/>
        </p:nvSpPr>
        <p:spPr>
          <a:xfrm>
            <a:off x="822960" y="5056632"/>
            <a:ext cx="7498080" cy="274320"/>
          </a:xfrm>
          <a:prstGeom prst="rect">
            <a:avLst/>
          </a:prstGeom>
          <a:noFill/>
          <a:ln/>
        </p:spPr>
        <p:txBody>
          <a:bodyPr wrap="square" rtlCol="0" anchor="ctr"/>
          <a:lstStyle/>
          <a:p>
            <a:pPr indent="0" marL="0">
              <a:buNone/>
            </a:pPr>
            <a:r>
              <a:rPr lang="en-US" sz="1000" i="1" dirty="0">
                <a:solidFill>
                  <a:srgbClr val="E8715A"/>
                </a:solidFill>
                <a:latin typeface="Calibri" pitchFamily="34" charset="0"/>
                <a:ea typeface="Calibri" pitchFamily="34" charset="-122"/>
                <a:cs typeface="Calibri" pitchFamily="34" charset="-120"/>
              </a:rPr>
              <a:t>A test of the direction, not a committed protocol. Direction stays open until this probe returns a signal.</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1371600" y="3200400"/>
            <a:ext cx="3657600" cy="3657600"/>
          </a:xfrm>
          <a:prstGeom prst="ellipse">
            <a:avLst/>
          </a:prstGeom>
          <a:solidFill>
            <a:srgbClr val="1B9AAA">
              <a:alpha val="12000"/>
            </a:srgbClr>
          </a:solidFill>
          <a:ln/>
        </p:spPr>
      </p:sp>
      <p:sp>
        <p:nvSpPr>
          <p:cNvPr id="3" name="Text 1"/>
          <p:cNvSpPr/>
          <p:nvPr/>
        </p:nvSpPr>
        <p:spPr>
          <a:xfrm>
            <a:off x="731520" y="457200"/>
            <a:ext cx="7315200" cy="64008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Summary</a:t>
            </a:r>
            <a:endParaRPr lang="en-US" sz="3000" dirty="0"/>
          </a:p>
        </p:txBody>
      </p:sp>
      <p:sp>
        <p:nvSpPr>
          <p:cNvPr id="4" name="Text 2"/>
          <p:cNvSpPr/>
          <p:nvPr/>
        </p:nvSpPr>
        <p:spPr>
          <a:xfrm>
            <a:off x="731520" y="1280160"/>
            <a:ext cx="7772400" cy="548640"/>
          </a:xfrm>
          <a:prstGeom prst="rect">
            <a:avLst/>
          </a:prstGeom>
          <a:noFill/>
          <a:ln/>
        </p:spPr>
        <p:txBody>
          <a:bodyPr wrap="square"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1.  </a:t>
            </a:r>
            <a:pPr indent="0" marL="0">
              <a:buNone/>
            </a:pPr>
            <a:r>
              <a:rPr lang="en-US" sz="1300" dirty="0">
                <a:solidFill>
                  <a:srgbClr val="E2E8F0"/>
                </a:solidFill>
                <a:latin typeface="Calibri" pitchFamily="34" charset="0"/>
                <a:ea typeface="Calibri" pitchFamily="34" charset="-122"/>
                <a:cs typeface="Calibri" pitchFamily="34" charset="-120"/>
              </a:rPr>
              <a:t>VSR is broader than spatial QA — it requires maintaining, composing, and updating spatial state.</a:t>
            </a:r>
            <a:endParaRPr lang="en-US" sz="1300" dirty="0"/>
          </a:p>
        </p:txBody>
      </p:sp>
      <p:sp>
        <p:nvSpPr>
          <p:cNvPr id="5" name="Text 3"/>
          <p:cNvSpPr/>
          <p:nvPr/>
        </p:nvSpPr>
        <p:spPr>
          <a:xfrm>
            <a:off x="731520" y="1938528"/>
            <a:ext cx="7772400" cy="548640"/>
          </a:xfrm>
          <a:prstGeom prst="rect">
            <a:avLst/>
          </a:prstGeom>
          <a:noFill/>
          <a:ln/>
        </p:spPr>
        <p:txBody>
          <a:bodyPr wrap="square"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2.  </a:t>
            </a:r>
            <a:pPr indent="0" marL="0">
              <a:buNone/>
            </a:pPr>
            <a:r>
              <a:rPr lang="en-US" sz="1300" dirty="0">
                <a:solidFill>
                  <a:srgbClr val="E2E8F0"/>
                </a:solidFill>
                <a:latin typeface="Calibri" pitchFamily="34" charset="0"/>
                <a:ea typeface="Calibri" pitchFamily="34" charset="-122"/>
                <a:cs typeface="Calibri" pitchFamily="34" charset="-120"/>
              </a:rPr>
              <a:t>The field has no shared definition of "spatial understanding" — I'm adopting the causal-use definition.</a:t>
            </a:r>
            <a:endParaRPr lang="en-US" sz="1300" dirty="0"/>
          </a:p>
        </p:txBody>
      </p:sp>
      <p:sp>
        <p:nvSpPr>
          <p:cNvPr id="6" name="Text 4"/>
          <p:cNvSpPr/>
          <p:nvPr/>
        </p:nvSpPr>
        <p:spPr>
          <a:xfrm>
            <a:off x="731520" y="2596896"/>
            <a:ext cx="7772400" cy="548640"/>
          </a:xfrm>
          <a:prstGeom prst="rect">
            <a:avLst/>
          </a:prstGeom>
          <a:noFill/>
          <a:ln/>
        </p:spPr>
        <p:txBody>
          <a:bodyPr wrap="square"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3.  </a:t>
            </a:r>
            <a:pPr indent="0" marL="0">
              <a:buNone/>
            </a:pPr>
            <a:r>
              <a:rPr lang="en-US" sz="1300" dirty="0">
                <a:solidFill>
                  <a:srgbClr val="E2E8F0"/>
                </a:solidFill>
                <a:latin typeface="Calibri" pitchFamily="34" charset="0"/>
                <a:ea typeface="Calibri" pitchFamily="34" charset="-122"/>
                <a:cs typeface="Calibri" pitchFamily="34" charset="-120"/>
              </a:rPr>
              <a:t>Recurring pattern: structure helps VLMs, but we cannot separate representation gains from interface gains.</a:t>
            </a:r>
            <a:endParaRPr lang="en-US" sz="1300" dirty="0"/>
          </a:p>
        </p:txBody>
      </p:sp>
      <p:sp>
        <p:nvSpPr>
          <p:cNvPr id="7" name="Text 5"/>
          <p:cNvSpPr/>
          <p:nvPr/>
        </p:nvSpPr>
        <p:spPr>
          <a:xfrm>
            <a:off x="731520" y="3255264"/>
            <a:ext cx="7772400" cy="548640"/>
          </a:xfrm>
          <a:prstGeom prst="rect">
            <a:avLst/>
          </a:prstGeom>
          <a:noFill/>
          <a:ln/>
        </p:spPr>
        <p:txBody>
          <a:bodyPr wrap="square"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4.  </a:t>
            </a:r>
            <a:pPr indent="0" marL="0">
              <a:buNone/>
            </a:pPr>
            <a:r>
              <a:rPr lang="en-US" sz="1300" dirty="0">
                <a:solidFill>
                  <a:srgbClr val="E2E8F0"/>
                </a:solidFill>
                <a:latin typeface="Calibri" pitchFamily="34" charset="0"/>
                <a:ea typeface="Calibri" pitchFamily="34" charset="-122"/>
                <a:cs typeface="Calibri" pitchFamily="34" charset="-120"/>
              </a:rPr>
              <a:t>Linear Mechanisms (2026) offers the first mechanistic candidate answer to whether internal spatial representation exists.</a:t>
            </a:r>
            <a:endParaRPr lang="en-US" sz="1300" dirty="0"/>
          </a:p>
        </p:txBody>
      </p:sp>
      <p:sp>
        <p:nvSpPr>
          <p:cNvPr id="8" name="Text 6"/>
          <p:cNvSpPr/>
          <p:nvPr/>
        </p:nvSpPr>
        <p:spPr>
          <a:xfrm>
            <a:off x="731520" y="3913632"/>
            <a:ext cx="7772400" cy="548640"/>
          </a:xfrm>
          <a:prstGeom prst="rect">
            <a:avLst/>
          </a:prstGeom>
          <a:noFill/>
          <a:ln/>
        </p:spPr>
        <p:txBody>
          <a:bodyPr wrap="square" rtlCol="0" anchor="ctr"/>
          <a:lstStyle/>
          <a:p>
            <a:pPr indent="0" marL="0">
              <a:buNone/>
            </a:pPr>
            <a:r>
              <a:rPr lang="en-US" sz="1300" b="1" dirty="0">
                <a:solidFill>
                  <a:srgbClr val="1B9AAA"/>
                </a:solidFill>
                <a:latin typeface="Calibri" pitchFamily="34" charset="0"/>
                <a:ea typeface="Calibri" pitchFamily="34" charset="-122"/>
                <a:cs typeface="Calibri" pitchFamily="34" charset="-120"/>
              </a:rPr>
              <a:t>5.  </a:t>
            </a:r>
            <a:pPr indent="0" marL="0">
              <a:buNone/>
            </a:pPr>
            <a:r>
              <a:rPr lang="en-US" sz="1300" dirty="0">
                <a:solidFill>
                  <a:srgbClr val="E2E8F0"/>
                </a:solidFill>
                <a:latin typeface="Calibri" pitchFamily="34" charset="0"/>
                <a:ea typeface="Calibri" pitchFamily="34" charset="-122"/>
                <a:cs typeface="Calibri" pitchFamily="34" charset="-120"/>
              </a:rPr>
              <a:t>My emerging direction: mechanistic tools × spatial consequence reasoning × VLA/judge applications.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Spatial Reasoning — Research Landscape</dc:title>
  <dc:subject>PptxGenJS Presentation</dc:subject>
  <dc:creator>Kaho</dc:creator>
  <cp:lastModifiedBy>Kaho</cp:lastModifiedBy>
  <cp:revision>1</cp:revision>
  <dcterms:created xsi:type="dcterms:W3CDTF">2026-07-05T06:39:51Z</dcterms:created>
  <dcterms:modified xsi:type="dcterms:W3CDTF">2026-07-05T06:39:51Z</dcterms:modified>
</cp:coreProperties>
</file>