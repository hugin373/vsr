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9436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為追蹤 VLM 中的度量空間資訊而設計受控空間資料集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481328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從 M1 v0 到 M4a 刺激圖像組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2331720"/>
            <a:ext cx="10241280" cy="123444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2441448"/>
            <a:ext cx="9966959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TC"/>
              </a:rPr>
              <a:t>研究目標：定位連續度量深度在哪裡仍被編碼、變得不可存取，或沒有被使用</a:t>
            </a:r>
          </a:p>
          <a:p>
            <a:r>
              <a:rPr sz="1200">
                <a:latin typeface="Noto Sans CJK TC"/>
              </a:rPr>
              <a:t>資料集目標：讓影像證據有效、可識別，且不能被簡單 shortcut 解釋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263640"/>
            <a:ext cx="9601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根據 repo 當前狀態與 /data3/hugin/vsr/stimuli 中的 pilot renders 製作 · 2026 年 7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總覽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投影片流程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資料集設計是研究問題與模型 probing 之間的關鍵橋樑。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2194560"/>
            <a:ext cx="23317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331720"/>
            <a:ext cx="20025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研究目的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670048"/>
            <a:ext cx="2002536" cy="7132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度量深度在 VLM 鏈條中的哪裡失效？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17520" y="2834640"/>
            <a:ext cx="457200" cy="0"/>
          </a:xfrm>
          <a:prstGeom prst="line">
            <a:avLst/>
          </a:prstGeom>
          <a:ln w="16510">
            <a:solidFill>
              <a:srgbClr val="246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74720" y="2194560"/>
            <a:ext cx="23317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2331720"/>
            <a:ext cx="20025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計畫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2670048"/>
            <a:ext cx="2002536" cy="7132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M1 -&gt; M3 -&gt; M4a -&gt; M5/M6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06440" y="2834640"/>
            <a:ext cx="457200" cy="0"/>
          </a:xfrm>
          <a:prstGeom prst="line">
            <a:avLst/>
          </a:prstGeom>
          <a:ln w="16510">
            <a:solidFill>
              <a:srgbClr val="0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63640" y="2194560"/>
            <a:ext cx="23317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1" y="2331720"/>
            <a:ext cx="20025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先行研究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1" y="2670048"/>
            <a:ext cx="2002536" cy="7132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Kang 的 spatial IDs；Wang &amp; Gao 的 latent topology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595359" y="2834640"/>
            <a:ext cx="457200" cy="0"/>
          </a:xfrm>
          <a:prstGeom prst="line">
            <a:avLst/>
          </a:prstGeom>
          <a:ln w="16510">
            <a:solidFill>
              <a:srgbClr val="6E52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052559" y="2194560"/>
            <a:ext cx="23317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17151" y="2331720"/>
            <a:ext cx="20025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資料集設計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1" y="2670048"/>
            <a:ext cx="2002536" cy="7132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v0 審計 -&gt; M4a 受控 regimes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572000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核心觀點：M4a 不只是產生影像，而是在建構一個測量儀器。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研究目的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沿著 VLM 計算鏈追蹤連續度量空間資訊。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10789920" cy="77724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92807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TC"/>
              </a:rPr>
              <a:t>問題：度量空間資訊在哪裡變得不可用、不可存取、因果上不活躍，或沒有被使用？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TC"/>
              </a:rPr>
              <a:t>定性／序位錨點：left/right、front/behind、nearer/farther。</a:t>
            </a:r>
          </a:p>
          <a:p>
            <a:r>
              <a:rPr sz="1200">
                <a:latin typeface="Noto Sans CJK TC"/>
              </a:rPr>
              <a:t>度量 probe 目標：連續深度 z、深度比例、橫向／世界座標位置。</a:t>
            </a:r>
          </a:p>
          <a:p>
            <a:r>
              <a:rPr sz="1200">
                <a:latin typeface="Noto Sans CJK TC"/>
              </a:rPr>
              <a:t>因果問題：如果改變表徵，答案會不會跟著改變？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88036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TC"/>
              </a:rPr>
              <a:t>本專案不預設度量資訊被「破壞」。</a:t>
            </a:r>
          </a:p>
          <a:p>
            <a:r>
              <a:rPr sz="1200">
                <a:latin typeface="Noto Sans CJK TC"/>
              </a:rPr>
              <a:t>它區分編碼、可存取性、可改變性與自然使用。</a:t>
            </a:r>
          </a:p>
          <a:p>
            <a:r>
              <a:rPr sz="1200">
                <a:latin typeface="Noto Sans CJK TC"/>
              </a:rPr>
              <a:t>這需要 ground truth 與視覺證據都有效的刺激圖像。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為什麼只看 accuracy 不夠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模型可以在不使用度量空間表徵的情況下答對空間問題。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461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65960"/>
            <a:ext cx="29169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Mask / bbox 幾何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04288"/>
            <a:ext cx="2916936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中心點、面積、高度、物體範圍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828800"/>
            <a:ext cx="32461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965960"/>
            <a:ext cx="29169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場景 cue shortcuts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1" y="2304288"/>
            <a:ext cx="2916936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表觀大小、影像高度、類別先驗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828800"/>
            <a:ext cx="32461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2" y="1965960"/>
            <a:ext cx="29169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Prompt / answer artifacts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2304288"/>
            <a:ext cx="2916936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選項順序、tokenization、措辭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3977639"/>
            <a:ext cx="10058400" cy="96012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19" y="4087368"/>
            <a:ext cx="97840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TC"/>
              </a:rPr>
              <a:t>高 probe 分數只有在超過預先指定的 nuisance baselines，且在 held-out factors 下仍成立時，才算是表徵證據。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這就是為什麼本 deck 先聚焦資料集設計，而不是模型結果。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要測試的功能鏈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只有在 M4a 通過刺激圖像 gate 後，M5/M6 才有意義。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123444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468879"/>
            <a:ext cx="9052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影像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37360" y="2743200"/>
            <a:ext cx="274320" cy="0"/>
          </a:xfrm>
          <a:prstGeom prst="line">
            <a:avLst/>
          </a:prstGeom>
          <a:ln w="19050">
            <a:solidFill>
              <a:srgbClr val="5E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011680" y="2331720"/>
            <a:ext cx="123444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76272" y="2468879"/>
            <a:ext cx="9052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Vision encoder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46120" y="2743200"/>
            <a:ext cx="411480" cy="0"/>
          </a:xfrm>
          <a:prstGeom prst="line">
            <a:avLst/>
          </a:prstGeom>
          <a:ln w="19050">
            <a:solidFill>
              <a:srgbClr val="5E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657600" y="2331720"/>
            <a:ext cx="123444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22191" y="2468879"/>
            <a:ext cx="9052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VL interface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92040" y="2743200"/>
            <a:ext cx="502920" cy="0"/>
          </a:xfrm>
          <a:prstGeom prst="line">
            <a:avLst/>
          </a:prstGeom>
          <a:ln w="19050">
            <a:solidFill>
              <a:srgbClr val="5E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394960" y="2331720"/>
            <a:ext cx="150876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59552" y="2468879"/>
            <a:ext cx="11795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早期 multimodal LM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903720" y="2743200"/>
            <a:ext cx="411480" cy="0"/>
          </a:xfrm>
          <a:prstGeom prst="line">
            <a:avLst/>
          </a:prstGeom>
          <a:ln w="19050">
            <a:solidFill>
              <a:srgbClr val="5E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15200" y="2331720"/>
            <a:ext cx="150876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9792" y="2468879"/>
            <a:ext cx="11795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Object-word tokens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23960" y="2743200"/>
            <a:ext cx="320040" cy="0"/>
          </a:xfrm>
          <a:prstGeom prst="line">
            <a:avLst/>
          </a:prstGeom>
          <a:ln w="19050">
            <a:solidFill>
              <a:srgbClr val="5E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144000" y="2331720"/>
            <a:ext cx="123444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08592" y="2468879"/>
            <a:ext cx="9052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Answer/readout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378440" y="2743200"/>
            <a:ext cx="411480" cy="0"/>
          </a:xfrm>
          <a:prstGeom prst="line">
            <a:avLst/>
          </a:prstGeom>
          <a:ln w="19050">
            <a:solidFill>
              <a:srgbClr val="5E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789920" y="2331720"/>
            <a:ext cx="123444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54512" y="2468879"/>
            <a:ext cx="9052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文字答案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977639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TC"/>
              </a:rPr>
              <a:t>每個階段都要問：連續深度是否能在超過 nuisance baselines 的情況下被解碼？</a:t>
            </a:r>
          </a:p>
          <a:p>
            <a:r>
              <a:rPr sz="1200">
                <a:latin typeface="Noto Sans CJK TC"/>
              </a:rPr>
              <a:t>在語言綁定階段：資訊是否是 object-specific，而不只是全局存在？</a:t>
            </a:r>
          </a:p>
          <a:p>
            <a:r>
              <a:rPr sz="1200">
                <a:latin typeface="Noto Sans CJK TC"/>
              </a:rPr>
              <a:t>在 intervention 階段：改變深度相關表徵是否會改變 belief/readout？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計畫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圍繞資料集建構的專案計畫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M1 和 M3 決定 M4a 必須修正什麼。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M1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00200"/>
            <a:ext cx="3291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最小 renderer + v0 刺激圖像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1600200"/>
            <a:ext cx="6309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建立第一版受控 image/annotation pipeline。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M3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423160"/>
            <a:ext cx="3291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重現／審計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423160"/>
            <a:ext cx="6309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用先行研究的方法測試 v0 是否是可用的實驗基底。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46120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M4a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246120"/>
            <a:ext cx="3291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刺激圖像組 v1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3246120"/>
            <a:ext cx="6309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重新設計刺激圖像，使證據有效並量測 shortcuts。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069080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M4b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069080"/>
            <a:ext cx="3291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Activation cache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4069080"/>
            <a:ext cx="6309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只在 M4a 通過後抽取五階段表徵。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892040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M5/M6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892040"/>
            <a:ext cx="3291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Probe + intervention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4892040"/>
            <a:ext cx="6309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定位並測試度量深度的因果使用。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852160"/>
            <a:ext cx="10332720" cy="41148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961888"/>
            <a:ext cx="10058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TC"/>
              </a:rPr>
              <a:t>目前狀態：M4a 仍在進行；完整 M4b extraction 在 stimulus gate 通過前保持鎖定。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先行研究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先行研究 1：Kang et al. 的 Spatial IDs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用於 spatial beliefs 的 object-word 因果 intervention 框架。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TC"/>
              </a:rPr>
              <a:t>主張：物體位置會以 spatial IDs 的形式線性綁定到 object-word activations。</a:t>
            </a:r>
          </a:p>
          <a:p>
            <a:r>
              <a:rPr sz="1200">
                <a:latin typeface="Noto Sans CJK TC"/>
              </a:rPr>
              <a:t>Pipeline：Objaverse renders -&gt; 4x4 grid -&gt; object-word activations -&gt; spatial-ID extraction。</a:t>
            </a:r>
          </a:p>
          <a:p>
            <a:r>
              <a:rPr sz="1200">
                <a:latin typeface="Noto Sans CJK TC"/>
              </a:rPr>
              <a:t>Intervention：加上／減去 mirror spatial-ID directions，並量測 left/right belief swap。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91640"/>
            <a:ext cx="4800600" cy="150876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801368"/>
            <a:ext cx="4526280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TC"/>
              </a:rPr>
              <a:t>論文 headline：</a:t>
            </a:r>
          </a:p>
          <a:p>
            <a:r>
              <a:rPr sz="1200">
                <a:latin typeface="Noto Sans CJK TC"/>
              </a:rPr>
              <a:t>spatial-ID steering ~64.4%</a:t>
            </a:r>
          </a:p>
          <a:p>
            <a:r>
              <a:rPr sz="1200">
                <a:latin typeface="Noto Sans CJK TC"/>
              </a:rPr>
              <a:t>noise ~29.5%</a:t>
            </a:r>
          </a:p>
          <a:p>
            <a:r>
              <a:rPr sz="1200">
                <a:latin typeface="Noto Sans CJK TC"/>
              </a:rPr>
              <a:t>above-chance influence 43.6%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657600"/>
            <a:ext cx="46634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我們的 M3.1：定性機制重現；絕對效果量沒有重現。這支持 spatial-ID-like 機制存在，但不能定位連續度量深度。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來源：Kang et al., arXiv:2601.12626。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先行研究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先行研究 2：Wang &amp; Gao 的 Latent Spatial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針對 VLM latent space 中 spatial topology 的 probing 與 regularization 研究。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5303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TC"/>
              </a:rPr>
              <a:t>SynSpat3D：shape、color、size、3D position 獨立抽樣的 synthetic scenes。</a:t>
            </a:r>
          </a:p>
          <a:p>
            <a:r>
              <a:rPr sz="1200">
                <a:latin typeface="Noto Sans CJK TC"/>
              </a:rPr>
              <a:t>預設 probing corpus：1,000 個 Free6DoF scenes，每個 16 frames，每個 scene 5 個問題。</a:t>
            </a:r>
          </a:p>
          <a:p>
            <a:r>
              <a:rPr sz="1200">
                <a:latin typeface="Noto Sans CJK TC"/>
              </a:rPr>
              <a:t>Object representation：由 mask 驅動、按 coverage 加權的 visual-token pooling。</a:t>
            </a:r>
          </a:p>
          <a:p>
            <a:r>
              <a:rPr sz="1200">
                <a:latin typeface="Noto Sans CJK TC"/>
              </a:rPr>
              <a:t>Targets：color、shape、x-coordinate、z-coordinate、3D-distance topology。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737360"/>
            <a:ext cx="4846320" cy="192024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847088"/>
            <a:ext cx="4572000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TC"/>
              </a:rPr>
              <a:t>Reported Qwen L17 pattern：</a:t>
            </a:r>
          </a:p>
          <a:p>
            <a:r>
              <a:rPr sz="1200">
                <a:latin typeface="Noto Sans CJK TC"/>
              </a:rPr>
              <a:t>color 0.51 ± 0.02</a:t>
            </a:r>
          </a:p>
          <a:p>
            <a:r>
              <a:rPr sz="1200">
                <a:latin typeface="Noto Sans CJK TC"/>
              </a:rPr>
              <a:t>shape 1.00 ± 0.00</a:t>
            </a:r>
          </a:p>
          <a:p>
            <a:r>
              <a:rPr sz="1200">
                <a:latin typeface="Noto Sans CJK TC"/>
              </a:rPr>
              <a:t>x R² -0.09 ± 0.01</a:t>
            </a:r>
          </a:p>
          <a:p>
            <a:r>
              <a:rPr sz="1200">
                <a:latin typeface="Noto Sans CJK TC"/>
              </a:rPr>
              <a:t>z R² +0.28 ± 0.02</a:t>
            </a:r>
          </a:p>
          <a:p>
            <a:r>
              <a:rPr sz="1200">
                <a:latin typeface="Noto Sans CJK TC"/>
              </a:rPr>
              <a:t>3D-distance RSA +0.01 ± 0.01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160520"/>
            <a:ext cx="4754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他們的主張：非幾何語義佔優勢；3D topology 較弱，但可透過 Dirichlet-energy regularizer shaping。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來源：Wang &amp; Gao, arXiv:2605.07148。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先行研究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為什麼我們的 M3.2 是審計，而不是嚴格重現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原始 SynSpat3D 分布和我們的 M1 v0 根本不同。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28800"/>
            <a:ext cx="48828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Wang &amp; Gao SynSpat3D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4800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TC"/>
              </a:rPr>
              <a:t>多物體場景：appendix 預設 3-8 個 objects。</a:t>
            </a:r>
          </a:p>
          <a:p>
            <a:r>
              <a:rPr sz="1200">
                <a:latin typeface="Noto Sans CJK TC"/>
              </a:rPr>
              <a:t>16-frame egocentric rendering。</a:t>
            </a:r>
          </a:p>
          <a:p>
            <a:r>
              <a:rPr sz="1200">
                <a:latin typeface="Noto Sans CJK TC"/>
              </a:rPr>
              <a:t>Free6DoF random camera paths。</a:t>
            </a:r>
          </a:p>
          <a:p>
            <a:r>
              <a:rPr sz="1200">
                <a:latin typeface="Noto Sans CJK TC"/>
              </a:rPr>
              <a:t>Shape/color/size/position 獨立抽樣。</a:t>
            </a:r>
          </a:p>
          <a:p>
            <a:r>
              <a:rPr sz="1200">
                <a:latin typeface="Noto Sans CJK TC"/>
              </a:rPr>
              <a:t>為 latent scene topology / cognitive-map analysis 設計。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91640"/>
            <a:ext cx="521208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1" y="1828800"/>
            <a:ext cx="48828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我們的 M1 v0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48840"/>
            <a:ext cx="4800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TC"/>
              </a:rPr>
              <a:t>只有兩個 target objects。</a:t>
            </a:r>
          </a:p>
          <a:p>
            <a:r>
              <a:rPr sz="1200">
                <a:latin typeface="Noto Sans CJK TC"/>
              </a:rPr>
              <a:t>單張 image。</a:t>
            </a:r>
          </a:p>
          <a:p>
            <a:r>
              <a:rPr sz="1200">
                <a:latin typeface="Noto Sans CJK TC"/>
              </a:rPr>
              <a:t>固定 camera。</a:t>
            </a:r>
          </a:p>
          <a:p>
            <a:r>
              <a:rPr sz="1200">
                <a:latin typeface="Noto Sans CJK TC"/>
              </a:rPr>
              <a:t>只有 congruent cues。</a:t>
            </a:r>
          </a:p>
          <a:p>
            <a:r>
              <a:rPr sz="1200">
                <a:latin typeface="Noto Sans CJK TC"/>
              </a:rPr>
              <a:t>固定 lateral offset 與 shared size multiplier。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5989320"/>
            <a:ext cx="10149840" cy="41148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19" y="6099048"/>
            <a:ext cx="98755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TC"/>
              </a:rPr>
              <a:t>正確解讀：M3.2 是用 Wang &amp; Gao-style probing 審計 v0；它沒有重現他們的完整資料集。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M1 V0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M1 v0 資料集：它的用途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一個最小 renderer 與 geometry-validation 基底，不是最終科學資料集。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749039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828800"/>
            <a:ext cx="34198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460A0"/>
                </a:solidFill>
                <a:latin typeface="Aptos"/>
              </a:rPr>
              <a:t/>
            </a:r>
          </a:p>
        </p:txBody>
      </p:sp>
      <p:pic>
        <p:nvPicPr>
          <p:cNvPr id="8" name="Picture 7" descr="v0_congruent_00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734" y="1801368"/>
            <a:ext cx="2519172" cy="25191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" y="4341114"/>
            <a:ext cx="343814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v0 例圖：固定左右位置 + congruent cues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601718"/>
            <a:ext cx="3438144" cy="1303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v0_congruent_00000</a:t>
            </a:r>
          </a:p>
          <a:p>
            <a:r>
              <a:rPr sz="1200">
                <a:latin typeface="Noto Sans CJK TC"/>
              </a:rPr>
              <a:t>near: yellow_cube  z=4.12, h=108px</a:t>
            </a:r>
          </a:p>
          <a:p>
            <a:r>
              <a:rPr sz="1200">
                <a:latin typeface="Noto Sans CJK TC"/>
              </a:rPr>
              <a:t>far: blue_cube  z=4.88, h=89px</a:t>
            </a:r>
          </a:p>
          <a:p>
            <a:r>
              <a:rPr sz="1200">
                <a:latin typeface="Noto Sans CJK TC"/>
              </a:rPr>
              <a:t>regime: congruent; distractors=0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828800"/>
            <a:ext cx="6400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TC"/>
              </a:rPr>
              <a:t>500 張 512x512 影像，以 Blender/Cycles CPU render。</a:t>
            </a:r>
          </a:p>
          <a:p>
            <a:r>
              <a:rPr sz="1200">
                <a:latin typeface="Noto Sans CJK TC"/>
              </a:rPr>
              <a:t>Objects：cube、sphere、cylinder。</a:t>
            </a:r>
          </a:p>
          <a:p>
            <a:r>
              <a:rPr sz="1200">
                <a:latin typeface="Noto Sans CJK TC"/>
              </a:rPr>
              <a:t>地板平面上兩個 target objects；沒有 distractors。</a:t>
            </a:r>
          </a:p>
          <a:p>
            <a:r>
              <a:rPr sz="1200">
                <a:latin typeface="Noto Sans CJK TC"/>
              </a:rPr>
              <a:t>固定 camera；固定 lateral offset；depth/size/elevation cues 一致。</a:t>
            </a:r>
          </a:p>
          <a:p>
            <a:r>
              <a:rPr sz="1200">
                <a:latin typeface="Noto Sans CJK TC"/>
              </a:rPr>
              <a:t>輸出：RGB image、masks、bboxes、retinal size、3D positions、depth、pair relations。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83480" y="4892040"/>
            <a:ext cx="5943600" cy="77724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5001768"/>
            <a:ext cx="566928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TC"/>
              </a:rPr>
              <a:t>關鍵 config：</a:t>
            </a:r>
          </a:p>
          <a:p>
            <a:r>
              <a:rPr sz="1200">
                <a:latin typeface="Noto Sans CJK TC"/>
              </a:rPr>
              <a:t>lateral_offset = 0.7</a:t>
            </a:r>
          </a:p>
          <a:p>
            <a:r>
              <a:rPr sz="1200">
                <a:latin typeface="Noto Sans CJK TC"/>
              </a:rPr>
              <a:t>depth_gaps = [0.5, 1.0, 1.5]</a:t>
            </a:r>
          </a:p>
          <a:p>
            <a:r>
              <a:rPr sz="1200">
                <a:latin typeface="Noto Sans CJK TC"/>
              </a:rPr>
              <a:t>shared size multiplier = [0.9, 1.0, 1.1]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M1 V0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v0 驗證了什麼，以及無法驗證什麼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M1 是工程上的成功；M3 顯示它不是有效的 metric-probing 儀器。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315468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057400"/>
            <a:ext cx="28254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已驗證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395728"/>
            <a:ext cx="2825496" cy="13990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renderer、annotations、masks、projection checks、config-driven generation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920240"/>
            <a:ext cx="315468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2057400"/>
            <a:ext cx="28254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未驗證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0872" y="2395728"/>
            <a:ext cx="2825496" cy="13990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metric targets 是否非平凡且能抵抗 shortcuts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920240"/>
            <a:ext cx="315468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2" y="2057400"/>
            <a:ext cx="28254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M3 發現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2395728"/>
            <a:ext cx="2825496" cy="13990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pipeline 可以正確跑完，但資料集實際量到錯的東西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846320"/>
            <a:ext cx="10241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教訓：刺激圖像組不是因為影像被 render 出來就被接受；只有當輸出滿足科學主張所需的 invariants 時才被接受。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M3 審計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v0 問題 1：lateral x 其實是 side 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這個 target 不像連續度量座標。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79476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83080"/>
            <a:ext cx="34655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460A0"/>
                </a:solidFill>
                <a:latin typeface="Aptos"/>
              </a:rPr>
              <a:t/>
            </a:r>
          </a:p>
        </p:txBody>
      </p:sp>
      <p:pic>
        <p:nvPicPr>
          <p:cNvPr id="8" name="Picture 7" descr="v0_congruent_00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335" y="1755648"/>
            <a:ext cx="2545689" cy="254568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" y="4323283"/>
            <a:ext cx="348386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v0：固定 left/right placement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586630"/>
            <a:ext cx="3483864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v0_congruent_00000</a:t>
            </a:r>
          </a:p>
          <a:p>
            <a:r>
              <a:rPr sz="1200">
                <a:latin typeface="Noto Sans CJK TC"/>
              </a:rPr>
              <a:t>near: yellow_cube  z=4.12, h=108px</a:t>
            </a:r>
          </a:p>
          <a:p>
            <a:r>
              <a:rPr sz="1200">
                <a:latin typeface="Noto Sans CJK TC"/>
              </a:rPr>
              <a:t>far: blue_cube  z=4.88, h=89px</a:t>
            </a:r>
          </a:p>
          <a:p>
            <a:r>
              <a:rPr sz="1200">
                <a:latin typeface="Noto Sans CJK TC"/>
              </a:rPr>
              <a:t>regime: congruent; distractors=0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1828800"/>
            <a:ext cx="6217920" cy="105156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938528"/>
            <a:ext cx="594360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TC"/>
              </a:rPr>
              <a:t>v0 lateral position：</a:t>
            </a:r>
          </a:p>
          <a:p>
            <a:r>
              <a:rPr sz="1200">
                <a:latin typeface="Noto Sans CJK TC"/>
              </a:rPr>
              <a:t>object A: x ≈ -0.7</a:t>
            </a:r>
          </a:p>
          <a:p>
            <a:r>
              <a:rPr sz="1200">
                <a:latin typeface="Noto Sans CJK TC"/>
              </a:rPr>
              <a:t>object B: x ≈ +0.7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3246120"/>
            <a:ext cx="5760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TC"/>
              </a:rPr>
              <a:t>Probe 可能只是在分類 left-vs-right，而不是估計連續座標。</a:t>
            </a:r>
          </a:p>
          <a:p>
            <a:r>
              <a:rPr sz="1200">
                <a:latin typeface="Noto Sans CJK TC"/>
              </a:rPr>
              <a:t>Mask-pooled tokens 是依照 image location 選出，因此被選出的 token set 已經帶有 side information。</a:t>
            </a:r>
          </a:p>
          <a:p>
            <a:r>
              <a:rPr sz="1200">
                <a:latin typeface="Noto Sans CJK TC"/>
              </a:rPr>
              <a:t>v0 上的高 x R² 因此不是 metric spatial representation 的證據。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M3 審計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v0 問題 2：depth z 被 apparent size 過度決定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一致的 cues 讓 depth target 太容易。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79476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83080"/>
            <a:ext cx="34655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C6E26"/>
                </a:solidFill>
                <a:latin typeface="Aptos"/>
              </a:rPr>
              <a:t/>
            </a:r>
          </a:p>
        </p:txBody>
      </p:sp>
      <p:pic>
        <p:nvPicPr>
          <p:cNvPr id="8" name="Picture 7" descr="v0_congruent_004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335" y="1755648"/>
            <a:ext cx="2545689" cy="254568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" y="4323283"/>
            <a:ext cx="348386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v0：near object 明顯更大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586630"/>
            <a:ext cx="3483864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v0_congruent_00496</a:t>
            </a:r>
          </a:p>
          <a:p>
            <a:r>
              <a:rPr sz="1200">
                <a:latin typeface="Noto Sans CJK TC"/>
              </a:rPr>
              <a:t>near: yellow_cube  z=2.66, h=183px</a:t>
            </a:r>
          </a:p>
          <a:p>
            <a:r>
              <a:rPr sz="1200">
                <a:latin typeface="Noto Sans CJK TC"/>
              </a:rPr>
              <a:t>far: red_sphere  z=4.01, h=111px</a:t>
            </a:r>
          </a:p>
          <a:p>
            <a:r>
              <a:rPr sz="1200">
                <a:latin typeface="Noto Sans CJK TC"/>
              </a:rPr>
              <a:t>regime: congruent; distractors=0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828800"/>
            <a:ext cx="6035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TC"/>
              </a:rPr>
              <a:t>在 pinhole camera 中，retinal size 與 physical size / depth 綁定。</a:t>
            </a:r>
          </a:p>
          <a:p>
            <a:r>
              <a:rPr sz="1200">
                <a:latin typeface="Noto Sans CJK TC"/>
              </a:rPr>
              <a:t>v0 使用 shared size multipliers，所以 near/far apparent size 強烈追蹤 depth。</a:t>
            </a:r>
          </a:p>
          <a:p>
            <a:r>
              <a:rPr sz="1200">
                <a:latin typeface="Noto Sans CJK TC"/>
              </a:rPr>
              <a:t>這使得 z-depth 可以從 image geometry 解出，不需要 VLM representations。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4251960"/>
            <a:ext cx="5715000" cy="86868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4361688"/>
            <a:ext cx="54406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TC"/>
              </a:rPr>
              <a:t>M3 report 量到：</a:t>
            </a:r>
          </a:p>
          <a:p>
            <a:r>
              <a:rPr sz="1200">
                <a:latin typeface="Noto Sans CJK TC"/>
              </a:rPr>
              <a:t>depth 與 size_m / retinal_size_px 相關</a:t>
            </a:r>
          </a:p>
          <a:p>
            <a:r>
              <a:rPr sz="1200">
                <a:latin typeface="Noto Sans CJK TC"/>
              </a:rPr>
              <a:t>僅靠 mask geometry 就能接近 ceiling 地預測 z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M3 審計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v0 問題 3：mask pooling 洩漏位置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測量程序本身可能在模型貢獻前就帶有答案。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5212080" cy="123444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92807"/>
            <a:ext cx="4937760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TC"/>
              </a:rPr>
              <a:t>object mask</a:t>
            </a:r>
          </a:p>
          <a:p>
            <a:r>
              <a:rPr sz="1200">
                <a:latin typeface="Noto Sans CJK TC"/>
              </a:rPr>
              <a:t> -&gt; 選取 object location 的 visual tokens</a:t>
            </a:r>
          </a:p>
          <a:p>
            <a:r>
              <a:rPr sz="1200">
                <a:latin typeface="Noto Sans CJK TC"/>
              </a:rPr>
              <a:t> -&gt; 平均 features</a:t>
            </a:r>
          </a:p>
          <a:p>
            <a:r>
              <a:rPr sz="1200">
                <a:latin typeface="Noto Sans CJK TC"/>
              </a:rPr>
              <a:t> -&gt; 訓練 probe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TC"/>
              </a:rPr>
              <a:t>mask 選出的 token indices 已經編碼物體在影像中的位置。</a:t>
            </a:r>
          </a:p>
          <a:p>
            <a:r>
              <a:rPr sz="1200">
                <a:latin typeface="Noto Sans CJK TC"/>
              </a:rPr>
              <a:t>在 v0 上，僅靠 mask centroid 和 bbox geometry 就能非常好地預測 x 與 z。</a:t>
            </a:r>
          </a:p>
          <a:p>
            <a:r>
              <a:rPr sz="1200">
                <a:latin typeface="Noto Sans CJK TC"/>
              </a:rPr>
              <a:t>因此 activation decodability 必須報告為超過 nuisance-feature baselines 的增量。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160520"/>
            <a:ext cx="10058400" cy="91440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270248"/>
            <a:ext cx="9784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TC"/>
              </a:rPr>
              <a:t>M3 v0 leak ceiling：僅 mask geometry -&gt; x R² ≈ 0.942, z R² ≈ 0.972。</a:t>
            </a:r>
          </a:p>
          <a:p>
            <a:r>
              <a:rPr sz="1200">
                <a:latin typeface="Noto Sans CJK TC"/>
              </a:rPr>
              <a:t>Mask-pooled activations 對 x/z 只增加很小的增量。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資料集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每個 rendered item 不只是一張 PNG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annotation 和 masks 是測量儀器的一部分。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gb_masks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52451"/>
            <a:ext cx="5669280" cy="222721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0" y="169164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TC"/>
              </a:rPr>
              <a:t>RGB image：VLM 看到的內容。</a:t>
            </a:r>
          </a:p>
          <a:p>
            <a:r>
              <a:rPr sz="1200">
                <a:latin typeface="Noto Sans CJK TC"/>
              </a:rPr>
              <a:t>Visible object masks：定義 target regions 並驗證 bboxes/areas。</a:t>
            </a:r>
          </a:p>
          <a:p>
            <a:r>
              <a:rPr sz="1200">
                <a:latin typeface="Noto Sans CJK TC"/>
              </a:rPr>
              <a:t>Geometry annotations：3D position、camera coordinates、depth、pair relations。</a:t>
            </a:r>
          </a:p>
          <a:p>
            <a:r>
              <a:rPr sz="1200">
                <a:latin typeface="Noto Sans CJK TC"/>
              </a:rPr>
              <a:t>Factors：regime、depth gap、category pairing、size condition、camera jitter、distractor count。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4709160"/>
            <a:ext cx="4754880" cy="73152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4818888"/>
            <a:ext cx="4480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TC"/>
              </a:rPr>
              <a:t>驗證規則：檢查 output invariant，而不只是 render script 是否跑完。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M4A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M4a 目標：建立有效的測量儀器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刺激圖像必須包含度量證據，但不能讓答案變得 trivial。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10424160" cy="68580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39" y="1892807"/>
            <a:ext cx="101498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TC"/>
              </a:rPr>
              <a:t>M4a 目標：影像可識別的 metric relations + decorrelated nuisance features + validated geometry。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063240"/>
            <a:ext cx="315468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3200400"/>
            <a:ext cx="28254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可識別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3538728"/>
            <a:ext cx="2825496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影像必須包含足夠證據來支持 target variable。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063240"/>
            <a:ext cx="315468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2" y="3200400"/>
            <a:ext cx="28254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不能由 shortcut 解出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3538728"/>
            <a:ext cx="2825496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不能由單一 trivial feature 承載主要 claim。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19" y="3063240"/>
            <a:ext cx="315468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9911" y="3200400"/>
            <a:ext cx="28254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可追溯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1" y="3538728"/>
            <a:ext cx="2825496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每個結果都要能追溯到 config、seed、commit 和 annotation。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M4A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M4a 使用三種 regimes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每個 regime 回答不同的實驗問題。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356616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783080"/>
            <a:ext cx="32369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08254"/>
                </a:solidFill>
                <a:latin typeface="Aptos"/>
              </a:rPr>
              <a:t/>
            </a:r>
          </a:p>
        </p:txBody>
      </p:sp>
      <p:pic>
        <p:nvPicPr>
          <p:cNvPr id="8" name="Picture 7" descr="m4a_v1_natural_congruent_pilot_00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414" y="1755648"/>
            <a:ext cx="2519172" cy="25191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4295394"/>
            <a:ext cx="325526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Natural-congruent：所有 cues 一致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555998"/>
            <a:ext cx="3255264" cy="1303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m4a_v1_natural_congruent_pilot_00000</a:t>
            </a:r>
          </a:p>
          <a:p>
            <a:r>
              <a:rPr sz="1200">
                <a:latin typeface="Noto Sans CJK TC"/>
              </a:rPr>
              <a:t>near: green_cylinder  z=4.13, h=100px</a:t>
            </a:r>
          </a:p>
          <a:p>
            <a:r>
              <a:rPr sz="1200">
                <a:latin typeface="Noto Sans CJK TC"/>
              </a:rPr>
              <a:t>far: yellow_mug  z=8.01, h=49px</a:t>
            </a:r>
          </a:p>
          <a:p>
            <a:r>
              <a:rPr sz="1200">
                <a:latin typeface="Noto Sans CJK TC"/>
              </a:rPr>
              <a:t>regime: natural_congruent; distractors=0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645920"/>
            <a:ext cx="356616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1783080"/>
            <a:ext cx="32369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460A0"/>
                </a:solidFill>
                <a:latin typeface="Aptos"/>
              </a:rPr>
              <a:t/>
            </a:r>
          </a:p>
        </p:txBody>
      </p:sp>
      <p:pic>
        <p:nvPicPr>
          <p:cNvPr id="13" name="Picture 12" descr="m4a_v1_counterbalanced_pilot_j2_000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1174" y="1755648"/>
            <a:ext cx="2519172" cy="25191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53128" y="4295394"/>
            <a:ext cx="325526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Counterbalanced：shortcut cues 被 decorrelate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4555998"/>
            <a:ext cx="3255264" cy="1303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m4a_v1_counterbalanced_pilot_j2_00049</a:t>
            </a:r>
          </a:p>
          <a:p>
            <a:r>
              <a:rPr sz="1200">
                <a:latin typeface="Noto Sans CJK TC"/>
              </a:rPr>
              <a:t>near: green_sphere  z=3.03, h=130px</a:t>
            </a:r>
          </a:p>
          <a:p>
            <a:r>
              <a:rPr sz="1200">
                <a:latin typeface="Noto Sans CJK TC"/>
              </a:rPr>
              <a:t>far: green_cube  z=3.50, h=133px</a:t>
            </a:r>
          </a:p>
          <a:p>
            <a:r>
              <a:rPr sz="1200">
                <a:latin typeface="Noto Sans CJK TC"/>
              </a:rPr>
              <a:t>regime: counterbalanced; distractors=1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645920"/>
            <a:ext cx="356616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1" y="1783080"/>
            <a:ext cx="32369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AA3737"/>
                </a:solidFill>
                <a:latin typeface="Aptos"/>
              </a:rPr>
              <a:t/>
            </a:r>
          </a:p>
        </p:txBody>
      </p:sp>
      <p:pic>
        <p:nvPicPr>
          <p:cNvPr id="18" name="Picture 17" descr="m4a_v1_conflict_pilot_0003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5934" y="1755648"/>
            <a:ext cx="2519172" cy="25191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47888" y="4295394"/>
            <a:ext cx="325526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Conflict：cues 被故意設計成衝突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4555998"/>
            <a:ext cx="3255264" cy="1303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m4a_v1_conflict_pilot_00037</a:t>
            </a:r>
          </a:p>
          <a:p>
            <a:r>
              <a:rPr sz="1200">
                <a:latin typeface="Noto Sans CJK TC"/>
              </a:rPr>
              <a:t>near: yellow_mug  z=2.93, h=116px</a:t>
            </a:r>
          </a:p>
          <a:p>
            <a:r>
              <a:rPr sz="1200">
                <a:latin typeface="Noto Sans CJK TC"/>
              </a:rPr>
              <a:t>far: yellow_cylinder  z=3.72, h=135px</a:t>
            </a:r>
          </a:p>
          <a:p>
            <a:r>
              <a:rPr sz="1200">
                <a:latin typeface="Noto Sans CJK TC"/>
              </a:rPr>
              <a:t>regime: conflict; distractors=1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M4A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Regime 1：Natural-Congruent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depth cues 一致的 control/reference arm。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93192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37360"/>
            <a:ext cx="36027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08254"/>
                </a:solidFill>
                <a:latin typeface="Aptos"/>
              </a:rPr>
              <a:t/>
            </a:r>
          </a:p>
        </p:txBody>
      </p:sp>
      <p:pic>
        <p:nvPicPr>
          <p:cNvPr id="8" name="Picture 7" descr="m4a_v1_natural_congruent_pilot_00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138" y="1709928"/>
            <a:ext cx="2625242" cy="262524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" y="4361230"/>
            <a:ext cx="362102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Pilot 視覺例圖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632807"/>
            <a:ext cx="3621024" cy="13578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m4a_v1_natural_congruent_pilot_00000</a:t>
            </a:r>
          </a:p>
          <a:p>
            <a:r>
              <a:rPr sz="1200">
                <a:latin typeface="Noto Sans CJK TC"/>
              </a:rPr>
              <a:t>near: green_cylinder  z=4.13, h=100px</a:t>
            </a:r>
          </a:p>
          <a:p>
            <a:r>
              <a:rPr sz="1200">
                <a:latin typeface="Noto Sans CJK TC"/>
              </a:rPr>
              <a:t>far: yellow_mug  z=8.01, h=49px</a:t>
            </a:r>
          </a:p>
          <a:p>
            <a:r>
              <a:rPr sz="1200">
                <a:latin typeface="Noto Sans CJK TC"/>
              </a:rPr>
              <a:t>regime: natural_congruent; distractors=0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1783080"/>
            <a:ext cx="6080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TC"/>
              </a:rPr>
              <a:t>目的：ordinal 與 ratio behavior 的 all-cues-agree reference。</a:t>
            </a:r>
          </a:p>
          <a:p>
            <a:r>
              <a:rPr sz="1200">
                <a:latin typeface="Noto Sans CJK TC"/>
              </a:rPr>
              <a:t>目前預定 generator：400 images。</a:t>
            </a:r>
          </a:p>
          <a:p>
            <a:r>
              <a:rPr sz="1200">
                <a:latin typeface="Noto Sans CJK TC"/>
              </a:rPr>
              <a:t>最終 category set：cube、cylinder、mug、sphere。</a:t>
            </a:r>
          </a:p>
          <a:p>
            <a:r>
              <a:rPr sz="1200">
                <a:latin typeface="Noto Sans CJK TC"/>
              </a:rPr>
              <a:t>Size condition：congruent；elevation condition：congruent。</a:t>
            </a:r>
          </a:p>
          <a:p>
            <a:r>
              <a:rPr sz="1200">
                <a:latin typeface="Noto Sans CJK TC"/>
              </a:rPr>
              <a:t>0-1 distractors。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4572000"/>
            <a:ext cx="5715000" cy="86868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4681728"/>
            <a:ext cx="54406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TC"/>
              </a:rPr>
              <a:t>重要 caveat：這張 pilot image 是 pre-final；最終 natural-congruent 設計會限制為 symmetric 4-set。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M4A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為什麼 Natural-Congruent 變成 4-category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六個 categories 會讓 area congruence 不可行，除非重新引入 pairing confounds。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737360"/>
            <a:ext cx="5303520" cy="114300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39" y="1847088"/>
            <a:ext cx="502920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TC"/>
              </a:rPr>
              <a:t>六類 natural-congruent：</a:t>
            </a:r>
          </a:p>
          <a:p>
            <a:r>
              <a:rPr sz="1200">
                <a:latin typeface="Noto Sans CJK TC"/>
              </a:rPr>
              <a:t>required worst-case area ratio ≈ 1.7661</a:t>
            </a:r>
          </a:p>
          <a:p>
            <a:r>
              <a:rPr sz="1200">
                <a:latin typeface="Noto Sans CJK TC"/>
              </a:rPr>
              <a:t>design available max ≈ 1.4737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TC"/>
              </a:rPr>
              <a:t>當 bottle/chair 是 near object 時，會造成 worst-case silhouette-area constraints。</a:t>
            </a:r>
          </a:p>
          <a:p>
            <a:r>
              <a:rPr sz="1200">
                <a:latin typeface="Noto Sans CJK TC"/>
              </a:rPr>
              <a:t>Per-pair floors 會讓 category pairing 預測 realized depth ratio。</a:t>
            </a:r>
          </a:p>
          <a:p>
            <a:r>
              <a:rPr sz="1200">
                <a:latin typeface="Noto Sans CJK TC"/>
              </a:rPr>
              <a:t>把 generator 限制為 symmetric 4-set 可以保留 role balance，並維持單一 uniform floor。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4343400"/>
            <a:ext cx="10149840" cy="73152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4453128"/>
            <a:ext cx="987551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TC"/>
              </a:rPr>
              <a:t>採用的最終 natural-congruent generator：{cube, cylinder, mug, sphere}。</a:t>
            </a:r>
          </a:p>
          <a:p>
            <a:r>
              <a:rPr sz="1200">
                <a:latin typeface="Noto Sans CJK TC"/>
              </a:rPr>
              <a:t>Counterbalanced 和 conflict 仍使用全部六個 categories。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M4A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Regime 2：Counterbalanced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metric localization claims 的主要 regime。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352044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737360"/>
            <a:ext cx="31912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460A0"/>
                </a:solidFill>
                <a:latin typeface="Aptos"/>
              </a:rPr>
              <a:t/>
            </a:r>
          </a:p>
        </p:txBody>
      </p:sp>
      <p:pic>
        <p:nvPicPr>
          <p:cNvPr id="8" name="Picture 7" descr="m4a_v1_counterbalanced_pilot_j2_000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777" y="1709928"/>
            <a:ext cx="2598724" cy="25987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4333341"/>
            <a:ext cx="320954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Far object 看起來和 near object 一樣大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602175"/>
            <a:ext cx="3209544" cy="1344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m4a_v1_counterbalanced_pilot_j2_00049</a:t>
            </a:r>
          </a:p>
          <a:p>
            <a:r>
              <a:rPr sz="1200">
                <a:latin typeface="Noto Sans CJK TC"/>
              </a:rPr>
              <a:t>near: green_sphere  z=3.03, h=130px</a:t>
            </a:r>
          </a:p>
          <a:p>
            <a:r>
              <a:rPr sz="1200">
                <a:latin typeface="Noto Sans CJK TC"/>
              </a:rPr>
              <a:t>far: green_cube  z=3.50, h=133px</a:t>
            </a:r>
          </a:p>
          <a:p>
            <a:r>
              <a:rPr sz="1200">
                <a:latin typeface="Noto Sans CJK TC"/>
              </a:rPr>
              <a:t>regime: counterbalanced; distractors=1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600200"/>
            <a:ext cx="352044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1737360"/>
            <a:ext cx="31912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460A0"/>
                </a:solidFill>
                <a:latin typeface="Aptos"/>
              </a:rPr>
              <a:t/>
            </a:r>
          </a:p>
        </p:txBody>
      </p:sp>
      <p:pic>
        <p:nvPicPr>
          <p:cNvPr id="13" name="Picture 12" descr="m4a_v1_counterbalanced_pilot_j2_000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1377" y="1709928"/>
            <a:ext cx="2598724" cy="2598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15968" y="4333341"/>
            <a:ext cx="320954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即使有 depth gap，retinal size 仍相等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4602175"/>
            <a:ext cx="3209544" cy="1344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m4a_v1_counterbalanced_pilot_j2_00020</a:t>
            </a:r>
          </a:p>
          <a:p>
            <a:r>
              <a:rPr sz="1200">
                <a:latin typeface="Noto Sans CJK TC"/>
              </a:rPr>
              <a:t>near: blue_cube  z=2.88, h=120px</a:t>
            </a:r>
          </a:p>
          <a:p>
            <a:r>
              <a:rPr sz="1200">
                <a:latin typeface="Noto Sans CJK TC"/>
              </a:rPr>
              <a:t>far: red_cube  z=3.55, h=120px</a:t>
            </a:r>
          </a:p>
          <a:p>
            <a:r>
              <a:rPr sz="1200">
                <a:latin typeface="Noto Sans CJK TC"/>
              </a:rPr>
              <a:t>regime: counterbalanced; distractors=1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178308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TC"/>
              </a:rPr>
              <a:t>預定規模：900 images。</a:t>
            </a:r>
          </a:p>
          <a:p>
            <a:r>
              <a:rPr sz="1200">
                <a:latin typeface="Noto Sans CJK TC"/>
              </a:rPr>
              <a:t>六個 categories：cube、sphere、cylinder、chair、mug、bottle。</a:t>
            </a:r>
          </a:p>
          <a:p>
            <a:r>
              <a:rPr sz="1200">
                <a:latin typeface="Noto Sans CJK TC"/>
              </a:rPr>
              <a:t>Independent size jitter。</a:t>
            </a:r>
          </a:p>
          <a:p>
            <a:r>
              <a:rPr sz="1200">
                <a:latin typeface="Noto Sans CJK TC"/>
              </a:rPr>
              <a:t>Counterbalanced elevation cue。</a:t>
            </a:r>
          </a:p>
          <a:p>
            <a:r>
              <a:rPr sz="1200">
                <a:latin typeface="Noto Sans CJK TC"/>
              </a:rPr>
              <a:t>0-2 distractors。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4800600"/>
            <a:ext cx="3383280" cy="68580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5592" y="4910328"/>
            <a:ext cx="31089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TC"/>
              </a:rPr>
              <a:t>問題：當簡單 cues 不再一致時，模型還能表徵 depth 嗎？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M4A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Regime 3：Conflict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Cue-integration analysis：true depth 對上 apparent size。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365760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737360"/>
            <a:ext cx="33284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AA3737"/>
                </a:solidFill>
                <a:latin typeface="Aptos"/>
              </a:rPr>
              <a:t/>
            </a:r>
          </a:p>
        </p:txBody>
      </p:sp>
      <p:pic>
        <p:nvPicPr>
          <p:cNvPr id="8" name="Picture 7" descr="m4a_v1_conflict_pilot_000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538" y="1709928"/>
            <a:ext cx="2625242" cy="262524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8" y="4361230"/>
            <a:ext cx="334670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Far object 看起來更大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632807"/>
            <a:ext cx="3346704" cy="13578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m4a_v1_conflict_pilot_00037</a:t>
            </a:r>
          </a:p>
          <a:p>
            <a:r>
              <a:rPr sz="1200">
                <a:latin typeface="Noto Sans CJK TC"/>
              </a:rPr>
              <a:t>near: yellow_mug  z=2.93, h=116px</a:t>
            </a:r>
          </a:p>
          <a:p>
            <a:r>
              <a:rPr sz="1200">
                <a:latin typeface="Noto Sans CJK TC"/>
              </a:rPr>
              <a:t>far: yellow_cylinder  z=3.72, h=135px</a:t>
            </a:r>
          </a:p>
          <a:p>
            <a:r>
              <a:rPr sz="1200">
                <a:latin typeface="Noto Sans CJK TC"/>
              </a:rPr>
              <a:t>regime: conflict; distractors=1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600200"/>
            <a:ext cx="365760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1737360"/>
            <a:ext cx="33284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AA3737"/>
                </a:solidFill>
                <a:latin typeface="Aptos"/>
              </a:rPr>
              <a:t/>
            </a:r>
          </a:p>
        </p:txBody>
      </p:sp>
      <p:pic>
        <p:nvPicPr>
          <p:cNvPr id="13" name="Picture 12" descr="m4a_v1_conflict_pilot_000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1018" y="1709928"/>
            <a:ext cx="2625242" cy="262524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90288" y="4361230"/>
            <a:ext cx="334670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Far cube 有更大的 retinal height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4632807"/>
            <a:ext cx="3346704" cy="13578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m4a_v1_conflict_pilot_00030</a:t>
            </a:r>
          </a:p>
          <a:p>
            <a:r>
              <a:rPr sz="1200">
                <a:latin typeface="Noto Sans CJK TC"/>
              </a:rPr>
              <a:t>near: red_cylinder  z=3.25, h=108px</a:t>
            </a:r>
          </a:p>
          <a:p>
            <a:r>
              <a:rPr sz="1200">
                <a:latin typeface="Noto Sans CJK TC"/>
              </a:rPr>
              <a:t>far: red_cube  z=4.14, h=119px</a:t>
            </a:r>
          </a:p>
          <a:p>
            <a:r>
              <a:rPr sz="1200">
                <a:latin typeface="Noto Sans CJK TC"/>
              </a:rPr>
              <a:t>regime: conflict; distractors=1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783080"/>
            <a:ext cx="3063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TC"/>
              </a:rPr>
              <a:t>預定規模：900 images。</a:t>
            </a:r>
          </a:p>
          <a:p>
            <a:r>
              <a:rPr sz="1200">
                <a:latin typeface="Noto Sans CJK TC"/>
              </a:rPr>
              <a:t>六個 categories。</a:t>
            </a:r>
          </a:p>
          <a:p>
            <a:r>
              <a:rPr sz="1200">
                <a:latin typeface="Noto Sans CJK TC"/>
              </a:rPr>
              <a:t>Near size multiplier：0.78-0.94。</a:t>
            </a:r>
          </a:p>
          <a:p>
            <a:r>
              <a:rPr sz="1200">
                <a:latin typeface="Noto Sans CJK TC"/>
              </a:rPr>
              <a:t>Far size multiplier：1.12-1.30。</a:t>
            </a:r>
          </a:p>
          <a:p>
            <a:r>
              <a:rPr sz="1200">
                <a:latin typeface="Noto Sans CJK TC"/>
              </a:rPr>
              <a:t>Far object 可能看起來一樣大或更大。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4800600"/>
            <a:ext cx="3017520" cy="68580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4910328"/>
            <a:ext cx="27432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TC"/>
              </a:rPr>
              <a:t>問題：模型會跟隨哪個 cue？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M4A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主要 config factors 對影像的視覺作用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每個設定都操控一個可能單獨承載答案的 cue。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depth_gaps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1645920"/>
            <a:ext cx="3840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target objects 在深度上相隔多遠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60" y="164592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near/far 判斷難度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04288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lateral_range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304288"/>
            <a:ext cx="3840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targets 在畫面中左右相隔多遠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2304288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連續位置，而不是 side label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62656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camera jitter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962656"/>
            <a:ext cx="3840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視角高度、平移、pitch、yaw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2962656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打破固定 image-position mapping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21024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size_condition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621024"/>
            <a:ext cx="3840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near/far 的 physical size 關係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3621024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控制 apparent-size cue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79392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elevation_condition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4279392"/>
            <a:ext cx="3840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垂直影像位置關係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4279392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控制 ground-plane depth cue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937759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distractors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4937759"/>
            <a:ext cx="3840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額外的非 target objects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4937759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測試 object-specific reference/binding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M4A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Depth Gap 與 Lateral Range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M4a 把看似類別式的變量變成 graded variables。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645920"/>
            <a:ext cx="5029200" cy="141732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55648"/>
            <a:ext cx="4754880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TC"/>
              </a:rPr>
              <a:t>v0：</a:t>
            </a:r>
          </a:p>
          <a:p>
            <a:r>
              <a:rPr sz="1200">
                <a:latin typeface="Noto Sans CJK TC"/>
              </a:rPr>
              <a:t>lateral_offset = 0.7</a:t>
            </a:r>
          </a:p>
          <a:p>
            <a:r>
              <a:rPr sz="1200">
                <a:latin typeface="Noto Sans CJK TC"/>
              </a:rPr>
              <a:t>depth_gaps = [0.5, 1.0, 1.5]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645920"/>
            <a:ext cx="5029200" cy="141732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55648"/>
            <a:ext cx="4754880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TC"/>
              </a:rPr>
              <a:t>M4a：</a:t>
            </a:r>
          </a:p>
          <a:p>
            <a:r>
              <a:rPr sz="1200">
                <a:latin typeface="Noto Sans CJK TC"/>
              </a:rPr>
              <a:t>lateral_range = [0.3, 0.85]</a:t>
            </a:r>
          </a:p>
          <a:p>
            <a:r>
              <a:rPr sz="1200">
                <a:latin typeface="Noto Sans CJK TC"/>
              </a:rPr>
              <a:t>depth_gaps = [0.45, ..., 1.95]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TC"/>
              </a:rPr>
              <a:t>v0 x 行為上像 left/right classification。</a:t>
            </a:r>
          </a:p>
          <a:p>
            <a:r>
              <a:rPr sz="1200">
                <a:latin typeface="Noto Sans CJK TC"/>
              </a:rPr>
              <a:t>v0 depth cues 太一致、太容易。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6576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TC"/>
              </a:rPr>
              <a:t>M4a 抽樣 graded lateral positions。</a:t>
            </a:r>
          </a:p>
          <a:p>
            <a:r>
              <a:rPr sz="1200">
                <a:latin typeface="Noto Sans CJK TC"/>
              </a:rPr>
              <a:t>Depth gaps 覆蓋較簡單與較困難的 cases。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M4A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Camera Jitter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同一個 3D relation 不應該總是映射到同一個 2D pattern。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4754880" cy="132588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01368"/>
            <a:ext cx="448056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TC"/>
              </a:rPr>
              <a:t>height: ±0.16 m</a:t>
            </a:r>
          </a:p>
          <a:p>
            <a:r>
              <a:rPr sz="1200">
                <a:latin typeface="Noto Sans CJK TC"/>
              </a:rPr>
              <a:t>pos_x: ±0.3 m</a:t>
            </a:r>
          </a:p>
          <a:p>
            <a:r>
              <a:rPr sz="1200">
                <a:latin typeface="Noto Sans CJK TC"/>
              </a:rPr>
              <a:t>pos_y: ±0.2 m</a:t>
            </a:r>
          </a:p>
          <a:p>
            <a:r>
              <a:rPr sz="1200">
                <a:latin typeface="Noto Sans CJK TC"/>
              </a:rPr>
              <a:t>pitch: ±3°</a:t>
            </a:r>
          </a:p>
          <a:p>
            <a:r>
              <a:rPr sz="1200">
                <a:latin typeface="Noto Sans CJK TC"/>
              </a:rPr>
              <a:t>yaw: ±4°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783080"/>
            <a:ext cx="5257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TC"/>
              </a:rPr>
              <a:t>固定 camera 會讓 image location 成為 world location 的強 proxy。</a:t>
            </a:r>
          </a:p>
          <a:p>
            <a:r>
              <a:rPr sz="1200">
                <a:latin typeface="Noto Sans CJK TC"/>
              </a:rPr>
              <a:t>Jitter 會削弱 2D position 與 3D target 之間的直接 mapping。</a:t>
            </a:r>
          </a:p>
          <a:p>
            <a:r>
              <a:rPr sz="1200">
                <a:latin typeface="Noto Sans CJK TC"/>
              </a:rPr>
              <a:t>這對 lateral-position probes 特別重要。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10241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設計張力：更強的 camera motion 改善 decorrelation，但讓乾淨 placement 更難。這就是為什麼 placement margins 和 validation 是 load-bearing。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M4A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Size Condition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對 apparent-size shortcut 最直接的操控。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24612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965960"/>
            <a:ext cx="29169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congruent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304288"/>
            <a:ext cx="2916936" cy="1490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Near 通常看起來更大；all-cues-agree control。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28800"/>
            <a:ext cx="324612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6592" y="1965960"/>
            <a:ext cx="29169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independent_jitter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6592" y="2304288"/>
            <a:ext cx="2916936" cy="1490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Physical size 與 depth 獨立變化；主 regime。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828800"/>
            <a:ext cx="324612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85632" y="1965960"/>
            <a:ext cx="29169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conflict_far_larger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304288"/>
            <a:ext cx="2916936" cy="1490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Far object 被故意做大；cue conflict。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4983480"/>
            <a:ext cx="9966960" cy="59436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5093208"/>
            <a:ext cx="9692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TC"/>
              </a:rPr>
              <a:t>M3 教訓：沒有這個操控時，z-depth 可以從 retinal size 讀出，而不是從模型表徵讀出。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M4A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Distractors、Lighting 與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Nuisance variation 避免資料集變成兩物體玩具世界。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8404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828800"/>
            <a:ext cx="35112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460A0"/>
                </a:solidFill>
                <a:latin typeface="Aptos"/>
              </a:rPr>
              <a:t/>
            </a:r>
          </a:p>
        </p:txBody>
      </p:sp>
      <p:pic>
        <p:nvPicPr>
          <p:cNvPr id="8" name="Picture 7" descr="m4a_v1_counterbalanced_pilot_j2_00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195" y="1801368"/>
            <a:ext cx="2545689" cy="254568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" y="4369003"/>
            <a:ext cx="35295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Counterbalanced + distractor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632350"/>
            <a:ext cx="3529584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m4a_v1_counterbalanced_pilot_j2_00005</a:t>
            </a:r>
          </a:p>
          <a:p>
            <a:r>
              <a:rPr sz="1200">
                <a:latin typeface="Noto Sans CJK TC"/>
              </a:rPr>
              <a:t>near: blue_chair  z=4.73, h=79px</a:t>
            </a:r>
          </a:p>
          <a:p>
            <a:r>
              <a:rPr sz="1200">
                <a:latin typeface="Noto Sans CJK TC"/>
              </a:rPr>
              <a:t>far: yellow_mug  z=5.77, h=78px</a:t>
            </a:r>
          </a:p>
          <a:p>
            <a:r>
              <a:rPr sz="1200">
                <a:latin typeface="Noto Sans CJK TC"/>
              </a:rPr>
              <a:t>regime: counterbalanced; distractors=1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828800"/>
            <a:ext cx="6309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TC"/>
              </a:rPr>
              <a:t>Distractors 迫使系統綁定正確 object reference，而不只是解兩物體 layout。</a:t>
            </a:r>
          </a:p>
          <a:p>
            <a:r>
              <a:rPr sz="1200">
                <a:latin typeface="Noto Sans CJK TC"/>
              </a:rPr>
              <a:t>Ground colors 與 sun energy/direction 變化可降低固定 render artifacts。</a:t>
            </a:r>
          </a:p>
          <a:p>
            <a:r>
              <a:rPr sz="1200">
                <a:latin typeface="Noto Sans CJK TC"/>
              </a:rPr>
              <a:t>最終 nuisance coverage 仍是 M4a gate 的一部分：texture families、renderer seeds、render/AA settings 仍是 open decisions。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M4A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R 問題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R 是 natural-congruent 的 depth-ratio safety factor。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737360"/>
            <a:ext cx="5212080" cy="105156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39" y="1847088"/>
            <a:ext cx="493776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TC"/>
              </a:rPr>
              <a:t>R = minimum required far_depth / near_depth</a:t>
            </a:r>
          </a:p>
          <a:p>
            <a:r>
              <a:rPr sz="1200">
                <a:latin typeface="Noto Sans CJK TC"/>
              </a:rPr>
              <a:t>用來保證 natural-congruent size cues 在 worst-case category、size、depth、camera settings 下仍然有效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TC"/>
              </a:rPr>
              <a:t>Near object 必須在幾何上更近，也要被 projected size/area cues 支持。</a:t>
            </a:r>
          </a:p>
          <a:p>
            <a:r>
              <a:rPr sz="1200">
                <a:latin typeface="Noto Sans CJK TC"/>
              </a:rPr>
              <a:t>某些 far categories 的 silhouettes 可能比某些 near categories 更大。</a:t>
            </a:r>
          </a:p>
          <a:p>
            <a:r>
              <a:rPr sz="1200">
                <a:latin typeface="Noto Sans CJK TC"/>
              </a:rPr>
              <a:t>因此 ratio floor 必須從 worst-case extrema 推導，而不是用平均值。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251960"/>
            <a:ext cx="10058400" cy="73152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361688"/>
            <a:ext cx="9784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TC"/>
              </a:rPr>
              <a:t>直覺：near mug 對 far cube 時，如果 far object 不夠遠，就可能違反「near looks larger」。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M4A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目前 R 狀態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最新 cumulative ledger 把 R 提高，且仍未 ratify。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691640"/>
            <a:ext cx="5212080" cy="160020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39" y="1801368"/>
            <a:ext cx="493776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TC"/>
              </a:rPr>
              <a:t>pass 0: R = 1.2072</a:t>
            </a:r>
          </a:p>
          <a:p>
            <a:r>
              <a:rPr sz="1200">
                <a:latin typeface="Noto Sans CJK TC"/>
              </a:rPr>
              <a:t>pass 1: R = 1.2060</a:t>
            </a:r>
          </a:p>
          <a:p>
            <a:r>
              <a:rPr sz="1200">
                <a:latin typeface="Noto Sans CJK TC"/>
              </a:rPr>
              <a:t>pass 2: R = 1.2026</a:t>
            </a:r>
          </a:p>
          <a:p>
            <a:r>
              <a:rPr sz="1200">
                <a:latin typeface="Noto Sans CJK TC"/>
              </a:rPr>
              <a:t>cumulative union: R = 1.2092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92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TC"/>
              </a:rPr>
              <a:t>Per-pass R 看起來下降，是因為 non-nested grids 忘記了較早的 extrema。</a:t>
            </a:r>
          </a:p>
          <a:p>
            <a:r>
              <a:rPr sz="1200">
                <a:latin typeface="Noto Sans CJK TC"/>
              </a:rPr>
              <a:t>把所有 extrema 取 union 後顯示出更高的 lower bound。</a:t>
            </a:r>
          </a:p>
          <a:p>
            <a:r>
              <a:rPr sz="1200">
                <a:latin typeface="Noto Sans CJK TC"/>
              </a:rPr>
              <a:t>Violations 聚集在 near-depth band 的深端，且伴隨 minimum multiplier 與 maximum pitch。</a:t>
            </a:r>
          </a:p>
          <a:p>
            <a:r>
              <a:rPr sz="1200">
                <a:latin typeface="Noto Sans CJK TC"/>
              </a:rPr>
              <a:t>下一輪應該針對每個 role-specific depth range 分別 grid，而不是用 union range。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937760"/>
            <a:ext cx="10058400" cy="59436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5047488"/>
            <a:ext cx="9784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TC"/>
              </a:rPr>
              <a:t>狀態：R 尚未 ratify。full battery render 或 M4b extraction 都不應該使用它。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M4A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M4a 目前實驗設定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Gate-scale configs 已經定義，但 battery 尚未 final。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611880" cy="329184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3337560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TC"/>
              </a:rPr>
              <a:t>natural-congruent</a:t>
            </a:r>
          </a:p>
          <a:p>
            <a:r>
              <a:rPr sz="1200">
                <a:latin typeface="Noto Sans CJK TC"/>
              </a:rPr>
              <a:t>N = 400</a:t>
            </a:r>
          </a:p>
          <a:p>
            <a:r>
              <a:rPr sz="1200">
                <a:latin typeface="Noto Sans CJK TC"/>
              </a:rPr>
              <a:t>4 categories</a:t>
            </a:r>
          </a:p>
          <a:p>
            <a:r>
              <a:rPr sz="1200">
                <a:latin typeface="Noto Sans CJK TC"/>
              </a:rPr>
              <a:t>size: congruent</a:t>
            </a:r>
          </a:p>
          <a:p>
            <a:r>
              <a:rPr sz="1200">
                <a:latin typeface="Noto Sans CJK TC"/>
              </a:rPr>
              <a:t>elevation: congruent</a:t>
            </a:r>
          </a:p>
          <a:p>
            <a:r>
              <a:rPr sz="1200">
                <a:latin typeface="Noto Sans CJK TC"/>
              </a:rPr>
              <a:t>distractors: 0-1</a:t>
            </a:r>
          </a:p>
          <a:p>
            <a:r>
              <a:rPr sz="1200">
                <a:latin typeface="Noto Sans CJK TC"/>
              </a:rPr>
              <a:t>role: control/reference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611880" cy="329184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55648"/>
            <a:ext cx="3337560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TC"/>
              </a:rPr>
              <a:t>counterbalanced</a:t>
            </a:r>
          </a:p>
          <a:p>
            <a:r>
              <a:rPr sz="1200">
                <a:latin typeface="Noto Sans CJK TC"/>
              </a:rPr>
              <a:t>N = 900</a:t>
            </a:r>
          </a:p>
          <a:p>
            <a:r>
              <a:rPr sz="1200">
                <a:latin typeface="Noto Sans CJK TC"/>
              </a:rPr>
              <a:t>6 categories</a:t>
            </a:r>
          </a:p>
          <a:p>
            <a:r>
              <a:rPr sz="1200">
                <a:latin typeface="Noto Sans CJK TC"/>
              </a:rPr>
              <a:t>size: independent jitter</a:t>
            </a:r>
          </a:p>
          <a:p>
            <a:r>
              <a:rPr sz="1200">
                <a:latin typeface="Noto Sans CJK TC"/>
              </a:rPr>
              <a:t>elevation: counterbalanced</a:t>
            </a:r>
          </a:p>
          <a:p>
            <a:r>
              <a:rPr sz="1200">
                <a:latin typeface="Noto Sans CJK TC"/>
              </a:rPr>
              <a:t>distractors: 0-2</a:t>
            </a:r>
          </a:p>
          <a:p>
            <a:r>
              <a:rPr sz="1200">
                <a:latin typeface="Noto Sans CJK TC"/>
              </a:rPr>
              <a:t>role: primary localization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645920"/>
            <a:ext cx="3611880" cy="329184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755648"/>
            <a:ext cx="3337560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TC"/>
              </a:rPr>
              <a:t>conflict</a:t>
            </a:r>
          </a:p>
          <a:p>
            <a:r>
              <a:rPr sz="1200">
                <a:latin typeface="Noto Sans CJK TC"/>
              </a:rPr>
              <a:t>N = 900</a:t>
            </a:r>
          </a:p>
          <a:p>
            <a:r>
              <a:rPr sz="1200">
                <a:latin typeface="Noto Sans CJK TC"/>
              </a:rPr>
              <a:t>6 categories</a:t>
            </a:r>
          </a:p>
          <a:p>
            <a:r>
              <a:rPr sz="1200">
                <a:latin typeface="Noto Sans CJK TC"/>
              </a:rPr>
              <a:t>far object larger</a:t>
            </a:r>
          </a:p>
          <a:p>
            <a:r>
              <a:rPr sz="1200">
                <a:latin typeface="Noto Sans CJK TC"/>
              </a:rPr>
              <a:t>elevation: congruent</a:t>
            </a:r>
          </a:p>
          <a:p>
            <a:r>
              <a:rPr sz="1200">
                <a:latin typeface="Noto Sans CJK TC"/>
              </a:rPr>
              <a:t>distractors: 0-1</a:t>
            </a:r>
          </a:p>
          <a:p>
            <a:r>
              <a:rPr sz="1200">
                <a:latin typeface="Noto Sans CJK TC"/>
              </a:rPr>
              <a:t>role: cue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53212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共通設定：512x512、Cycles CPU、camera jitter、lateral range [0.3, 0.85]、depth gaps up to 1.95、target margins。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狀態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M4a acceptance 前仍未解決的事項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這些是 blocking items，不是表面整理。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5394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TC"/>
              </a:rPr>
              <a:t>R ratification：pass 3 role-specific depth refinement 與新的 targeted verification。</a:t>
            </a:r>
          </a:p>
          <a:p>
            <a:r>
              <a:rPr sz="1200">
                <a:latin typeface="Noto Sans CJK TC"/>
              </a:rPr>
              <a:t>Gate-scale render：完整 configured dataset 尚未作為 accepted battery render。</a:t>
            </a:r>
          </a:p>
          <a:p>
            <a:r>
              <a:rPr sz="1200">
                <a:latin typeface="Noto Sans CJK TC"/>
              </a:rPr>
              <a:t>Determinism：final outputs 仍需 byte-compare verification。</a:t>
            </a:r>
          </a:p>
          <a:p>
            <a:r>
              <a:rPr sz="1200">
                <a:latin typeface="Noto Sans CJK TC"/>
              </a:rPr>
              <a:t>Image-identifiability gate：final battery 必須通過 held-out-factor checks。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TC"/>
              </a:rPr>
              <a:t>Nuisance coverage：texture families、lighting families、renderer seeds、render settings 仍是 open gate decisions。</a:t>
            </a:r>
          </a:p>
          <a:p>
            <a:r>
              <a:rPr sz="1200">
                <a:latin typeface="Noto Sans CJK TC"/>
              </a:rPr>
              <a:t>Human/contact-sheet inspection：只對 ordinal sanity 有用，不足以支持 calibrated metric validity。</a:t>
            </a:r>
          </a:p>
          <a:p>
            <a:r>
              <a:rPr sz="1200">
                <a:latin typeface="Noto Sans CJK TC"/>
              </a:rPr>
              <a:t>M4b 仍鎖定：M4a 通過前不做 activation cache、five-stage extraction 或 lm_ans readout。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5623560"/>
            <a:ext cx="10058400" cy="50292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5733288"/>
            <a:ext cx="9784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TC"/>
              </a:rPr>
              <a:t>規則：驗證 output，而不是 pipeline 有沒有跑完。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狀態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為什麼這不是過度工程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75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目前每個重大失敗都是 pipeline 綠燈，但產生了錯的科學對象。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18288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51663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83080"/>
            <a:ext cx="48371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v0 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121408"/>
            <a:ext cx="4837176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看起來像 metric x；實際多半是 side label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663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783080"/>
            <a:ext cx="48371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v0 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121408"/>
            <a:ext cx="4837176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看起來像 depth decoding；實際是 apparent-size shortcut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200400"/>
            <a:ext cx="51663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337560"/>
            <a:ext cx="48371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mask pooling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675887"/>
            <a:ext cx="4837176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看起來像 representation；實際 selected token location 洩漏 position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200400"/>
            <a:ext cx="51663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3337560"/>
            <a:ext cx="48371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metadata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3675887"/>
            <a:ext cx="4837176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看起來可重現；實際 dirty-tree provenance 是假的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57800"/>
            <a:ext cx="10332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資料集就是實驗。如果資料集錯了，後續 probing 和 intervention 結果就無法解釋。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總結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5840" y="1600200"/>
            <a:ext cx="10058400" cy="123444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709928"/>
            <a:ext cx="9784080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Noto Sans CJK TC"/>
              </a:rPr>
              <a:t>M1 證明我們能 render 受控幾何。</a:t>
            </a:r>
          </a:p>
          <a:p>
            <a:r>
              <a:rPr sz="1200">
                <a:latin typeface="Noto Sans CJK TC"/>
              </a:rPr>
              <a:t>M3 證明第一版 rendered set 不是有效的 metric-probing 儀器。</a:t>
            </a:r>
          </a:p>
          <a:p>
            <a:r>
              <a:rPr sz="1200">
                <a:latin typeface="Noto Sans CJK TC"/>
              </a:rPr>
              <a:t>M4a 重新設計資料集，使 M5/M6 能問度量空間資訊在哪裡被編碼、綁定與使用。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65760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本研究的貢獻取決於能否把 rendered images 變成經驗證的測量儀器。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126480"/>
            <a:ext cx="9966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>
                <a:latin typeface="Noto Sans CJK TC"/>
              </a:rPr>
              <a:t>Pilot examples 僅作說明用途；final M4a battery 仍等待 R ratification 與 gate-scale validation。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