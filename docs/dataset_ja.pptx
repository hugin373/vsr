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VLMにおける計量的空間情報を追跡するための制御空間データセット設計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8132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v0 から M4a 刺激バッテリーへ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24128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41448"/>
            <a:ext cx="9966959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研究目的：連続的な計量深度がどこまで符号化され、どこでアクセス不能または未使用になるかを定位する</a:t>
            </a:r>
          </a:p>
          <a:p>
            <a:r>
              <a:rPr sz="1200">
                <a:latin typeface="Noto Sans CJK JP"/>
              </a:rPr>
              <a:t>データセット目的：画像証拠を妥当で識別可能にし、単純な shortcut では説明できないものにする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6364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repo の状態と /data3/hugin/vsr/stimuli の pilot renders に基づいて作成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デックの流れ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データセット設計は、研究課題とモデル probing をつなぐ中核的な橋渡しである。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研究目的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VLM の処理連鎖のどこで計量深度が失敗するのか？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834640"/>
            <a:ext cx="457200" cy="0"/>
          </a:xfrm>
          <a:prstGeom prst="line">
            <a:avLst/>
          </a:prstGeom>
          <a:ln w="16510">
            <a:solidFill>
              <a:srgbClr val="24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計画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M1 -&gt; M3 -&gt; M4a -&gt; M5/M6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834640"/>
            <a:ext cx="457200" cy="0"/>
          </a:xfrm>
          <a:prstGeom prst="line">
            <a:avLst/>
          </a:prstGeom>
          <a:ln w="1651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Kang の spatial IDs；Wang &amp; Gao の latent topology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59" y="2834640"/>
            <a:ext cx="457200" cy="0"/>
          </a:xfrm>
          <a:prstGeom prst="line">
            <a:avLst/>
          </a:prstGeom>
          <a:ln w="16510">
            <a:solidFill>
              <a:srgbClr val="6E5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データセット設計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監査 -&gt; M4a の制御 regimes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中心点：M4a は単なる画像生成ではなく、測定器の構築である。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VLM の計算連鎖を通して連続的な計量空間情報を追跡する。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問い：計量空間情報はどこで利用不能、アクセス不能、因果的に不活性、または未使用になるのか？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定性的／順序的アンカー：left/right、front/behind、nearer/farther。</a:t>
            </a:r>
          </a:p>
          <a:p>
            <a:r>
              <a:rPr sz="1200">
                <a:latin typeface="Noto Sans CJK JP"/>
              </a:rPr>
              <a:t>計量 probe 目標：連続深度 z、深度比、横方向／世界座標位置。</a:t>
            </a:r>
          </a:p>
          <a:p>
            <a:r>
              <a:rPr sz="1200">
                <a:latin typeface="Noto Sans CJK JP"/>
              </a:rPr>
              <a:t>因果的問い：表現を変えると答えは動くのか？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本プロジェクトは計量情報が「破壊される」と仮定しない。</a:t>
            </a:r>
          </a:p>
          <a:p>
            <a:r>
              <a:rPr sz="1200">
                <a:latin typeface="Noto Sans CJK JP"/>
              </a:rPr>
              <a:t>符号化、アクセス可能性、変更可能性、自然な使用を分けて扱う。</a:t>
            </a:r>
          </a:p>
          <a:p>
            <a:r>
              <a:rPr sz="1200">
                <a:latin typeface="Noto Sans CJK JP"/>
              </a:rPr>
              <a:t>そのためには ground truth と視覚証拠の両方が妥当な刺激が必要である。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なぜ accuracy だけでは不十分か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モデルは計量空間表現を使わなくても空間問題に正答できる。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Mask / bbox 幾何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中心、面積、高さ、物体範囲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場面 cue shortcuts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見かけの大きさ、画像内高さ、カテゴリ事前知識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Prompt / answer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選択肢順序、tokenization、表現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977639"/>
            <a:ext cx="10058400" cy="960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4087368"/>
            <a:ext cx="9784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高い probe スコアは、事前指定した nuisance baselines を上回り、held-out factors でも成立する場合に限り表現証拠とみなせる。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そのため、このデックではモデル結果の前にデータセット設計に焦点を当てる。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検証する機能的連鎖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が刺激 gate を通過して初めて M5/M6 は意味を持つ。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画像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743200"/>
            <a:ext cx="27432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Vision encoder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VL interface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743200"/>
            <a:ext cx="50292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2331720"/>
            <a:ext cx="1508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2468879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初期 multimodal 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2331720"/>
            <a:ext cx="1508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468879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Object-word tokens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60" y="2743200"/>
            <a:ext cx="32004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Answer/readout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7844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78992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言語回答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各段階で問う：連続深度は nuisance baselines を超えて解読可能か？</a:t>
            </a:r>
          </a:p>
          <a:p>
            <a:r>
              <a:rPr sz="1200">
                <a:latin typeface="Noto Sans CJK JP"/>
              </a:rPr>
              <a:t>言語結合段階では：情報は単なる全体的存在ではなく object-specific か？</a:t>
            </a:r>
          </a:p>
          <a:p>
            <a:r>
              <a:rPr sz="1200">
                <a:latin typeface="Noto Sans CJK JP"/>
              </a:rPr>
              <a:t>intervention 段階では：深度関連表現を変えると belief/readout は変わるか？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データセット構築を中心とした計画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と M3 が M4a で修正すべき点を決める。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最小 renderer + v0 刺激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60020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最初の制御 image/annotation pipeline を構築する。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再現／監査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先行研究の方法で v0 が使える基盤かを検証する。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4612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刺激バッテリー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証拠が妥当で shortcuts が測定されるよう刺激を再設計する。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6908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Activation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06908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通過後にのみ五段階表現を抽出する。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M5/M6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Probe +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89204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計量深度の因果的使用を定位し検証する。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52160"/>
            <a:ext cx="10332720" cy="411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6188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現状：M4a は進行中であり、stimulus gate 通過まで full M4b extraction はロックされている。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先行研究1：Kang et al. の Spatial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spatial beliefs に対する object-word 因果 intervention の枠組み。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主張：物体位置は spatial IDs として object-word activations に線形結合される。</a:t>
            </a:r>
          </a:p>
          <a:p>
            <a:r>
              <a:rPr sz="1200">
                <a:latin typeface="Noto Sans CJK JP"/>
              </a:rPr>
              <a:t>Pipeline：Objaverse renders -&gt; 4x4 grid -&gt; object-word activations -&gt; spatial-ID extraction。</a:t>
            </a:r>
          </a:p>
          <a:p>
            <a:r>
              <a:rPr sz="1200">
                <a:latin typeface="Noto Sans CJK JP"/>
              </a:rPr>
              <a:t>Intervention：mirror spatial-ID directions を加減し、left/right belief swap を測定する。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800600" cy="15087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01368"/>
            <a:ext cx="452628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論文 headline：</a:t>
            </a:r>
          </a:p>
          <a:p>
            <a:r>
              <a:rPr sz="1200">
                <a:latin typeface="Noto Sans CJK JP"/>
              </a:rPr>
              <a:t>spatial-ID steering ~64.4%</a:t>
            </a:r>
          </a:p>
          <a:p>
            <a:r>
              <a:rPr sz="1200">
                <a:latin typeface="Noto Sans CJK JP"/>
              </a:rPr>
              <a:t>noise ~29.5%</a:t>
            </a:r>
          </a:p>
          <a:p>
            <a:r>
              <a:rPr sz="1200">
                <a:latin typeface="Noto Sans CJK JP"/>
              </a:rPr>
              <a:t>above-chance influence 43.6%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我々の M3.1：定性的メカニズムは再現、絶対的効果量は再現せず。spatial-ID-like 機構の存在は支持するが、連続的な計量深度の所在は示さない。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出典：Kang et al., arXiv:2601.12626。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先行研究2：Wang &amp; Gao の Latent Spatial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VLM latent space における spatial topology の probing と regularization 研究。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SynSpat3D：shape、color、size、3D position を独立にサンプリングした synthetic scenes。</a:t>
            </a:r>
          </a:p>
          <a:p>
            <a:r>
              <a:rPr sz="1200">
                <a:latin typeface="Noto Sans CJK JP"/>
              </a:rPr>
              <a:t>デフォルト probing corpus：1,000 Free6DoF scenes、各16 frames、各 scene 5問。</a:t>
            </a:r>
          </a:p>
          <a:p>
            <a:r>
              <a:rPr sz="1200">
                <a:latin typeface="Noto Sans CJK JP"/>
              </a:rPr>
              <a:t>Object representation：mask-driven、coverage-weighted pooling over visual tokens。</a:t>
            </a:r>
          </a:p>
          <a:p>
            <a:r>
              <a:rPr sz="1200">
                <a:latin typeface="Noto Sans CJK JP"/>
              </a:rPr>
              <a:t>Targets：color、shape、x-coordinate、z-coordinate、3D-distance topology。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846320" cy="1920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5720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報告された Qwen L17 pattern：</a:t>
            </a:r>
          </a:p>
          <a:p>
            <a:r>
              <a:rPr sz="1200">
                <a:latin typeface="Noto Sans CJK JP"/>
              </a:rPr>
              <a:t>color 0.51 ± 0.02</a:t>
            </a:r>
          </a:p>
          <a:p>
            <a:r>
              <a:rPr sz="1200">
                <a:latin typeface="Noto Sans CJK JP"/>
              </a:rPr>
              <a:t>shape 1.00 ± 0.00</a:t>
            </a:r>
          </a:p>
          <a:p>
            <a:r>
              <a:rPr sz="1200">
                <a:latin typeface="Noto Sans CJK JP"/>
              </a:rPr>
              <a:t>x R² -0.09 ± 0.01</a:t>
            </a:r>
          </a:p>
          <a:p>
            <a:r>
              <a:rPr sz="1200">
                <a:latin typeface="Noto Sans CJK JP"/>
              </a:rPr>
              <a:t>z R² +0.28 ± 0.02</a:t>
            </a:r>
          </a:p>
          <a:p>
            <a:r>
              <a:rPr sz="1200">
                <a:latin typeface="Noto Sans CJK JP"/>
              </a:rPr>
              <a:t>3D-distance RSA +0.01 ± 0.01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605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彼らの主張：非幾何的意味が優勢で、3D topology は弱いが Dirichlet-energy regularizer で shaping できる。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出典：Wang &amp; Gao, arXiv:2605.07148。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先行研究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なぜ M3.2 は厳密な再現ではなく監査なのか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元の SynSpat3D 分布と我々の M1 v0 は根本的に異なる。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882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Wang &amp; Gao SynSpat3D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多物体 scenes：appendix default は 3-8 objects。</a:t>
            </a:r>
          </a:p>
          <a:p>
            <a:r>
              <a:rPr sz="1200">
                <a:latin typeface="Noto Sans CJK JP"/>
              </a:rPr>
              <a:t>16-frame egocentric rendering。</a:t>
            </a:r>
          </a:p>
          <a:p>
            <a:r>
              <a:rPr sz="1200">
                <a:latin typeface="Noto Sans CJK JP"/>
              </a:rPr>
              <a:t>Free6DoF random camera paths。</a:t>
            </a:r>
          </a:p>
          <a:p>
            <a:r>
              <a:rPr sz="1200">
                <a:latin typeface="Noto Sans CJK JP"/>
              </a:rPr>
              <a:t>Shape/color/size/position は独立にサンプリング。</a:t>
            </a:r>
          </a:p>
          <a:p>
            <a:r>
              <a:rPr sz="1200">
                <a:latin typeface="Noto Sans CJK JP"/>
              </a:rPr>
              <a:t>latent scene topology / cognitive-map analysis のために設計。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28800"/>
            <a:ext cx="4882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我々の M1 v0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target objects は2個のみ。</a:t>
            </a:r>
          </a:p>
          <a:p>
            <a:r>
              <a:rPr sz="1200">
                <a:latin typeface="Noto Sans CJK JP"/>
              </a:rPr>
              <a:t>単一画像。</a:t>
            </a:r>
          </a:p>
          <a:p>
            <a:r>
              <a:rPr sz="1200">
                <a:latin typeface="Noto Sans CJK JP"/>
              </a:rPr>
              <a:t>固定 camera。</a:t>
            </a:r>
          </a:p>
          <a:p>
            <a:r>
              <a:rPr sz="1200">
                <a:latin typeface="Noto Sans CJK JP"/>
              </a:rPr>
              <a:t>congruent cues のみ。</a:t>
            </a:r>
          </a:p>
          <a:p>
            <a:r>
              <a:rPr sz="1200">
                <a:latin typeface="Noto Sans CJK JP"/>
              </a:rPr>
              <a:t>固定 lateral offset と shared size multiplier。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989320"/>
            <a:ext cx="10149840" cy="411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6099048"/>
            <a:ext cx="9875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正しい解釈：M3.2 は Wang &amp; Gao-style probing で v0 を監査したものであり、彼らの full dataset を再現したものではない。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v0 データセット：目的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最小 renderer と geometry-validation の基盤であり、最終的な科学データセットではない。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7490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4" y="1801368"/>
            <a:ext cx="2519172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41114"/>
            <a:ext cx="34381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例：固定 side + congruent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01718"/>
            <a:ext cx="343814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v0_congruent_00000</a:t>
            </a:r>
          </a:p>
          <a:p>
            <a:r>
              <a:rPr sz="1200">
                <a:latin typeface="Noto Sans CJK JP"/>
              </a:rPr>
              <a:t>near: yellow_cube  z=4.12, h=108px</a:t>
            </a:r>
          </a:p>
          <a:p>
            <a:r>
              <a:rPr sz="1200">
                <a:latin typeface="Noto Sans CJK JP"/>
              </a:rPr>
              <a:t>far: blue_cube  z=4.88, h=89px</a:t>
            </a:r>
          </a:p>
          <a:p>
            <a:r>
              <a:rPr sz="1200">
                <a:latin typeface="Noto Sans CJK JP"/>
              </a:rPr>
              <a:t>regime: 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288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512x512 の 500 images、Blender/Cycles CPU で render。</a:t>
            </a:r>
          </a:p>
          <a:p>
            <a:r>
              <a:rPr sz="1200">
                <a:latin typeface="Noto Sans CJK JP"/>
              </a:rPr>
              <a:t>Objects：cube、sphere、cylinder。</a:t>
            </a:r>
          </a:p>
          <a:p>
            <a:r>
              <a:rPr sz="1200">
                <a:latin typeface="Noto Sans CJK JP"/>
              </a:rPr>
              <a:t>地面平面上に2つの target objects；distractors なし。</a:t>
            </a:r>
          </a:p>
          <a:p>
            <a:r>
              <a:rPr sz="1200">
                <a:latin typeface="Noto Sans CJK JP"/>
              </a:rPr>
              <a:t>固定 camera；固定 lateral offset；depth/size/elevation cues は一致。</a:t>
            </a:r>
          </a:p>
          <a:p>
            <a:r>
              <a:rPr sz="1200">
                <a:latin typeface="Noto Sans CJK JP"/>
              </a:rPr>
              <a:t>出力：RGB image、masks、bboxes、retinal size、3D positions、depth、pair relations。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489204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5001768"/>
            <a:ext cx="56692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主要 config：</a:t>
            </a:r>
          </a:p>
          <a:p>
            <a:r>
              <a:rPr sz="1200">
                <a:latin typeface="Noto Sans CJK JP"/>
              </a:rPr>
              <a:t>lateral_offset = 0.7</a:t>
            </a:r>
          </a:p>
          <a:p>
            <a:r>
              <a:rPr sz="1200">
                <a:latin typeface="Noto Sans CJK JP"/>
              </a:rPr>
              <a:t>depth_gaps = [0.5, 1.0, 1.5]</a:t>
            </a:r>
          </a:p>
          <a:p>
            <a:r>
              <a:rPr sz="1200">
                <a:latin typeface="Noto Sans CJK JP"/>
              </a:rPr>
              <a:t>shared size multiplier = [0.9, 1.0, 1.1]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が検証したこと／できなかったこと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M1 は工学的成功だったが、M3 はそれが有効な metric-probing instrument ではないことを示した。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検証済み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renderer、annotations、masks、projection checks、config-driven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未検証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metric targets が非自明で shortcut-resistant かどうか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M3 の発見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pipeline は正しく走るが、データセットは間違ったものを測っていた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教訓：刺激セットは画像が render されたから受理されるのではない。科学的主張に必要な invariants を出力が満たすときだけ受理される。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M3 監査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問題1：lateral x は side label だった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target は連続的な計量座標として振る舞っていなかった。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794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35" y="175564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23283"/>
            <a:ext cx="3483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v0：固定 left/right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86630"/>
            <a:ext cx="348386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v0_congruent_00000</a:t>
            </a:r>
          </a:p>
          <a:p>
            <a:r>
              <a:rPr sz="1200">
                <a:latin typeface="Noto Sans CJK JP"/>
              </a:rPr>
              <a:t>near: yellow_cube  z=4.12, h=108px</a:t>
            </a:r>
          </a:p>
          <a:p>
            <a:r>
              <a:rPr sz="1200">
                <a:latin typeface="Noto Sans CJK JP"/>
              </a:rPr>
              <a:t>far: blue_cube  z=4.88, h=89px</a:t>
            </a:r>
          </a:p>
          <a:p>
            <a:r>
              <a:rPr sz="1200">
                <a:latin typeface="Noto Sans CJK JP"/>
              </a:rPr>
              <a:t>regime: congruent; distractors=0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28800"/>
            <a:ext cx="6217920" cy="10515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38528"/>
            <a:ext cx="59436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v0 lateral position：</a:t>
            </a:r>
          </a:p>
          <a:p>
            <a:r>
              <a:rPr sz="1200">
                <a:latin typeface="Noto Sans CJK JP"/>
              </a:rPr>
              <a:t>object A: x ≈ -0.7</a:t>
            </a:r>
          </a:p>
          <a:p>
            <a:r>
              <a:rPr sz="1200">
                <a:latin typeface="Noto Sans CJK JP"/>
              </a:rPr>
              <a:t>object B: x ≈ +0.7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24612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probe は連続座標を推定するのではなく left-vs-right を分類していた可能性がある。</a:t>
            </a:r>
          </a:p>
          <a:p>
            <a:r>
              <a:rPr sz="1200">
                <a:latin typeface="Noto Sans CJK JP"/>
              </a:rPr>
              <a:t>Mask-pooled tokens は image location によって選ばれるため、選択された token set 自体が side information を持つ。</a:t>
            </a:r>
          </a:p>
          <a:p>
            <a:r>
              <a:rPr sz="1200">
                <a:latin typeface="Noto Sans CJK JP"/>
              </a:rPr>
              <a:t>v0 における高い x R² は metric spatial representation の証拠ではない。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M3 監査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問題2：depth z は apparent size に過度決定されていた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一致した cues が depth target を簡単にしすぎた。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794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35" y="175564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23283"/>
            <a:ext cx="3483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v0：near object が明らかに大きい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86630"/>
            <a:ext cx="348386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v0_congruent_00496</a:t>
            </a:r>
          </a:p>
          <a:p>
            <a:r>
              <a:rPr sz="1200">
                <a:latin typeface="Noto Sans CJK JP"/>
              </a:rPr>
              <a:t>near: yellow_cube  z=2.66, h=183px</a:t>
            </a:r>
          </a:p>
          <a:p>
            <a:r>
              <a:rPr sz="1200">
                <a:latin typeface="Noto Sans CJK JP"/>
              </a:rPr>
              <a:t>far: red_sphere  z=4.01, h=111px</a:t>
            </a:r>
          </a:p>
          <a:p>
            <a:r>
              <a:rPr sz="1200">
                <a:latin typeface="Noto Sans CJK JP"/>
              </a:rPr>
              <a:t>regime: 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pinhole camera では retinal size は physical size / depth に結びつく。</a:t>
            </a:r>
          </a:p>
          <a:p>
            <a:r>
              <a:rPr sz="1200">
                <a:latin typeface="Noto Sans CJK JP"/>
              </a:rPr>
              <a:t>v0 は shared size multipliers を使うため、near/far apparent size は depth を強く追跡する。</a:t>
            </a:r>
          </a:p>
          <a:p>
            <a:r>
              <a:rPr sz="1200">
                <a:latin typeface="Noto Sans CJK JP"/>
              </a:rPr>
              <a:t>その結果、VLM representations なしで image geometry から z-depth が解読可能になる。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251960"/>
            <a:ext cx="57150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361688"/>
            <a:ext cx="5440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M3 report の測定：</a:t>
            </a:r>
          </a:p>
          <a:p>
            <a:r>
              <a:rPr sz="1200">
                <a:latin typeface="Noto Sans CJK JP"/>
              </a:rPr>
              <a:t>depth は size_m / retinal_size_px と相関</a:t>
            </a:r>
          </a:p>
          <a:p>
            <a:r>
              <a:rPr sz="1200">
                <a:latin typeface="Noto Sans CJK JP"/>
              </a:rPr>
              <a:t>mask geometry だけで z を near ceiling で予測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M3 監査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問題3：mask pooling が位置を漏洩した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測定手続き自体が、モデルの寄与前に答えを運んでしまう。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49377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object mask</a:t>
            </a:r>
          </a:p>
          <a:p>
            <a:r>
              <a:rPr sz="1200">
                <a:latin typeface="Noto Sans CJK JP"/>
              </a:rPr>
              <a:t> -&gt; object location の visual tokens を選択</a:t>
            </a:r>
          </a:p>
          <a:p>
            <a:r>
              <a:rPr sz="1200">
                <a:latin typeface="Noto Sans CJK JP"/>
              </a:rPr>
              <a:t> -&gt; features を平均</a:t>
            </a:r>
          </a:p>
          <a:p>
            <a:r>
              <a:rPr sz="1200">
                <a:latin typeface="Noto Sans CJK JP"/>
              </a:rPr>
              <a:t> -&gt; probe を訓練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mask が選ぶ token indices は物体の画像内位置をすでに符号化している。</a:t>
            </a:r>
          </a:p>
          <a:p>
            <a:r>
              <a:rPr sz="1200">
                <a:latin typeface="Noto Sans CJK JP"/>
              </a:rPr>
              <a:t>v0 では mask centroid と bbox geometry だけで x と z を非常によく予測できた。</a:t>
            </a:r>
          </a:p>
          <a:p>
            <a:r>
              <a:rPr sz="1200">
                <a:latin typeface="Noto Sans CJK JP"/>
              </a:rPr>
              <a:t>したがって activation decodability は nuisance-feature baselines を超えるものとして報告する必要がある。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16052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270248"/>
            <a:ext cx="9784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M3 v0 leak ceiling：mask geometry だけ -&gt; x R² ≈ 0.942, z R² ≈ 0.972。</a:t>
            </a:r>
          </a:p>
          <a:p>
            <a:r>
              <a:rPr sz="1200">
                <a:latin typeface="Noto Sans CJK JP"/>
              </a:rPr>
              <a:t>Mask-pooled activations は x/z に小さな増分しか加えなかった。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データセット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各 rendered item は PNG 以上のもの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annotation と masks は測定器の一部である。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gb_mask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2451"/>
            <a:ext cx="5669280" cy="22272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916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RGB image：VLM が見るもの。</a:t>
            </a:r>
          </a:p>
          <a:p>
            <a:r>
              <a:rPr sz="1200">
                <a:latin typeface="Noto Sans CJK JP"/>
              </a:rPr>
              <a:t>Visible object masks：target regions を定義し bboxes/areas を検証する。</a:t>
            </a:r>
          </a:p>
          <a:p>
            <a:r>
              <a:rPr sz="1200">
                <a:latin typeface="Noto Sans CJK JP"/>
              </a:rPr>
              <a:t>Geometry annotations：3D position、camera coordinates、depth、pair relations。</a:t>
            </a:r>
          </a:p>
          <a:p>
            <a:r>
              <a:rPr sz="1200">
                <a:latin typeface="Noto Sans CJK JP"/>
              </a:rPr>
              <a:t>Factors：regime、depth gap、category pairing、size condition、camera jitter、distractor count。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709160"/>
            <a:ext cx="475488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481888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検証規則：render script が走ったかではなく、output invariant を確認する。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の目標：妥当な測定器を構築する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刺激は計量的証拠を含む必要があるが、答えを trivial にしてはいけない。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92807"/>
            <a:ext cx="10149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M4a 目標：画像から識別可能な metric relations + decorrelated nuisance features + validated geometry。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識別可能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画像は target variable に十分な証拠を含む必要がある。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shortcut で解けない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単一の trivial feature が主要 claim を担ってはいけない。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追跡可能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すべての結果は config、seed、commit、annotation に結びつく。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は三つの regimes を使う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各 regime は異なる実験的問いに答える。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natural_congruent_pilo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" y="1755648"/>
            <a:ext cx="2519172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Natural-congruent：すべての cues が一致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m4a_v1_natural_congruent_pilot_00000</a:t>
            </a:r>
          </a:p>
          <a:p>
            <a:r>
              <a:rPr sz="1200">
                <a:latin typeface="Noto Sans CJK JP"/>
              </a:rPr>
              <a:t>near: green_cylinder  z=4.13, h=100px</a:t>
            </a:r>
          </a:p>
          <a:p>
            <a:r>
              <a:rPr sz="1200">
                <a:latin typeface="Noto Sans CJK JP"/>
              </a:rPr>
              <a:t>far: yellow_mug  z=8.01, h=49px</a:t>
            </a:r>
          </a:p>
          <a:p>
            <a:r>
              <a:rPr sz="1200">
                <a:latin typeface="Noto Sans CJK JP"/>
              </a:rPr>
              <a:t>regime: natural_congruent; distractors=0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unterbalanced_pilot_j2_00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74" y="1755648"/>
            <a:ext cx="2519172" cy="25191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5312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Counterbalanced：shortcut cues を decorrelate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m4a_v1_counterbalanced_pilot_j2_00049</a:t>
            </a:r>
          </a:p>
          <a:p>
            <a:r>
              <a:rPr sz="1200">
                <a:latin typeface="Noto Sans CJK JP"/>
              </a:rPr>
              <a:t>near: green_sphere  z=3.03, h=130px</a:t>
            </a:r>
          </a:p>
          <a:p>
            <a:r>
              <a:rPr sz="1200">
                <a:latin typeface="Noto Sans CJK JP"/>
              </a:rPr>
              <a:t>far: green_cube  z=3.50, h=133px</a:t>
            </a:r>
          </a:p>
          <a:p>
            <a:r>
              <a:rPr sz="1200">
                <a:latin typeface="Noto Sans CJK JP"/>
              </a:rPr>
              <a:t>regime: counterbalanced; distractors=1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18" name="Picture 17" descr="m4a_v1_conflict_pilot_000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934" y="1755648"/>
            <a:ext cx="2519172" cy="25191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4788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Conflict：cues を意図的に不一致にする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m4a_v1_conflict_pilot_00037</a:t>
            </a:r>
          </a:p>
          <a:p>
            <a:r>
              <a:rPr sz="1200">
                <a:latin typeface="Noto Sans CJK JP"/>
              </a:rPr>
              <a:t>near: yellow_mug  z=2.93, h=116px</a:t>
            </a:r>
          </a:p>
          <a:p>
            <a:r>
              <a:rPr sz="1200">
                <a:latin typeface="Noto Sans CJK JP"/>
              </a:rPr>
              <a:t>far: yellow_cylinder  z=3.72, h=135px</a:t>
            </a:r>
          </a:p>
          <a:p>
            <a:r>
              <a:rPr sz="1200">
                <a:latin typeface="Noto Sans CJK JP"/>
              </a:rPr>
              <a:t>regime: conflict; distractors=1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Regime 1：Natural-Congruent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depth cues が一致する control/reference arm。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9319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3602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natural_congruent_pilo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38" y="1709928"/>
            <a:ext cx="2625242" cy="2625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61230"/>
            <a:ext cx="3621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Pilot 視覚例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32807"/>
            <a:ext cx="362102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m4a_v1_natural_congruent_pilot_00000</a:t>
            </a:r>
          </a:p>
          <a:p>
            <a:r>
              <a:rPr sz="1200">
                <a:latin typeface="Noto Sans CJK JP"/>
              </a:rPr>
              <a:t>near: green_cylinder  z=4.13, h=100px</a:t>
            </a:r>
          </a:p>
          <a:p>
            <a:r>
              <a:rPr sz="1200">
                <a:latin typeface="Noto Sans CJK JP"/>
              </a:rPr>
              <a:t>far: yellow_mug  z=8.01, h=49px</a:t>
            </a:r>
          </a:p>
          <a:p>
            <a:r>
              <a:rPr sz="1200">
                <a:latin typeface="Noto Sans CJK JP"/>
              </a:rPr>
              <a:t>regime: natural_congruent;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83080"/>
            <a:ext cx="6080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目的：ordinal と ratio behavior の all-cues-agree reference。</a:t>
            </a:r>
          </a:p>
          <a:p>
            <a:r>
              <a:rPr sz="1200">
                <a:latin typeface="Noto Sans CJK JP"/>
              </a:rPr>
              <a:t>現在想定する generator：400 images。</a:t>
            </a:r>
          </a:p>
          <a:p>
            <a:r>
              <a:rPr sz="1200">
                <a:latin typeface="Noto Sans CJK JP"/>
              </a:rPr>
              <a:t>最終 category set：cube、cylinder、mug、sphere。</a:t>
            </a:r>
          </a:p>
          <a:p>
            <a:r>
              <a:rPr sz="1200">
                <a:latin typeface="Noto Sans CJK JP"/>
              </a:rPr>
              <a:t>Size condition：congruent；elevation condition：congruent。</a:t>
            </a:r>
          </a:p>
          <a:p>
            <a:r>
              <a:rPr sz="1200">
                <a:latin typeface="Noto Sans CJK JP"/>
              </a:rPr>
              <a:t>0-1 distractors。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572000"/>
            <a:ext cx="57150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681728"/>
            <a:ext cx="5440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重要な caveat：表示している pilot image は pre-final。最終 natural-congruent design は symmetric 4-set に制限される。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Natural-Congruent が 4-category set になった理由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六カテゴリでは pairing confounds を再導入しない限り area congruence が実現不能だった。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50292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六カテゴリ natural-congruent：</a:t>
            </a:r>
          </a:p>
          <a:p>
            <a:r>
              <a:rPr sz="1200">
                <a:latin typeface="Noto Sans CJK JP"/>
              </a:rPr>
              <a:t>required worst-case area ratio ≈ 1.7661</a:t>
            </a:r>
          </a:p>
          <a:p>
            <a:r>
              <a:rPr sz="1200">
                <a:latin typeface="Noto Sans CJK JP"/>
              </a:rPr>
              <a:t>design available max ≈ 1.4737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bottle/chair が near のとき worst-case silhouette-area constraints を生む。</a:t>
            </a:r>
          </a:p>
          <a:p>
            <a:r>
              <a:rPr sz="1200">
                <a:latin typeface="Noto Sans CJK JP"/>
              </a:rPr>
              <a:t>Per-pair floors は category pairing に realized depth ratio を予測させてしまう。</a:t>
            </a:r>
          </a:p>
          <a:p>
            <a:r>
              <a:rPr sz="1200">
                <a:latin typeface="Noto Sans CJK JP"/>
              </a:rPr>
              <a:t>generator を symmetric 4-set に制限すると role balance を保ち、単一の uniform floor を維持できる。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343400"/>
            <a:ext cx="1014984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4453128"/>
            <a:ext cx="9875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採用した最終 natural-congruent generator：{cube, cylinder, mug, sphere}。</a:t>
            </a:r>
          </a:p>
          <a:p>
            <a:r>
              <a:rPr sz="1200">
                <a:latin typeface="Noto Sans CJK JP"/>
              </a:rPr>
              <a:t>Counterbalanced と conflict は引き続き全六カテゴリを使う。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Regime 2：Counterbalanced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metric localization claims の主要 regime。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373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unterbalanced_pilot_j2_00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7" y="1709928"/>
            <a:ext cx="2598724" cy="2598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333341"/>
            <a:ext cx="3209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Far object が near と同じくらい大きく見える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02175"/>
            <a:ext cx="3209544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m4a_v1_counterbalanced_pilot_j2_00049</a:t>
            </a:r>
          </a:p>
          <a:p>
            <a:r>
              <a:rPr sz="1200">
                <a:latin typeface="Noto Sans CJK JP"/>
              </a:rPr>
              <a:t>near: green_sphere  z=3.03, h=130px</a:t>
            </a:r>
          </a:p>
          <a:p>
            <a:r>
              <a:rPr sz="1200">
                <a:latin typeface="Noto Sans CJK JP"/>
              </a:rPr>
              <a:t>far: green_cube  z=3.50, h=133px</a:t>
            </a:r>
          </a:p>
          <a:p>
            <a:r>
              <a:rPr sz="1200">
                <a:latin typeface="Noto Sans CJK JP"/>
              </a:rPr>
              <a:t>regime: counterbalanced; distractors=1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0020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7373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unterbalanced_pilot_j2_00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77" y="1709928"/>
            <a:ext cx="2598724" cy="259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4333341"/>
            <a:ext cx="3209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depth gap があっても retinal size は等しい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4602175"/>
            <a:ext cx="3209544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m4a_v1_counterbalanced_pilot_j2_00020</a:t>
            </a:r>
          </a:p>
          <a:p>
            <a:r>
              <a:rPr sz="1200">
                <a:latin typeface="Noto Sans CJK JP"/>
              </a:rPr>
              <a:t>near: blue_cube  z=2.88, h=120px</a:t>
            </a:r>
          </a:p>
          <a:p>
            <a:r>
              <a:rPr sz="1200">
                <a:latin typeface="Noto Sans CJK JP"/>
              </a:rPr>
              <a:t>far: red_cube  z=3.55, h=120px</a:t>
            </a:r>
          </a:p>
          <a:p>
            <a:r>
              <a:rPr sz="1200">
                <a:latin typeface="Noto Sans CJK JP"/>
              </a:rPr>
              <a:t>regime: counterbalanced; distractors=1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想定規模：900 images。</a:t>
            </a:r>
          </a:p>
          <a:p>
            <a:r>
              <a:rPr sz="1200">
                <a:latin typeface="Noto Sans CJK JP"/>
              </a:rPr>
              <a:t>六カテゴリ：cube、sphere、cylinder、chair、mug、bottle。</a:t>
            </a:r>
          </a:p>
          <a:p>
            <a:r>
              <a:rPr sz="1200">
                <a:latin typeface="Noto Sans CJK JP"/>
              </a:rPr>
              <a:t>Independent size jitter。</a:t>
            </a:r>
          </a:p>
          <a:p>
            <a:r>
              <a:rPr sz="1200">
                <a:latin typeface="Noto Sans CJK JP"/>
              </a:rPr>
              <a:t>Counterbalanced elevation cue。</a:t>
            </a:r>
          </a:p>
          <a:p>
            <a:r>
              <a:rPr sz="1200">
                <a:latin typeface="Noto Sans CJK JP"/>
              </a:rPr>
              <a:t>0-2 distractors。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8006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910328"/>
            <a:ext cx="3108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問い：単純な cues が一致しないとき、モデルは depth を表現できるか？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Regime 3：Conflict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Cue-integration analysis：true depth 対 apparent size。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nflict_pilot_00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38" y="1709928"/>
            <a:ext cx="2625242" cy="2625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436123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Far object が大きく見える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632807"/>
            <a:ext cx="334670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m4a_v1_conflict_pilot_00037</a:t>
            </a:r>
          </a:p>
          <a:p>
            <a:r>
              <a:rPr sz="1200">
                <a:latin typeface="Noto Sans CJK JP"/>
              </a:rPr>
              <a:t>near: yellow_mug  z=2.93, h=116px</a:t>
            </a:r>
          </a:p>
          <a:p>
            <a:r>
              <a:rPr sz="1200">
                <a:latin typeface="Noto Sans CJK JP"/>
              </a:rPr>
              <a:t>far: yellow_cylinder  z=3.72, h=135px</a:t>
            </a:r>
          </a:p>
          <a:p>
            <a:r>
              <a:rPr sz="1200">
                <a:latin typeface="Noto Sans CJK JP"/>
              </a:rPr>
              <a:t>regime: conflict; distractors=1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nflict_pilot_00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18" y="1709928"/>
            <a:ext cx="2625242" cy="26252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436123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Far cube の retinal height が大きい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632807"/>
            <a:ext cx="334670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m4a_v1_conflict_pilot_00030</a:t>
            </a:r>
          </a:p>
          <a:p>
            <a:r>
              <a:rPr sz="1200">
                <a:latin typeface="Noto Sans CJK JP"/>
              </a:rPr>
              <a:t>near: red_cylinder  z=3.25, h=108px</a:t>
            </a:r>
          </a:p>
          <a:p>
            <a:r>
              <a:rPr sz="1200">
                <a:latin typeface="Noto Sans CJK JP"/>
              </a:rPr>
              <a:t>far: red_cube  z=4.14, h=119px</a:t>
            </a:r>
          </a:p>
          <a:p>
            <a:r>
              <a:rPr sz="1200">
                <a:latin typeface="Noto Sans CJK JP"/>
              </a:rPr>
              <a:t>regime: conflict; distractors=1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想定規模：900 images。</a:t>
            </a:r>
          </a:p>
          <a:p>
            <a:r>
              <a:rPr sz="1200">
                <a:latin typeface="Noto Sans CJK JP"/>
              </a:rPr>
              <a:t>六カテゴリ。</a:t>
            </a:r>
          </a:p>
          <a:p>
            <a:r>
              <a:rPr sz="1200">
                <a:latin typeface="Noto Sans CJK JP"/>
              </a:rPr>
              <a:t>Near size multiplier：0.78-0.94。</a:t>
            </a:r>
          </a:p>
          <a:p>
            <a:r>
              <a:rPr sz="1200">
                <a:latin typeface="Noto Sans CJK JP"/>
              </a:rPr>
              <a:t>Far size multiplier：1.12-1.30。</a:t>
            </a:r>
          </a:p>
          <a:p>
            <a:r>
              <a:rPr sz="1200">
                <a:latin typeface="Noto Sans CJK JP"/>
              </a:rPr>
              <a:t>Far object は同じかより大きく見える可能性がある。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8006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910328"/>
            <a:ext cx="2743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問い：モデルはどの cue に従うのか？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主要 config factors が視覚的に何をするか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各設定は、答えを運びうる cue を操作する。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depth_gaps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4592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target objects が深度方向にどれだけ離れているか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6459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near/far 判断の難しさ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lateral_range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04288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targets が画像内で左右にどれだけ離れて見えるか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04288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side label ではなく連続位置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camera jitter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62656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視点高さ、平行移動、pitch、yaw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962656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固定 image-position mapping を崩す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2102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size_condition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21024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near/far の physical size 関係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621024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apparent-size cue を制御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93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elevation_condition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279392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垂直方向の画像位置関係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27939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ground-plane depth cue を制御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5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distractors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937759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追加の非 target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937759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object-specific reference/binding を検証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Depth Gap と Lateral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はカテゴリ的に見える変数を graded variables に変える。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754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v0：</a:t>
            </a:r>
          </a:p>
          <a:p>
            <a:r>
              <a:rPr sz="1200">
                <a:latin typeface="Noto Sans CJK JP"/>
              </a:rPr>
              <a:t>lateral_offset = 0.7</a:t>
            </a:r>
          </a:p>
          <a:p>
            <a:r>
              <a:rPr sz="1200">
                <a:latin typeface="Noto Sans CJK JP"/>
              </a:rPr>
              <a:t>depth_gaps = [0.5, 1.0, 1.5]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754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M4a：</a:t>
            </a:r>
          </a:p>
          <a:p>
            <a:r>
              <a:rPr sz="1200">
                <a:latin typeface="Noto Sans CJK JP"/>
              </a:rPr>
              <a:t>lateral_range = [0.3, 0.85]</a:t>
            </a:r>
          </a:p>
          <a:p>
            <a:r>
              <a:rPr sz="1200">
                <a:latin typeface="Noto Sans CJK JP"/>
              </a:rPr>
              <a:t>depth_gaps = [0.45, ..., 1.95]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v0 x は left/right classification のように振る舞った。</a:t>
            </a:r>
          </a:p>
          <a:p>
            <a:r>
              <a:rPr sz="1200">
                <a:latin typeface="Noto Sans CJK JP"/>
              </a:rPr>
              <a:t>v0 depth cues は一致しすぎて簡単すぎた。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M4a は graded lateral positions をサンプリングする。</a:t>
            </a:r>
          </a:p>
          <a:p>
            <a:r>
              <a:rPr sz="1200">
                <a:latin typeface="Noto Sans CJK JP"/>
              </a:rPr>
              <a:t>Depth gaps は易しい例から難しい例までを含む。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Camera Jitter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同じ 3D relation が常に同じ 2D pattern に写ってはいけない。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4805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height: ±0.16 m</a:t>
            </a:r>
          </a:p>
          <a:p>
            <a:r>
              <a:rPr sz="1200">
                <a:latin typeface="Noto Sans CJK JP"/>
              </a:rPr>
              <a:t>pos_x: ±0.3 m</a:t>
            </a:r>
          </a:p>
          <a:p>
            <a:r>
              <a:rPr sz="1200">
                <a:latin typeface="Noto Sans CJK JP"/>
              </a:rPr>
              <a:t>pos_y: ±0.2 m</a:t>
            </a:r>
          </a:p>
          <a:p>
            <a:r>
              <a:rPr sz="1200">
                <a:latin typeface="Noto Sans CJK JP"/>
              </a:rPr>
              <a:t>pitch: ±3°</a:t>
            </a:r>
          </a:p>
          <a:p>
            <a:r>
              <a:rPr sz="1200">
                <a:latin typeface="Noto Sans CJK JP"/>
              </a:rPr>
              <a:t>yaw: ±4°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783080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固定 camera は image location を world location の強い proxy にする。</a:t>
            </a:r>
          </a:p>
          <a:p>
            <a:r>
              <a:rPr sz="1200">
                <a:latin typeface="Noto Sans CJK JP"/>
              </a:rPr>
              <a:t>Jitter は 2D position と 3D target の直接 mapping を弱める。</a:t>
            </a:r>
          </a:p>
          <a:p>
            <a:r>
              <a:rPr sz="1200">
                <a:latin typeface="Noto Sans CJK JP"/>
              </a:rPr>
              <a:t>これは lateral-position probes で特に重要。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設計上の tension：強い camera motion は decorrelation を改善するが、clean placement を難しくする。そのため placement margins と validation が load-bearing である。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Size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apparent-size shortcut に対する最も直接的な操作。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congruent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Near は通常大きく見える；all-cues-agree control。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independent_jitter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Physical size が depth と独立に変化する；主要 regime。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conflict_far_larger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Far object を意図的に大きくする；cue conflict。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983480"/>
            <a:ext cx="9966960" cy="5943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93208"/>
            <a:ext cx="9692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M3 の教訓：この操作がないと、z-depth は model representation ではなく retinal size から読めてしまう。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Distractors、Lighting、Background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Nuisance variation はデータセットが二物体だけの toy world になるのを防ぐ。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511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unterbalanced_pilot_j2_0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180136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69003"/>
            <a:ext cx="35295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Counterbalanced + distractor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32350"/>
            <a:ext cx="352958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m4a_v1_counterbalanced_pilot_j2_00005</a:t>
            </a:r>
          </a:p>
          <a:p>
            <a:r>
              <a:rPr sz="1200">
                <a:latin typeface="Noto Sans CJK JP"/>
              </a:rPr>
              <a:t>near: blue_chair  z=4.73, h=79px</a:t>
            </a:r>
          </a:p>
          <a:p>
            <a:r>
              <a:rPr sz="1200">
                <a:latin typeface="Noto Sans CJK JP"/>
              </a:rPr>
              <a:t>far: yellow_mug  z=5.77, h=78px</a:t>
            </a:r>
          </a:p>
          <a:p>
            <a:r>
              <a:rPr sz="1200">
                <a:latin typeface="Noto Sans CJK JP"/>
              </a:rPr>
              <a:t>regime: counterbalanced; distractors=1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Distractors は、単に二物体 layout を解くのではなく、正しい object reference を結合することを要求する。</a:t>
            </a:r>
          </a:p>
          <a:p>
            <a:r>
              <a:rPr sz="1200">
                <a:latin typeface="Noto Sans CJK JP"/>
              </a:rPr>
              <a:t>Ground colors と sun energy/direction の変化は固定 render artifacts を減らす。</a:t>
            </a:r>
          </a:p>
          <a:p>
            <a:r>
              <a:rPr sz="1200">
                <a:latin typeface="Noto Sans CJK JP"/>
              </a:rPr>
              <a:t>最終的な nuisance coverage はまだ M4a gate の一部であり、texture families、renderer seeds、render/AA settings は open decisions である。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 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 は natural-congruent の depth-ratio safety factor 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49377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R = minimum required far_depth / near_depth</a:t>
            </a:r>
          </a:p>
          <a:p>
            <a:r>
              <a:rPr sz="1200">
                <a:latin typeface="Noto Sans CJK JP"/>
              </a:rPr>
              <a:t>worst-case category、size、depth、camera settings の下でも natural-congruent size cues を有効に保つための値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Near object は幾何的に近いだけでなく、projected size/area cues によっても支持される必要がある。</a:t>
            </a:r>
          </a:p>
          <a:p>
            <a:r>
              <a:rPr sz="1200">
                <a:latin typeface="Noto Sans CJK JP"/>
              </a:rPr>
              <a:t>一部の far categories は一部の near categories より大きな silhouettes を持ちうる。</a:t>
            </a:r>
          </a:p>
          <a:p>
            <a:r>
              <a:rPr sz="1200">
                <a:latin typeface="Noto Sans CJK JP"/>
              </a:rPr>
              <a:t>したがって ratio floor は平均ではなく worst-case extrema から導く必要がある。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51960"/>
            <a:ext cx="1005840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61688"/>
            <a:ext cx="9784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直感：near mug と far cube の場合、far object が十分遠くないと「near looks larger」を破る可能性がある。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現在の R 状態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最新の cumulative ledger は R を引き上げ、未 ratified のままにした。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01368"/>
            <a:ext cx="49377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pass 0: R = 1.2072</a:t>
            </a:r>
          </a:p>
          <a:p>
            <a:r>
              <a:rPr sz="1200">
                <a:latin typeface="Noto Sans CJK JP"/>
              </a:rPr>
              <a:t>pass 1: R = 1.2060</a:t>
            </a:r>
          </a:p>
          <a:p>
            <a:r>
              <a:rPr sz="1200">
                <a:latin typeface="Noto Sans CJK JP"/>
              </a:rPr>
              <a:t>pass 2: R = 1.2026</a:t>
            </a:r>
          </a:p>
          <a:p>
            <a:r>
              <a:rPr sz="1200">
                <a:latin typeface="Noto Sans CJK JP"/>
              </a:rPr>
              <a:t>cumulative union: R = 1.2092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Per-pass R が下がったように見えたのは、non-nested grids が以前の extrema を忘れたため。</a:t>
            </a:r>
          </a:p>
          <a:p>
            <a:r>
              <a:rPr sz="1200">
                <a:latin typeface="Noto Sans CJK JP"/>
              </a:rPr>
              <a:t>全 extrema を union すると、より高い lower bound が現れた。</a:t>
            </a:r>
          </a:p>
          <a:p>
            <a:r>
              <a:rPr sz="1200">
                <a:latin typeface="Noto Sans CJK JP"/>
              </a:rPr>
              <a:t>Violations は near-depth band の深い端、minimum multiplier、maximum pitch に集中する。</a:t>
            </a:r>
          </a:p>
          <a:p>
            <a:r>
              <a:rPr sz="1200">
                <a:latin typeface="Noto Sans CJK JP"/>
              </a:rPr>
              <a:t>次の pass では union range ではなく role-specific depth range ごとに grid すべきである。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937760"/>
            <a:ext cx="10058400" cy="5943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047488"/>
            <a:ext cx="9784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状態：R は未 ratified。full battery render や M4b extraction はまだこれを使ってはいけない。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の現在の実験設定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gate-scale configs は定義済みだが、battery はまだ finalized ではない。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natural-congruent</a:t>
            </a:r>
          </a:p>
          <a:p>
            <a:r>
              <a:rPr sz="1200">
                <a:latin typeface="Noto Sans CJK JP"/>
              </a:rPr>
              <a:t>N = 400</a:t>
            </a:r>
          </a:p>
          <a:p>
            <a:r>
              <a:rPr sz="1200">
                <a:latin typeface="Noto Sans CJK JP"/>
              </a:rPr>
              <a:t>4 categories</a:t>
            </a:r>
          </a:p>
          <a:p>
            <a:r>
              <a:rPr sz="1200">
                <a:latin typeface="Noto Sans CJK JP"/>
              </a:rPr>
              <a:t>size: congruent</a:t>
            </a:r>
          </a:p>
          <a:p>
            <a:r>
              <a:rPr sz="1200">
                <a:latin typeface="Noto Sans CJK JP"/>
              </a:rPr>
              <a:t>elevation: congruent</a:t>
            </a:r>
          </a:p>
          <a:p>
            <a:r>
              <a:rPr sz="1200">
                <a:latin typeface="Noto Sans CJK JP"/>
              </a:rPr>
              <a:t>distractors: 0-1</a:t>
            </a:r>
          </a:p>
          <a:p>
            <a:r>
              <a:rPr sz="1200">
                <a:latin typeface="Noto Sans CJK JP"/>
              </a:rPr>
              <a:t>role: control/reference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counterbalanced</a:t>
            </a:r>
          </a:p>
          <a:p>
            <a:r>
              <a:rPr sz="1200">
                <a:latin typeface="Noto Sans CJK JP"/>
              </a:rPr>
              <a:t>N = 900</a:t>
            </a:r>
          </a:p>
          <a:p>
            <a:r>
              <a:rPr sz="1200">
                <a:latin typeface="Noto Sans CJK JP"/>
              </a:rPr>
              <a:t>6 categories</a:t>
            </a:r>
          </a:p>
          <a:p>
            <a:r>
              <a:rPr sz="1200">
                <a:latin typeface="Noto Sans CJK JP"/>
              </a:rPr>
              <a:t>size: independent jitter</a:t>
            </a:r>
          </a:p>
          <a:p>
            <a:r>
              <a:rPr sz="1200">
                <a:latin typeface="Noto Sans CJK JP"/>
              </a:rPr>
              <a:t>elevation: counterbalanced</a:t>
            </a:r>
          </a:p>
          <a:p>
            <a:r>
              <a:rPr sz="1200">
                <a:latin typeface="Noto Sans CJK JP"/>
              </a:rPr>
              <a:t>distractors: 0-2</a:t>
            </a:r>
          </a:p>
          <a:p>
            <a:r>
              <a:rPr sz="1200">
                <a:latin typeface="Noto Sans CJK JP"/>
              </a:rPr>
              <a:t>role: primary localization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conflict</a:t>
            </a:r>
          </a:p>
          <a:p>
            <a:r>
              <a:rPr sz="1200">
                <a:latin typeface="Noto Sans CJK JP"/>
              </a:rPr>
              <a:t>N = 900</a:t>
            </a:r>
          </a:p>
          <a:p>
            <a:r>
              <a:rPr sz="1200">
                <a:latin typeface="Noto Sans CJK JP"/>
              </a:rPr>
              <a:t>6 categories</a:t>
            </a:r>
          </a:p>
          <a:p>
            <a:r>
              <a:rPr sz="1200">
                <a:latin typeface="Noto Sans CJK JP"/>
              </a:rPr>
              <a:t>far object larger</a:t>
            </a:r>
          </a:p>
          <a:p>
            <a:r>
              <a:rPr sz="1200">
                <a:latin typeface="Noto Sans CJK JP"/>
              </a:rPr>
              <a:t>elevation: congruent</a:t>
            </a:r>
          </a:p>
          <a:p>
            <a:r>
              <a:rPr sz="1200">
                <a:latin typeface="Noto Sans CJK JP"/>
              </a:rPr>
              <a:t>distractors: 0-1</a:t>
            </a:r>
          </a:p>
          <a:p>
            <a:r>
              <a:rPr sz="1200">
                <a:latin typeface="Noto Sans CJK JP"/>
              </a:rPr>
              <a:t>role: cue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共通：512x512、Cycles CPU、camera jitter、lateral range [0.3, 0.85]、depth gaps up to 1.95、target margins。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状態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M4a acceptance 前に残る未解決事項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これらは blocking items であり、見た目の整理ではない。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R ratification：pass 3 role-specific depth refinement と新しい targeted verification。</a:t>
            </a:r>
          </a:p>
          <a:p>
            <a:r>
              <a:rPr sz="1200">
                <a:latin typeface="Noto Sans CJK JP"/>
              </a:rPr>
              <a:t>Gate-scale render：full configured dataset は accepted battery としてまだ render されていない。</a:t>
            </a:r>
          </a:p>
          <a:p>
            <a:r>
              <a:rPr sz="1200">
                <a:latin typeface="Noto Sans CJK JP"/>
              </a:rPr>
              <a:t>Determinism：final outputs には byte-compare verification がまだ必要。</a:t>
            </a:r>
          </a:p>
          <a:p>
            <a:r>
              <a:rPr sz="1200">
                <a:latin typeface="Noto Sans CJK JP"/>
              </a:rPr>
              <a:t>Image-identifiability gate：final battery は held-out-factor checks を通過する必要がある。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Nuisance coverage：texture families、lighting families、renderer seeds、render settings は open gate decisions。</a:t>
            </a:r>
          </a:p>
          <a:p>
            <a:r>
              <a:rPr sz="1200">
                <a:latin typeface="Noto Sans CJK JP"/>
              </a:rPr>
              <a:t>Human/contact-sheet inspection：ordinal sanity には有用だが calibrated metric validity には不十分。</a:t>
            </a:r>
          </a:p>
          <a:p>
            <a:r>
              <a:rPr sz="1200">
                <a:latin typeface="Noto Sans CJK JP"/>
              </a:rPr>
              <a:t>M4b はロック中：M4a 通過まで activation cache、five-stage extraction、lm_ans readout は行わない。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623560"/>
            <a:ext cx="10058400" cy="5029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733288"/>
            <a:ext cx="9784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規則：pipeline が走った事実ではなく output を検証する。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状態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なぜこれは過剰工学ではないのか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これまでの重大な失敗はすべて、green pipeline が間違った科学的対象を生成したケースだった。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21408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metric x に見えたが、ほぼ side label だった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v0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21408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depth decoding に見えたが、apparent-size shortcut だった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3756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mask pooling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75887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representation に見えたが、selected token location が position を漏洩した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33756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675887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再現可能に見えたが、dirty-tree provenance は偽だった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データセットこそが実験である。これが間違っていれば、後の probing と intervention 結果は解釈不能になる。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まとめ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600200"/>
            <a:ext cx="1005840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09928"/>
            <a:ext cx="97840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JP"/>
              </a:rPr>
              <a:t>M1 は制御された幾何を render できることを示した。</a:t>
            </a:r>
          </a:p>
          <a:p>
            <a:r>
              <a:rPr sz="1200">
                <a:latin typeface="Noto Sans CJK JP"/>
              </a:rPr>
              <a:t>M3 は最初の rendered set が有効な metric-probing instrument ではないことを示した。</a:t>
            </a:r>
          </a:p>
          <a:p>
            <a:r>
              <a:rPr sz="1200">
                <a:latin typeface="Noto Sans CJK JP"/>
              </a:rPr>
              <a:t>M4a は、M5/M6 が計量空間情報の符号化・結合・使用位置を問えるようにデータセットを再設計する。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貢献は、rendered images を検証済みの測定器に変えることにかかっている。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126480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JP"/>
              </a:rPr>
              <a:t>Pilot examples は説明用のみ；final M4a battery は R ratification と gate-scale validation を待っている。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